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6"/>
  </p:notesMasterIdLst>
  <p:sldIdLst>
    <p:sldId id="258" r:id="rId2"/>
    <p:sldId id="343" r:id="rId3"/>
    <p:sldId id="260" r:id="rId4"/>
    <p:sldId id="262" r:id="rId5"/>
    <p:sldId id="263" r:id="rId6"/>
    <p:sldId id="264" r:id="rId7"/>
    <p:sldId id="265" r:id="rId8"/>
    <p:sldId id="266" r:id="rId9"/>
    <p:sldId id="268" r:id="rId10"/>
    <p:sldId id="269" r:id="rId11"/>
    <p:sldId id="270" r:id="rId12"/>
    <p:sldId id="271" r:id="rId13"/>
    <p:sldId id="272" r:id="rId14"/>
    <p:sldId id="344" r:id="rId15"/>
    <p:sldId id="345" r:id="rId16"/>
    <p:sldId id="275" r:id="rId17"/>
    <p:sldId id="276" r:id="rId18"/>
    <p:sldId id="346" r:id="rId19"/>
    <p:sldId id="347" r:id="rId20"/>
    <p:sldId id="348" r:id="rId21"/>
    <p:sldId id="349" r:id="rId22"/>
    <p:sldId id="350" r:id="rId23"/>
    <p:sldId id="351" r:id="rId24"/>
    <p:sldId id="352" r:id="rId25"/>
    <p:sldId id="353" r:id="rId26"/>
    <p:sldId id="354" r:id="rId27"/>
    <p:sldId id="355" r:id="rId28"/>
    <p:sldId id="286" r:id="rId29"/>
    <p:sldId id="287" r:id="rId30"/>
    <p:sldId id="288" r:id="rId31"/>
    <p:sldId id="289" r:id="rId32"/>
    <p:sldId id="290" r:id="rId33"/>
    <p:sldId id="291" r:id="rId34"/>
    <p:sldId id="292" r:id="rId35"/>
    <p:sldId id="358" r:id="rId36"/>
    <p:sldId id="359" r:id="rId37"/>
    <p:sldId id="360" r:id="rId38"/>
    <p:sldId id="361" r:id="rId39"/>
    <p:sldId id="362" r:id="rId40"/>
    <p:sldId id="363" r:id="rId41"/>
    <p:sldId id="293" r:id="rId42"/>
    <p:sldId id="294" r:id="rId43"/>
    <p:sldId id="295" r:id="rId44"/>
    <p:sldId id="296" r:id="rId45"/>
    <p:sldId id="297" r:id="rId46"/>
    <p:sldId id="298" r:id="rId47"/>
    <p:sldId id="299" r:id="rId48"/>
    <p:sldId id="365" r:id="rId49"/>
    <p:sldId id="300" r:id="rId50"/>
    <p:sldId id="301" r:id="rId51"/>
    <p:sldId id="366" r:id="rId52"/>
    <p:sldId id="367" r:id="rId53"/>
    <p:sldId id="368" r:id="rId54"/>
    <p:sldId id="369" r:id="rId55"/>
    <p:sldId id="370" r:id="rId56"/>
    <p:sldId id="371" r:id="rId57"/>
    <p:sldId id="372" r:id="rId58"/>
    <p:sldId id="373" r:id="rId59"/>
    <p:sldId id="376" r:id="rId60"/>
    <p:sldId id="377" r:id="rId61"/>
    <p:sldId id="375" r:id="rId62"/>
    <p:sldId id="374" r:id="rId63"/>
    <p:sldId id="378" r:id="rId64"/>
    <p:sldId id="379" r:id="rId65"/>
    <p:sldId id="380" r:id="rId66"/>
    <p:sldId id="381" r:id="rId67"/>
    <p:sldId id="382" r:id="rId68"/>
    <p:sldId id="383" r:id="rId69"/>
    <p:sldId id="384" r:id="rId70"/>
    <p:sldId id="385" r:id="rId71"/>
    <p:sldId id="387" r:id="rId72"/>
    <p:sldId id="386" r:id="rId73"/>
    <p:sldId id="388" r:id="rId74"/>
    <p:sldId id="389" r:id="rId75"/>
    <p:sldId id="390" r:id="rId76"/>
    <p:sldId id="391" r:id="rId77"/>
    <p:sldId id="392" r:id="rId78"/>
    <p:sldId id="393" r:id="rId79"/>
    <p:sldId id="394" r:id="rId80"/>
    <p:sldId id="395" r:id="rId81"/>
    <p:sldId id="396" r:id="rId82"/>
    <p:sldId id="398" r:id="rId83"/>
    <p:sldId id="397" r:id="rId84"/>
    <p:sldId id="399" r:id="rId85"/>
    <p:sldId id="401" r:id="rId86"/>
    <p:sldId id="402" r:id="rId87"/>
    <p:sldId id="403" r:id="rId88"/>
    <p:sldId id="400" r:id="rId89"/>
    <p:sldId id="404" r:id="rId90"/>
    <p:sldId id="405" r:id="rId91"/>
    <p:sldId id="406" r:id="rId92"/>
    <p:sldId id="407" r:id="rId93"/>
    <p:sldId id="408" r:id="rId94"/>
    <p:sldId id="409" r:id="rId95"/>
    <p:sldId id="410" r:id="rId96"/>
    <p:sldId id="411" r:id="rId97"/>
    <p:sldId id="412" r:id="rId98"/>
    <p:sldId id="413" r:id="rId99"/>
    <p:sldId id="414" r:id="rId100"/>
    <p:sldId id="416" r:id="rId101"/>
    <p:sldId id="418" r:id="rId102"/>
    <p:sldId id="419" r:id="rId103"/>
    <p:sldId id="364" r:id="rId104"/>
    <p:sldId id="420" r:id="rId105"/>
    <p:sldId id="421" r:id="rId106"/>
    <p:sldId id="422" r:id="rId107"/>
    <p:sldId id="423" r:id="rId108"/>
    <p:sldId id="424" r:id="rId109"/>
    <p:sldId id="425" r:id="rId110"/>
    <p:sldId id="427" r:id="rId111"/>
    <p:sldId id="428" r:id="rId112"/>
    <p:sldId id="429" r:id="rId113"/>
    <p:sldId id="430" r:id="rId114"/>
    <p:sldId id="440" r:id="rId115"/>
    <p:sldId id="431" r:id="rId116"/>
    <p:sldId id="432" r:id="rId117"/>
    <p:sldId id="433" r:id="rId118"/>
    <p:sldId id="434" r:id="rId119"/>
    <p:sldId id="441" r:id="rId120"/>
    <p:sldId id="436" r:id="rId121"/>
    <p:sldId id="437" r:id="rId122"/>
    <p:sldId id="442" r:id="rId123"/>
    <p:sldId id="438" r:id="rId124"/>
    <p:sldId id="439" r:id="rId125"/>
    <p:sldId id="443" r:id="rId126"/>
    <p:sldId id="444" r:id="rId127"/>
    <p:sldId id="445" r:id="rId128"/>
    <p:sldId id="446" r:id="rId129"/>
    <p:sldId id="450" r:id="rId130"/>
    <p:sldId id="447" r:id="rId131"/>
    <p:sldId id="448" r:id="rId132"/>
    <p:sldId id="453" r:id="rId133"/>
    <p:sldId id="449" r:id="rId134"/>
    <p:sldId id="451" r:id="rId135"/>
    <p:sldId id="452" r:id="rId136"/>
    <p:sldId id="454" r:id="rId137"/>
    <p:sldId id="302" r:id="rId138"/>
    <p:sldId id="303" r:id="rId139"/>
    <p:sldId id="356" r:id="rId140"/>
    <p:sldId id="357" r:id="rId141"/>
    <p:sldId id="308" r:id="rId142"/>
    <p:sldId id="309" r:id="rId143"/>
    <p:sldId id="310" r:id="rId144"/>
    <p:sldId id="311" r:id="rId145"/>
    <p:sldId id="312" r:id="rId146"/>
    <p:sldId id="313" r:id="rId147"/>
    <p:sldId id="314" r:id="rId148"/>
    <p:sldId id="315" r:id="rId149"/>
    <p:sldId id="316" r:id="rId150"/>
    <p:sldId id="317" r:id="rId151"/>
    <p:sldId id="318" r:id="rId152"/>
    <p:sldId id="319" r:id="rId153"/>
    <p:sldId id="320" r:id="rId154"/>
    <p:sldId id="321" r:id="rId155"/>
    <p:sldId id="322" r:id="rId156"/>
    <p:sldId id="323" r:id="rId157"/>
    <p:sldId id="324" r:id="rId158"/>
    <p:sldId id="325" r:id="rId159"/>
    <p:sldId id="326" r:id="rId160"/>
    <p:sldId id="327" r:id="rId161"/>
    <p:sldId id="328" r:id="rId162"/>
    <p:sldId id="329" r:id="rId163"/>
    <p:sldId id="330" r:id="rId164"/>
    <p:sldId id="331" r:id="rId165"/>
    <p:sldId id="332" r:id="rId166"/>
    <p:sldId id="333" r:id="rId167"/>
    <p:sldId id="334" r:id="rId168"/>
    <p:sldId id="335" r:id="rId169"/>
    <p:sldId id="337" r:id="rId170"/>
    <p:sldId id="338" r:id="rId171"/>
    <p:sldId id="339" r:id="rId172"/>
    <p:sldId id="340" r:id="rId173"/>
    <p:sldId id="341" r:id="rId174"/>
    <p:sldId id="342" r:id="rId1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presProps" Target="pres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172E3A-A5AB-40A2-B003-8B1560ED575A}" type="datetimeFigureOut">
              <a:rPr lang="en-US" smtClean="0"/>
              <a:pPr/>
              <a:t>7/20/2026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C4C052-A1F4-4A22-9B8B-CEDFAD19911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p:cNvSpPr>
            <a:spLocks noGrp="1" noChangeArrowheads="1"/>
          </p:cNvSpPr>
          <p:nvPr>
            <p:ph type="sldNum" sz="quarter"/>
          </p:nvPr>
        </p:nvSpPr>
        <p:spPr>
          <a:noFill/>
          <a:ln/>
        </p:spPr>
        <p:txBody>
          <a:bodyPr/>
          <a:lstStyle/>
          <a:p>
            <a:fld id="{04FDD962-0BBA-4299-8B43-2826F161DF14}" type="slidenum">
              <a:rPr lang="en-US" altLang="en-US"/>
              <a:pPr/>
              <a:t>1</a:t>
            </a:fld>
            <a:endParaRPr lang="en-US" altLang="en-US"/>
          </a:p>
        </p:txBody>
      </p:sp>
      <p:sp>
        <p:nvSpPr>
          <p:cNvPr id="614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14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6"/>
          <p:cNvSpPr>
            <a:spLocks noGrp="1" noChangeArrowheads="1"/>
          </p:cNvSpPr>
          <p:nvPr>
            <p:ph type="sldNum" sz="quarter"/>
          </p:nvPr>
        </p:nvSpPr>
        <p:spPr>
          <a:noFill/>
          <a:ln/>
        </p:spPr>
        <p:txBody>
          <a:bodyPr/>
          <a:lstStyle/>
          <a:p>
            <a:fld id="{EA8E5ED8-566F-4D7E-AEB3-5C0FD34AFF6B}" type="slidenum">
              <a:rPr lang="en-US" altLang="en-US"/>
              <a:pPr/>
              <a:t>3</a:t>
            </a:fld>
            <a:endParaRPr lang="en-US" altLang="en-US"/>
          </a:p>
        </p:txBody>
      </p:sp>
      <p:sp>
        <p:nvSpPr>
          <p:cNvPr id="102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2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ln/>
        </p:spPr>
        <p:txBody>
          <a:bodyPr/>
          <a:lstStyle/>
          <a:p>
            <a:fld id="{336C7550-CBA5-4EA4-8D09-4D1C7368B7A3}" type="slidenum">
              <a:rPr lang="en-US" altLang="en-US"/>
              <a:pPr/>
              <a:t>4</a:t>
            </a:fld>
            <a:endParaRPr lang="en-US" altLang="en-US"/>
          </a:p>
        </p:txBody>
      </p:sp>
      <p:sp>
        <p:nvSpPr>
          <p:cNvPr id="143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43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p:cNvSpPr>
            <a:spLocks noGrp="1" noChangeArrowheads="1"/>
          </p:cNvSpPr>
          <p:nvPr>
            <p:ph type="sldNum" sz="quarter"/>
          </p:nvPr>
        </p:nvSpPr>
        <p:spPr>
          <a:noFill/>
          <a:ln/>
        </p:spPr>
        <p:txBody>
          <a:bodyPr/>
          <a:lstStyle/>
          <a:p>
            <a:fld id="{9481BB03-5847-4AD2-879B-EB9E3AE23C3D}" type="slidenum">
              <a:rPr lang="en-US" altLang="en-US"/>
              <a:pPr/>
              <a:t>5</a:t>
            </a:fld>
            <a:endParaRPr lang="en-US" altLang="en-US"/>
          </a:p>
        </p:txBody>
      </p:sp>
      <p:sp>
        <p:nvSpPr>
          <p:cNvPr id="163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63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p:cNvSpPr>
            <a:spLocks noGrp="1" noChangeArrowheads="1"/>
          </p:cNvSpPr>
          <p:nvPr>
            <p:ph type="sldNum" sz="quarter"/>
          </p:nvPr>
        </p:nvSpPr>
        <p:spPr>
          <a:noFill/>
          <a:ln/>
        </p:spPr>
        <p:txBody>
          <a:bodyPr/>
          <a:lstStyle/>
          <a:p>
            <a:fld id="{89D7811B-025C-4DE3-B820-76E66E4A4F9C}" type="slidenum">
              <a:rPr lang="en-US" altLang="en-US"/>
              <a:pPr/>
              <a:t>6</a:t>
            </a:fld>
            <a:endParaRPr lang="en-US" altLang="en-US"/>
          </a:p>
        </p:txBody>
      </p:sp>
      <p:sp>
        <p:nvSpPr>
          <p:cNvPr id="184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84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p:cNvSpPr>
            <a:spLocks noGrp="1" noChangeArrowheads="1"/>
          </p:cNvSpPr>
          <p:nvPr>
            <p:ph type="sldNum" sz="quarter"/>
          </p:nvPr>
        </p:nvSpPr>
        <p:spPr>
          <a:noFill/>
          <a:ln/>
        </p:spPr>
        <p:txBody>
          <a:bodyPr/>
          <a:lstStyle/>
          <a:p>
            <a:fld id="{7AF726A7-8E32-492D-BD31-4942BEFE2A09}" type="slidenum">
              <a:rPr lang="en-US" altLang="en-US"/>
              <a:pPr/>
              <a:t>7</a:t>
            </a:fld>
            <a:endParaRPr lang="en-US" altLang="en-US"/>
          </a:p>
        </p:txBody>
      </p:sp>
      <p:sp>
        <p:nvSpPr>
          <p:cNvPr id="204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04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p:cNvSpPr>
            <a:spLocks noGrp="1" noChangeArrowheads="1"/>
          </p:cNvSpPr>
          <p:nvPr>
            <p:ph type="sldNum" sz="quarter"/>
          </p:nvPr>
        </p:nvSpPr>
        <p:spPr>
          <a:noFill/>
          <a:ln/>
        </p:spPr>
        <p:txBody>
          <a:bodyPr/>
          <a:lstStyle/>
          <a:p>
            <a:fld id="{1963AD5C-28CD-455B-9936-F111C3C59A66}" type="slidenum">
              <a:rPr lang="en-US" altLang="en-US"/>
              <a:pPr/>
              <a:t>8</a:t>
            </a:fld>
            <a:endParaRPr lang="en-US" altLang="en-US"/>
          </a:p>
        </p:txBody>
      </p:sp>
      <p:sp>
        <p:nvSpPr>
          <p:cNvPr id="225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25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p:cNvSpPr>
            <a:spLocks noGrp="1" noChangeArrowheads="1"/>
          </p:cNvSpPr>
          <p:nvPr>
            <p:ph type="sldNum" sz="quarter"/>
          </p:nvPr>
        </p:nvSpPr>
        <p:spPr>
          <a:noFill/>
          <a:ln/>
        </p:spPr>
        <p:txBody>
          <a:bodyPr/>
          <a:lstStyle/>
          <a:p>
            <a:fld id="{EE560103-4393-4F0A-94EE-3B33C690D9DC}" type="slidenum">
              <a:rPr lang="en-US" altLang="en-US"/>
              <a:pPr/>
              <a:t>9</a:t>
            </a:fld>
            <a:endParaRPr lang="en-US" altLang="en-US"/>
          </a:p>
        </p:txBody>
      </p:sp>
      <p:sp>
        <p:nvSpPr>
          <p:cNvPr id="266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66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p:cNvSpPr>
            <a:spLocks noGrp="1" noChangeArrowheads="1"/>
          </p:cNvSpPr>
          <p:nvPr>
            <p:ph type="sldNum" sz="quarter"/>
          </p:nvPr>
        </p:nvSpPr>
        <p:spPr>
          <a:noFill/>
          <a:ln/>
        </p:spPr>
        <p:txBody>
          <a:bodyPr/>
          <a:lstStyle/>
          <a:p>
            <a:fld id="{E4297FD7-B8E9-4557-A3B1-AB33FF0575FD}" type="slidenum">
              <a:rPr lang="en-US" altLang="en-US"/>
              <a:pPr/>
              <a:t>10</a:t>
            </a:fld>
            <a:endParaRPr lang="en-US" altLang="en-US"/>
          </a:p>
        </p:txBody>
      </p:sp>
      <p:sp>
        <p:nvSpPr>
          <p:cNvPr id="286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86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p:cNvSpPr>
            <a:spLocks noGrp="1" noChangeArrowheads="1"/>
          </p:cNvSpPr>
          <p:nvPr>
            <p:ph type="sldNum" sz="quarter"/>
          </p:nvPr>
        </p:nvSpPr>
        <p:spPr>
          <a:noFill/>
          <a:ln/>
        </p:spPr>
        <p:txBody>
          <a:bodyPr/>
          <a:lstStyle/>
          <a:p>
            <a:fld id="{3A0B8024-F5A9-4798-B72E-C09D2D566E08}" type="slidenum">
              <a:rPr lang="en-US" altLang="en-US"/>
              <a:pPr/>
              <a:t>11</a:t>
            </a:fld>
            <a:endParaRPr lang="en-US" altLang="en-US"/>
          </a:p>
        </p:txBody>
      </p:sp>
      <p:sp>
        <p:nvSpPr>
          <p:cNvPr id="307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307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p:cNvSpPr>
            <a:spLocks noGrp="1" noChangeArrowheads="1"/>
          </p:cNvSpPr>
          <p:nvPr>
            <p:ph type="sldNum" sz="quarter"/>
          </p:nvPr>
        </p:nvSpPr>
        <p:spPr>
          <a:noFill/>
          <a:ln/>
        </p:spPr>
        <p:txBody>
          <a:bodyPr/>
          <a:lstStyle/>
          <a:p>
            <a:fld id="{AE692B36-59CD-4C2B-84E1-4EDEFA266E9C}" type="slidenum">
              <a:rPr lang="en-US" altLang="en-US"/>
              <a:pPr/>
              <a:t>12</a:t>
            </a:fld>
            <a:endParaRPr lang="en-US" altLang="en-US"/>
          </a:p>
        </p:txBody>
      </p:sp>
      <p:sp>
        <p:nvSpPr>
          <p:cNvPr id="327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327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p:cNvSpPr>
            <a:spLocks noGrp="1" noChangeArrowheads="1"/>
          </p:cNvSpPr>
          <p:nvPr>
            <p:ph type="sldNum" sz="quarter"/>
          </p:nvPr>
        </p:nvSpPr>
        <p:spPr>
          <a:noFill/>
          <a:ln/>
        </p:spPr>
        <p:txBody>
          <a:bodyPr/>
          <a:lstStyle/>
          <a:p>
            <a:fld id="{E83FD995-B3AF-4C5E-A68F-574C69030C6F}" type="slidenum">
              <a:rPr lang="en-US" altLang="en-US"/>
              <a:pPr/>
              <a:t>13</a:t>
            </a:fld>
            <a:endParaRPr lang="en-US" altLang="en-US"/>
          </a:p>
        </p:txBody>
      </p:sp>
      <p:sp>
        <p:nvSpPr>
          <p:cNvPr id="3481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3482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ln/>
        </p:spPr>
        <p:txBody>
          <a:bodyPr/>
          <a:lstStyle/>
          <a:p>
            <a:fld id="{CDAB347C-56EB-4656-ACD6-9F62FE64B976}" type="slidenum">
              <a:rPr lang="en-US" altLang="en-US"/>
              <a:pPr/>
              <a:t>16</a:t>
            </a:fld>
            <a:endParaRPr lang="en-US" altLang="en-US"/>
          </a:p>
        </p:txBody>
      </p:sp>
      <p:sp>
        <p:nvSpPr>
          <p:cNvPr id="4096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4096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ln/>
        </p:spPr>
        <p:txBody>
          <a:bodyPr/>
          <a:lstStyle/>
          <a:p>
            <a:fld id="{0C64D785-067B-4E0C-9C80-5DE65EA7C19F}" type="slidenum">
              <a:rPr lang="en-US" altLang="en-US"/>
              <a:pPr/>
              <a:t>17</a:t>
            </a:fld>
            <a:endParaRPr lang="en-US" altLang="en-US"/>
          </a:p>
        </p:txBody>
      </p:sp>
      <p:sp>
        <p:nvSpPr>
          <p:cNvPr id="4301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4301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p:cNvSpPr>
            <a:spLocks noGrp="1" noChangeArrowheads="1"/>
          </p:cNvSpPr>
          <p:nvPr>
            <p:ph type="sldNum" sz="quarter"/>
          </p:nvPr>
        </p:nvSpPr>
        <p:spPr>
          <a:noFill/>
          <a:ln/>
        </p:spPr>
        <p:txBody>
          <a:bodyPr/>
          <a:lstStyle/>
          <a:p>
            <a:fld id="{9538B758-8D90-419A-A20E-254603DF490A}" type="slidenum">
              <a:rPr lang="en-US" altLang="en-US"/>
              <a:pPr/>
              <a:t>41</a:t>
            </a:fld>
            <a:endParaRPr lang="en-US" altLang="en-US"/>
          </a:p>
        </p:txBody>
      </p:sp>
      <p:sp>
        <p:nvSpPr>
          <p:cNvPr id="5939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5939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p:cNvSpPr>
            <a:spLocks noGrp="1" noChangeArrowheads="1"/>
          </p:cNvSpPr>
          <p:nvPr>
            <p:ph type="sldNum" sz="quarter"/>
          </p:nvPr>
        </p:nvSpPr>
        <p:spPr>
          <a:noFill/>
          <a:ln/>
        </p:spPr>
        <p:txBody>
          <a:bodyPr/>
          <a:lstStyle/>
          <a:p>
            <a:fld id="{6F08DCD8-6CCC-4EE4-9DBF-36C201180CB1}" type="slidenum">
              <a:rPr lang="en-US" altLang="en-US"/>
              <a:pPr/>
              <a:t>42</a:t>
            </a:fld>
            <a:endParaRPr lang="en-US" altLang="en-US"/>
          </a:p>
        </p:txBody>
      </p:sp>
      <p:sp>
        <p:nvSpPr>
          <p:cNvPr id="614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14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p:cNvSpPr>
            <a:spLocks noGrp="1" noChangeArrowheads="1"/>
          </p:cNvSpPr>
          <p:nvPr>
            <p:ph type="sldNum" sz="quarter"/>
          </p:nvPr>
        </p:nvSpPr>
        <p:spPr>
          <a:noFill/>
          <a:ln/>
        </p:spPr>
        <p:txBody>
          <a:bodyPr/>
          <a:lstStyle/>
          <a:p>
            <a:fld id="{DEF0190E-3CC7-4BE9-B4F7-13EFA41A988C}" type="slidenum">
              <a:rPr lang="en-US" altLang="en-US"/>
              <a:pPr/>
              <a:t>43</a:t>
            </a:fld>
            <a:endParaRPr lang="en-US" altLang="en-US"/>
          </a:p>
        </p:txBody>
      </p:sp>
      <p:sp>
        <p:nvSpPr>
          <p:cNvPr id="6349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349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p:cNvSpPr>
            <a:spLocks noGrp="1" noChangeArrowheads="1"/>
          </p:cNvSpPr>
          <p:nvPr>
            <p:ph type="sldNum" sz="quarter"/>
          </p:nvPr>
        </p:nvSpPr>
        <p:spPr>
          <a:noFill/>
          <a:ln/>
        </p:spPr>
        <p:txBody>
          <a:bodyPr/>
          <a:lstStyle/>
          <a:p>
            <a:fld id="{AEF595A0-9CEC-4172-BD17-4753F7077620}" type="slidenum">
              <a:rPr lang="en-US" altLang="en-US"/>
              <a:pPr/>
              <a:t>44</a:t>
            </a:fld>
            <a:endParaRPr lang="en-US" altLang="en-US"/>
          </a:p>
        </p:txBody>
      </p:sp>
      <p:sp>
        <p:nvSpPr>
          <p:cNvPr id="655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55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p:cNvSpPr>
            <a:spLocks noGrp="1" noChangeArrowheads="1"/>
          </p:cNvSpPr>
          <p:nvPr>
            <p:ph type="sldNum" sz="quarter"/>
          </p:nvPr>
        </p:nvSpPr>
        <p:spPr>
          <a:noFill/>
          <a:ln/>
        </p:spPr>
        <p:txBody>
          <a:bodyPr/>
          <a:lstStyle/>
          <a:p>
            <a:fld id="{CEC0F1D8-0944-4CC9-A9A6-986828879406}" type="slidenum">
              <a:rPr lang="en-US" altLang="en-US"/>
              <a:pPr/>
              <a:t>45</a:t>
            </a:fld>
            <a:endParaRPr lang="en-US" altLang="en-US"/>
          </a:p>
        </p:txBody>
      </p:sp>
      <p:sp>
        <p:nvSpPr>
          <p:cNvPr id="675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75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p:cNvSpPr>
            <a:spLocks noGrp="1" noChangeArrowheads="1"/>
          </p:cNvSpPr>
          <p:nvPr>
            <p:ph type="sldNum" sz="quarter"/>
          </p:nvPr>
        </p:nvSpPr>
        <p:spPr>
          <a:noFill/>
          <a:ln/>
        </p:spPr>
        <p:txBody>
          <a:bodyPr/>
          <a:lstStyle/>
          <a:p>
            <a:fld id="{9B3EE5A8-2EE5-44CF-9005-1A0D0C510D1B}" type="slidenum">
              <a:rPr lang="en-US" altLang="en-US"/>
              <a:pPr/>
              <a:t>46</a:t>
            </a:fld>
            <a:endParaRPr lang="en-US" altLang="en-US"/>
          </a:p>
        </p:txBody>
      </p:sp>
      <p:sp>
        <p:nvSpPr>
          <p:cNvPr id="696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96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6"/>
          <p:cNvSpPr>
            <a:spLocks noGrp="1" noChangeArrowheads="1"/>
          </p:cNvSpPr>
          <p:nvPr>
            <p:ph type="sldNum" sz="quarter"/>
          </p:nvPr>
        </p:nvSpPr>
        <p:spPr>
          <a:noFill/>
          <a:ln/>
        </p:spPr>
        <p:txBody>
          <a:bodyPr/>
          <a:lstStyle/>
          <a:p>
            <a:fld id="{2EEFE7D6-2A75-451E-9ABA-0D046112A9CD}" type="slidenum">
              <a:rPr lang="en-US" altLang="en-US"/>
              <a:pPr/>
              <a:t>47</a:t>
            </a:fld>
            <a:endParaRPr lang="en-US" altLang="en-US"/>
          </a:p>
        </p:txBody>
      </p:sp>
      <p:sp>
        <p:nvSpPr>
          <p:cNvPr id="716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16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6"/>
          <p:cNvSpPr>
            <a:spLocks noGrp="1" noChangeArrowheads="1"/>
          </p:cNvSpPr>
          <p:nvPr>
            <p:ph type="sldNum" sz="quarter"/>
          </p:nvPr>
        </p:nvSpPr>
        <p:spPr>
          <a:noFill/>
          <a:ln/>
        </p:spPr>
        <p:txBody>
          <a:bodyPr/>
          <a:lstStyle/>
          <a:p>
            <a:fld id="{FAFFE8CD-95BF-4423-BDCA-1DFED45C8EC5}" type="slidenum">
              <a:rPr lang="en-US" altLang="en-US"/>
              <a:pPr/>
              <a:t>49</a:t>
            </a:fld>
            <a:endParaRPr lang="en-US" altLang="en-US"/>
          </a:p>
        </p:txBody>
      </p:sp>
      <p:sp>
        <p:nvSpPr>
          <p:cNvPr id="737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37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6"/>
          <p:cNvSpPr>
            <a:spLocks noGrp="1" noChangeArrowheads="1"/>
          </p:cNvSpPr>
          <p:nvPr>
            <p:ph type="sldNum" sz="quarter"/>
          </p:nvPr>
        </p:nvSpPr>
        <p:spPr>
          <a:noFill/>
          <a:ln/>
        </p:spPr>
        <p:txBody>
          <a:bodyPr/>
          <a:lstStyle/>
          <a:p>
            <a:fld id="{984BB4FE-F20A-48D9-B1DF-9206911F7BB2}" type="slidenum">
              <a:rPr lang="en-US" altLang="en-US"/>
              <a:pPr/>
              <a:t>50</a:t>
            </a:fld>
            <a:endParaRPr lang="en-US" altLang="en-US"/>
          </a:p>
        </p:txBody>
      </p:sp>
      <p:sp>
        <p:nvSpPr>
          <p:cNvPr id="7577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578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6"/>
          <p:cNvSpPr>
            <a:spLocks noGrp="1" noChangeArrowheads="1"/>
          </p:cNvSpPr>
          <p:nvPr>
            <p:ph type="sldNum" sz="quarter"/>
          </p:nvPr>
        </p:nvSpPr>
        <p:spPr>
          <a:noFill/>
          <a:ln/>
        </p:spPr>
        <p:txBody>
          <a:bodyPr/>
          <a:lstStyle/>
          <a:p>
            <a:fld id="{29223BDD-4732-4318-80A1-A9B915CEC838}" type="slidenum">
              <a:rPr lang="en-US" altLang="en-US"/>
              <a:pPr/>
              <a:t>137</a:t>
            </a:fld>
            <a:endParaRPr lang="en-US" altLang="en-US"/>
          </a:p>
        </p:txBody>
      </p:sp>
      <p:sp>
        <p:nvSpPr>
          <p:cNvPr id="10854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854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6"/>
          <p:cNvSpPr>
            <a:spLocks noGrp="1" noChangeArrowheads="1"/>
          </p:cNvSpPr>
          <p:nvPr>
            <p:ph type="sldNum" sz="quarter"/>
          </p:nvPr>
        </p:nvSpPr>
        <p:spPr>
          <a:noFill/>
          <a:ln/>
        </p:spPr>
        <p:txBody>
          <a:bodyPr/>
          <a:lstStyle/>
          <a:p>
            <a:fld id="{C4E2D94A-BA3A-4AF6-9CB0-6F48A0502DB2}" type="slidenum">
              <a:rPr lang="en-US" altLang="en-US"/>
              <a:pPr/>
              <a:t>138</a:t>
            </a:fld>
            <a:endParaRPr lang="en-US" altLang="en-US"/>
          </a:p>
        </p:txBody>
      </p:sp>
      <p:sp>
        <p:nvSpPr>
          <p:cNvPr id="11059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1059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139</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140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6"/>
          <p:cNvSpPr>
            <a:spLocks noGrp="1" noChangeArrowheads="1"/>
          </p:cNvSpPr>
          <p:nvPr>
            <p:ph type="sldNum" sz="quarter"/>
          </p:nvPr>
        </p:nvSpPr>
        <p:spPr>
          <a:noFill/>
          <a:ln/>
        </p:spPr>
        <p:txBody>
          <a:bodyPr/>
          <a:lstStyle/>
          <a:p>
            <a:fld id="{C98B8215-6015-4A2F-8B4A-310C9BD7DEB2}" type="slidenum">
              <a:rPr lang="en-US" altLang="en-US"/>
              <a:pPr/>
              <a:t>141</a:t>
            </a:fld>
            <a:endParaRPr lang="en-US" altLang="en-US"/>
          </a:p>
        </p:txBody>
      </p:sp>
      <p:sp>
        <p:nvSpPr>
          <p:cNvPr id="10035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035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6"/>
          <p:cNvSpPr>
            <a:spLocks noGrp="1" noChangeArrowheads="1"/>
          </p:cNvSpPr>
          <p:nvPr>
            <p:ph type="sldNum" sz="quarter"/>
          </p:nvPr>
        </p:nvSpPr>
        <p:spPr>
          <a:noFill/>
          <a:ln/>
        </p:spPr>
        <p:txBody>
          <a:bodyPr/>
          <a:lstStyle/>
          <a:p>
            <a:fld id="{8DE911F9-B074-494F-83D5-97EA02D05586}" type="slidenum">
              <a:rPr lang="en-US" altLang="en-US"/>
              <a:pPr/>
              <a:t>142</a:t>
            </a:fld>
            <a:endParaRPr lang="en-US" altLang="en-US"/>
          </a:p>
        </p:txBody>
      </p:sp>
      <p:sp>
        <p:nvSpPr>
          <p:cNvPr id="10240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240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6"/>
          <p:cNvSpPr>
            <a:spLocks noGrp="1" noChangeArrowheads="1"/>
          </p:cNvSpPr>
          <p:nvPr>
            <p:ph type="sldNum" sz="quarter"/>
          </p:nvPr>
        </p:nvSpPr>
        <p:spPr>
          <a:noFill/>
          <a:ln/>
        </p:spPr>
        <p:txBody>
          <a:bodyPr/>
          <a:lstStyle/>
          <a:p>
            <a:fld id="{1F54923E-B82F-476F-9197-E042481085C1}" type="slidenum">
              <a:rPr lang="en-US" altLang="en-US"/>
              <a:pPr/>
              <a:t>143</a:t>
            </a:fld>
            <a:endParaRPr lang="en-US" altLang="en-US"/>
          </a:p>
        </p:txBody>
      </p:sp>
      <p:sp>
        <p:nvSpPr>
          <p:cNvPr id="778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78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6"/>
          <p:cNvSpPr>
            <a:spLocks noGrp="1" noChangeArrowheads="1"/>
          </p:cNvSpPr>
          <p:nvPr>
            <p:ph type="sldNum" sz="quarter"/>
          </p:nvPr>
        </p:nvSpPr>
        <p:spPr>
          <a:noFill/>
          <a:ln/>
        </p:spPr>
        <p:txBody>
          <a:bodyPr/>
          <a:lstStyle/>
          <a:p>
            <a:fld id="{E749967F-4E01-45EC-96CB-EF13AC88620F}" type="slidenum">
              <a:rPr lang="en-US" altLang="en-US"/>
              <a:pPr/>
              <a:t>144</a:t>
            </a:fld>
            <a:endParaRPr lang="en-US" altLang="en-US"/>
          </a:p>
        </p:txBody>
      </p:sp>
      <p:sp>
        <p:nvSpPr>
          <p:cNvPr id="798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98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6"/>
          <p:cNvSpPr>
            <a:spLocks noGrp="1" noChangeArrowheads="1"/>
          </p:cNvSpPr>
          <p:nvPr>
            <p:ph type="sldNum" sz="quarter"/>
          </p:nvPr>
        </p:nvSpPr>
        <p:spPr>
          <a:noFill/>
          <a:ln/>
        </p:spPr>
        <p:txBody>
          <a:bodyPr/>
          <a:lstStyle/>
          <a:p>
            <a:fld id="{9BD718F1-12EF-4591-B340-B26D1421C285}" type="slidenum">
              <a:rPr lang="en-US" altLang="en-US"/>
              <a:pPr/>
              <a:t>145</a:t>
            </a:fld>
            <a:endParaRPr lang="en-US" altLang="en-US"/>
          </a:p>
        </p:txBody>
      </p:sp>
      <p:sp>
        <p:nvSpPr>
          <p:cNvPr id="819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819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6"/>
          <p:cNvSpPr>
            <a:spLocks noGrp="1" noChangeArrowheads="1"/>
          </p:cNvSpPr>
          <p:nvPr>
            <p:ph type="sldNum" sz="quarter"/>
          </p:nvPr>
        </p:nvSpPr>
        <p:spPr>
          <a:noFill/>
          <a:ln/>
        </p:spPr>
        <p:txBody>
          <a:bodyPr/>
          <a:lstStyle/>
          <a:p>
            <a:fld id="{821EC9BA-A8EC-4DEA-9A10-3A24BAB7D3D1}" type="slidenum">
              <a:rPr lang="en-US" altLang="en-US"/>
              <a:pPr/>
              <a:t>146</a:t>
            </a:fld>
            <a:endParaRPr lang="en-US" altLang="en-US"/>
          </a:p>
        </p:txBody>
      </p:sp>
      <p:sp>
        <p:nvSpPr>
          <p:cNvPr id="839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839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6"/>
          <p:cNvSpPr>
            <a:spLocks noGrp="1" noChangeArrowheads="1"/>
          </p:cNvSpPr>
          <p:nvPr>
            <p:ph type="sldNum" sz="quarter"/>
          </p:nvPr>
        </p:nvSpPr>
        <p:spPr>
          <a:noFill/>
          <a:ln/>
        </p:spPr>
        <p:txBody>
          <a:bodyPr/>
          <a:lstStyle/>
          <a:p>
            <a:fld id="{F85086C3-B1EA-453D-83CD-A903AF15B23A}" type="slidenum">
              <a:rPr lang="en-US" altLang="en-US"/>
              <a:pPr/>
              <a:t>147</a:t>
            </a:fld>
            <a:endParaRPr lang="en-US" altLang="en-US"/>
          </a:p>
        </p:txBody>
      </p:sp>
      <p:sp>
        <p:nvSpPr>
          <p:cNvPr id="10445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445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6"/>
          <p:cNvSpPr>
            <a:spLocks noGrp="1" noChangeArrowheads="1"/>
          </p:cNvSpPr>
          <p:nvPr>
            <p:ph type="sldNum" sz="quarter"/>
          </p:nvPr>
        </p:nvSpPr>
        <p:spPr>
          <a:noFill/>
          <a:ln/>
        </p:spPr>
        <p:txBody>
          <a:bodyPr/>
          <a:lstStyle/>
          <a:p>
            <a:fld id="{20D6333C-3772-4B97-BDC9-B1A795D02F52}" type="slidenum">
              <a:rPr lang="en-US" altLang="en-US"/>
              <a:pPr/>
              <a:t>148</a:t>
            </a:fld>
            <a:endParaRPr lang="en-US" altLang="en-US"/>
          </a:p>
        </p:txBody>
      </p:sp>
      <p:sp>
        <p:nvSpPr>
          <p:cNvPr id="10649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650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978" name="Rectangle 6"/>
          <p:cNvSpPr>
            <a:spLocks noGrp="1" noChangeArrowheads="1"/>
          </p:cNvSpPr>
          <p:nvPr>
            <p:ph type="sldNum" sz="quarter"/>
          </p:nvPr>
        </p:nvSpPr>
        <p:spPr>
          <a:noFill/>
          <a:ln/>
        </p:spPr>
        <p:txBody>
          <a:bodyPr/>
          <a:lstStyle/>
          <a:p>
            <a:fld id="{4E786AEA-61DF-4F77-BAA1-3BCD0EA48CE9}" type="slidenum">
              <a:rPr lang="en-US" altLang="en-US"/>
              <a:pPr/>
              <a:t>149</a:t>
            </a:fld>
            <a:endParaRPr lang="en-US" altLang="en-US"/>
          </a:p>
        </p:txBody>
      </p:sp>
      <p:sp>
        <p:nvSpPr>
          <p:cNvPr id="12697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2698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9026" name="Rectangle 6"/>
          <p:cNvSpPr>
            <a:spLocks noGrp="1" noChangeArrowheads="1"/>
          </p:cNvSpPr>
          <p:nvPr>
            <p:ph type="sldNum" sz="quarter"/>
          </p:nvPr>
        </p:nvSpPr>
        <p:spPr>
          <a:noFill/>
          <a:ln/>
        </p:spPr>
        <p:txBody>
          <a:bodyPr/>
          <a:lstStyle/>
          <a:p>
            <a:fld id="{F177483F-B004-4139-B3DD-4D2B67906868}" type="slidenum">
              <a:rPr lang="en-US" altLang="en-US"/>
              <a:pPr/>
              <a:t>150</a:t>
            </a:fld>
            <a:endParaRPr lang="en-US" altLang="en-US"/>
          </a:p>
        </p:txBody>
      </p:sp>
      <p:sp>
        <p:nvSpPr>
          <p:cNvPr id="1290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290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074" name="Rectangle 6"/>
          <p:cNvSpPr>
            <a:spLocks noGrp="1" noChangeArrowheads="1"/>
          </p:cNvSpPr>
          <p:nvPr>
            <p:ph type="sldNum" sz="quarter"/>
          </p:nvPr>
        </p:nvSpPr>
        <p:spPr>
          <a:noFill/>
          <a:ln/>
        </p:spPr>
        <p:txBody>
          <a:bodyPr/>
          <a:lstStyle/>
          <a:p>
            <a:fld id="{5132CE25-21DE-47AF-8940-1397EC19D912}" type="slidenum">
              <a:rPr lang="en-US" altLang="en-US"/>
              <a:pPr/>
              <a:t>151</a:t>
            </a:fld>
            <a:endParaRPr lang="en-US" altLang="en-US"/>
          </a:p>
        </p:txBody>
      </p:sp>
      <p:sp>
        <p:nvSpPr>
          <p:cNvPr id="1310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10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22" name="Rectangle 6"/>
          <p:cNvSpPr>
            <a:spLocks noGrp="1" noChangeArrowheads="1"/>
          </p:cNvSpPr>
          <p:nvPr>
            <p:ph type="sldNum" sz="quarter"/>
          </p:nvPr>
        </p:nvSpPr>
        <p:spPr>
          <a:noFill/>
          <a:ln/>
        </p:spPr>
        <p:txBody>
          <a:bodyPr/>
          <a:lstStyle/>
          <a:p>
            <a:fld id="{6603ADD5-5237-43F1-9591-C79A945CE76B}" type="slidenum">
              <a:rPr lang="en-US" altLang="en-US"/>
              <a:pPr/>
              <a:t>152</a:t>
            </a:fld>
            <a:endParaRPr lang="en-US" altLang="en-US"/>
          </a:p>
        </p:txBody>
      </p:sp>
      <p:sp>
        <p:nvSpPr>
          <p:cNvPr id="1331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31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6"/>
          <p:cNvSpPr>
            <a:spLocks noGrp="1" noChangeArrowheads="1"/>
          </p:cNvSpPr>
          <p:nvPr>
            <p:ph type="sldNum" sz="quarter"/>
          </p:nvPr>
        </p:nvSpPr>
        <p:spPr>
          <a:noFill/>
          <a:ln/>
        </p:spPr>
        <p:txBody>
          <a:bodyPr/>
          <a:lstStyle/>
          <a:p>
            <a:fld id="{6424D3DC-418E-4EA6-AA69-EB06144199CD}" type="slidenum">
              <a:rPr lang="en-US" altLang="en-US"/>
              <a:pPr/>
              <a:t>153</a:t>
            </a:fld>
            <a:endParaRPr lang="en-US" altLang="en-US"/>
          </a:p>
        </p:txBody>
      </p:sp>
      <p:sp>
        <p:nvSpPr>
          <p:cNvPr id="1351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51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6"/>
          <p:cNvSpPr>
            <a:spLocks noGrp="1" noChangeArrowheads="1"/>
          </p:cNvSpPr>
          <p:nvPr>
            <p:ph type="sldNum" sz="quarter"/>
          </p:nvPr>
        </p:nvSpPr>
        <p:spPr>
          <a:noFill/>
          <a:ln/>
        </p:spPr>
        <p:txBody>
          <a:bodyPr/>
          <a:lstStyle/>
          <a:p>
            <a:fld id="{A3F8D62F-2BE7-4F1E-B751-8AD3478DE0CA}" type="slidenum">
              <a:rPr lang="en-US" altLang="en-US"/>
              <a:pPr/>
              <a:t>154</a:t>
            </a:fld>
            <a:endParaRPr lang="en-US" altLang="en-US"/>
          </a:p>
        </p:txBody>
      </p:sp>
      <p:sp>
        <p:nvSpPr>
          <p:cNvPr id="13721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722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164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165</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166</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167</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6"/>
          <p:cNvSpPr>
            <a:spLocks noGrp="1" noChangeArrowheads="1"/>
          </p:cNvSpPr>
          <p:nvPr>
            <p:ph type="sldNum" sz="quarter"/>
          </p:nvPr>
        </p:nvSpPr>
        <p:spPr>
          <a:noFill/>
          <a:ln/>
        </p:spPr>
        <p:txBody>
          <a:bodyPr/>
          <a:lstStyle/>
          <a:p>
            <a:fld id="{92579EDA-4D4F-4900-AA2B-D9B56DAD20A2}" type="slidenum">
              <a:rPr lang="en-US" altLang="en-US"/>
              <a:pPr/>
              <a:t>168</a:t>
            </a:fld>
            <a:endParaRPr lang="en-US" altLang="en-US"/>
          </a:p>
        </p:txBody>
      </p:sp>
      <p:sp>
        <p:nvSpPr>
          <p:cNvPr id="16589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6589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986" name="Rectangle 6"/>
          <p:cNvSpPr>
            <a:spLocks noGrp="1" noChangeArrowheads="1"/>
          </p:cNvSpPr>
          <p:nvPr>
            <p:ph type="sldNum" sz="quarter"/>
          </p:nvPr>
        </p:nvSpPr>
        <p:spPr>
          <a:noFill/>
          <a:ln/>
        </p:spPr>
        <p:txBody>
          <a:bodyPr/>
          <a:lstStyle/>
          <a:p>
            <a:fld id="{E31C3588-1CC5-47AB-AE30-C2CD486874AC}" type="slidenum">
              <a:rPr lang="en-US" altLang="en-US"/>
              <a:pPr/>
              <a:t>169</a:t>
            </a:fld>
            <a:endParaRPr lang="en-US" altLang="en-US"/>
          </a:p>
        </p:txBody>
      </p:sp>
      <p:sp>
        <p:nvSpPr>
          <p:cNvPr id="1699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699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170</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171</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172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173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174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2157AA-F0B9-43D6-86F2-FAA33B99CE2E}"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2157AA-F0B9-43D6-86F2-FAA33B99CE2E}" type="datetimeFigureOut">
              <a:rPr lang="en-US" smtClean="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2157AA-F0B9-43D6-86F2-FAA33B99CE2E}" type="datetimeFigureOut">
              <a:rPr lang="en-US" smtClean="0"/>
              <a:pPr/>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2157AA-F0B9-43D6-86F2-FAA33B99CE2E}" type="datetimeFigureOut">
              <a:rPr lang="en-US" smtClean="0"/>
              <a:pPr/>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157AA-F0B9-43D6-86F2-FAA33B99CE2E}" type="datetimeFigureOut">
              <a:rPr lang="en-US" smtClean="0"/>
              <a:pPr/>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03F8F-F07C-4F14-BB6B-9F00CB52A0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TOPICS</a:t>
            </a:r>
            <a:endParaRPr lang="en-US" sz="4000" dirty="0">
              <a:latin typeface="Lucida Sans Unicode" pitchFamily="34" charset="0"/>
              <a:cs typeface="Arial" charset="0"/>
            </a:endParaRPr>
          </a:p>
        </p:txBody>
      </p:sp>
      <p:sp>
        <p:nvSpPr>
          <p:cNvPr id="51201" name="Rectangle 1"/>
          <p:cNvSpPr>
            <a:spLocks noChangeArrowheads="1"/>
          </p:cNvSpPr>
          <p:nvPr/>
        </p:nvSpPr>
        <p:spPr bwMode="auto">
          <a:xfrm>
            <a:off x="457200" y="1295400"/>
            <a:ext cx="8458200"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800" b="1" dirty="0"/>
              <a:t>JAVA BASICS: </a:t>
            </a:r>
            <a:r>
              <a:rPr lang="en-US" sz="2800" dirty="0"/>
              <a:t>Review of Object oriented concepts, History of Java, Java buzzwords, JVM architecture, Data types, Variables, Scope and life time of variables, arrays, operators, control statements, type conversion and casting, simple java program, constructors, methods, Static block, Static Data, Static Method String and String Buffer Classes, Using Java API Document.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228600" y="838200"/>
            <a:ext cx="8915400" cy="6586418"/>
          </a:xfrm>
          <a:prstGeom prst="rect">
            <a:avLst/>
          </a:prstGeom>
          <a:noFill/>
        </p:spPr>
        <p:txBody>
          <a:bodyPr wrap="square">
            <a:spAutoFit/>
          </a:bodyPr>
          <a:lstStyle/>
          <a:p>
            <a:pPr algn="just">
              <a:lnSpc>
                <a:spcPct val="200000"/>
              </a:lnSpc>
              <a:buClr>
                <a:srgbClr val="C00000"/>
              </a:buClr>
            </a:pPr>
            <a:r>
              <a:rPr lang="en-US" b="1" u="sng" dirty="0">
                <a:latin typeface="Times New Roman" panose="02020603050405020304" pitchFamily="18" charset="0"/>
                <a:cs typeface="Times New Roman" panose="02020603050405020304" pitchFamily="18" charset="0"/>
              </a:rPr>
              <a:t>Benefits of Inheritance</a:t>
            </a:r>
          </a:p>
          <a:p>
            <a:pPr algn="just">
              <a:lnSpc>
                <a:spcPct val="200000"/>
              </a:lnSpc>
              <a:buClr>
                <a:srgbClr val="C00000"/>
              </a:buClr>
            </a:pPr>
            <a:endParaRPr lang="en-US" b="1" u="sng"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mj-lt"/>
              <a:buAutoNum type="arabicParenR"/>
              <a:defRPr/>
            </a:pPr>
            <a:r>
              <a:rPr lang="en-US" b="1" dirty="0">
                <a:latin typeface="Times New Roman" panose="02020603050405020304" pitchFamily="18" charset="0"/>
                <a:cs typeface="Times New Roman" panose="02020603050405020304" pitchFamily="18" charset="0"/>
              </a:rPr>
              <a:t>Software reusability </a:t>
            </a:r>
            <a:r>
              <a:rPr lang="en-US" dirty="0">
                <a:latin typeface="Times New Roman" panose="02020603050405020304" pitchFamily="18" charset="0"/>
                <a:cs typeface="Times New Roman" panose="02020603050405020304" pitchFamily="18" charset="0"/>
              </a:rPr>
              <a:t>(among projects)  : Functions written once can be reused. No need to spend time in rewriting the code	</a:t>
            </a:r>
          </a:p>
          <a:p>
            <a:pPr marL="798513" indent="-290513"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2"/>
              <a:defRPr/>
            </a:pPr>
            <a:r>
              <a:rPr lang="en-US" b="1" dirty="0">
                <a:latin typeface="Times New Roman" panose="02020603050405020304" pitchFamily="18" charset="0"/>
                <a:cs typeface="Times New Roman" panose="02020603050405020304" pitchFamily="18" charset="0"/>
              </a:rPr>
              <a:t>Code sharing </a:t>
            </a:r>
            <a:r>
              <a:rPr lang="en-US" dirty="0">
                <a:latin typeface="Times New Roman" panose="02020603050405020304" pitchFamily="18" charset="0"/>
                <a:cs typeface="Times New Roman" panose="02020603050405020304" pitchFamily="18" charset="0"/>
              </a:rPr>
              <a:t>(within a project) : Many users and projects can use the same classes.</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3"/>
              <a:defRPr/>
            </a:pPr>
            <a:r>
              <a:rPr lang="en-US" b="1" dirty="0">
                <a:latin typeface="Times New Roman" panose="02020603050405020304" pitchFamily="18" charset="0"/>
                <a:cs typeface="Times New Roman" panose="02020603050405020304" pitchFamily="18" charset="0"/>
              </a:rPr>
              <a:t>Increased reliability </a:t>
            </a:r>
            <a:r>
              <a:rPr lang="en-US" dirty="0">
                <a:latin typeface="Times New Roman" panose="02020603050405020304" pitchFamily="18" charset="0"/>
                <a:cs typeface="Times New Roman" panose="02020603050405020304" pitchFamily="18" charset="0"/>
              </a:rPr>
              <a:t>(resulting from reuse and sharing of well-tested code) : Probability of fewer bugs in already used and tested code.</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Arial" pitchFamily="34" charset="0"/>
              <a:buNone/>
              <a:defRPr/>
            </a:pPr>
            <a:endParaRPr lang="en-US" dirty="0">
              <a:latin typeface="Times New Roman" panose="02020603050405020304" pitchFamily="18" charset="0"/>
              <a:cs typeface="Times New Roman" panose="02020603050405020304" pitchFamily="18" charset="0"/>
            </a:endParaRPr>
          </a:p>
          <a:p>
            <a:pPr algn="just">
              <a:lnSpc>
                <a:spcPct val="200000"/>
              </a:lnSpc>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457200" y="914400"/>
            <a:ext cx="7848600" cy="1892826"/>
          </a:xfrm>
          <a:prstGeom prst="rect">
            <a:avLst/>
          </a:prstGeom>
          <a:noFill/>
        </p:spPr>
        <p:txBody>
          <a:bodyPr wrap="square">
            <a:spAutoFit/>
          </a:bodyPr>
          <a:lstStyle/>
          <a:p>
            <a:pPr algn="just">
              <a:buClr>
                <a:srgbClr val="C00000"/>
              </a:buClr>
            </a:pPr>
            <a:endParaRPr lang="en-US" b="1" u="sng" dirty="0">
              <a:latin typeface="Lucida Bright"/>
            </a:endParaRPr>
          </a:p>
          <a:p>
            <a:pPr marL="465138" indent="-349250" algn="just" eaLnBrk="1" hangingPunct="1">
              <a:lnSpc>
                <a:spcPct val="150000"/>
              </a:lnSpc>
              <a:spcBef>
                <a:spcPts val="0"/>
              </a:spcBef>
              <a:defRPr/>
            </a:pPr>
            <a:endParaRPr lang="en-US" dirty="0">
              <a:latin typeface="Lucida Bright" pitchFamily="18" charset="0"/>
            </a:endParaRPr>
          </a:p>
          <a:p>
            <a:pPr algn="just">
              <a:lnSpc>
                <a:spcPct val="200000"/>
              </a:lnSpc>
            </a:pPr>
            <a:endParaRPr lang="en-US" dirty="0">
              <a:latin typeface="Lucida Bright"/>
              <a:cs typeface="Times New Roman" pitchFamily="18" charset="0"/>
            </a:endParaRPr>
          </a:p>
          <a:p>
            <a:pPr algn="just"/>
            <a:endParaRPr lang="en-US" dirty="0">
              <a:latin typeface="Lucida Bright"/>
              <a:cs typeface="Times New Roman" pitchFamily="18" charset="0"/>
            </a:endParaRPr>
          </a:p>
          <a:p>
            <a:pPr algn="just"/>
            <a:endParaRPr lang="en-US" dirty="0">
              <a:latin typeface="Lucida Bright"/>
              <a:cs typeface="Times New Roman"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15</a:t>
            </a:fld>
            <a:endParaRPr lang="en-US"/>
          </a:p>
        </p:txBody>
      </p:sp>
      <p:sp>
        <p:nvSpPr>
          <p:cNvPr id="7" name="Rectangle 6"/>
          <p:cNvSpPr/>
          <p:nvPr/>
        </p:nvSpPr>
        <p:spPr>
          <a:xfrm>
            <a:off x="228600" y="1823884"/>
            <a:ext cx="8686800" cy="2948243"/>
          </a:xfrm>
          <a:prstGeom prst="rect">
            <a:avLst/>
          </a:prstGeom>
        </p:spPr>
        <p:txBody>
          <a:bodyPr wrap="square">
            <a:spAutoFit/>
          </a:bodyPr>
          <a:lstStyle/>
          <a:p>
            <a:pPr marL="465138" indent="-349250" algn="just">
              <a:lnSpc>
                <a:spcPct val="150000"/>
              </a:lnSpc>
              <a:defRPr/>
            </a:pPr>
            <a:r>
              <a:rPr lang="en-US" dirty="0">
                <a:latin typeface="Lucida Bright" pitchFamily="18" charset="0"/>
              </a:rPr>
              <a:t>4) </a:t>
            </a:r>
            <a:r>
              <a:rPr lang="en-US" b="1" dirty="0">
                <a:latin typeface="Lucida Bright" pitchFamily="18" charset="0"/>
              </a:rPr>
              <a:t>Polymorphism and frameworks </a:t>
            </a:r>
            <a:r>
              <a:rPr lang="en-US" dirty="0">
                <a:latin typeface="Lucida Bright" pitchFamily="18" charset="0"/>
              </a:rPr>
              <a:t>(high-level reusable components): Polymorphism permits the programmer to generate high-level reusable components that can be tailored to fit different applications by changes in their low-level parts.</a:t>
            </a:r>
          </a:p>
          <a:p>
            <a:pPr marL="465138" indent="-349250" algn="just">
              <a:lnSpc>
                <a:spcPct val="150000"/>
              </a:lnSpc>
              <a:defRPr/>
            </a:pPr>
            <a:endParaRPr lang="en-US" dirty="0">
              <a:latin typeface="Lucida Bright" pitchFamily="18" charset="0"/>
            </a:endParaRPr>
          </a:p>
          <a:p>
            <a:pPr marL="465138" indent="-349250" algn="just">
              <a:lnSpc>
                <a:spcPct val="150000"/>
              </a:lnSpc>
              <a:defRPr/>
            </a:pPr>
            <a:r>
              <a:rPr lang="en-US" dirty="0">
                <a:latin typeface="Lucida Bright" pitchFamily="18" charset="0"/>
              </a:rPr>
              <a:t>5) </a:t>
            </a:r>
            <a:r>
              <a:rPr lang="en-US" b="1" dirty="0">
                <a:latin typeface="Lucida Bright" pitchFamily="18" charset="0"/>
              </a:rPr>
              <a:t>Information hiding  : </a:t>
            </a:r>
            <a:r>
              <a:rPr lang="en-US" dirty="0">
                <a:latin typeface="Lucida Bright" pitchFamily="18" charset="0"/>
              </a:rPr>
              <a:t>Reduces inter connections between software system thus decreasing software complexity.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a:xfrm>
            <a:off x="0" y="0"/>
            <a:ext cx="9144000" cy="563563"/>
          </a:xfrm>
          <a:solidFill>
            <a:srgbClr val="FFFF00"/>
          </a:solidFill>
        </p:spPr>
        <p:txBody>
          <a:bodyPr>
            <a:normAutofit fontScale="90000"/>
          </a:bodyPr>
          <a:lstStyle/>
          <a:p>
            <a:pPr eaLnBrk="1" hangingPunct="1"/>
            <a:br>
              <a:rPr lang="en-US" sz="3900"/>
            </a:br>
            <a:r>
              <a:rPr lang="en-US" sz="3900"/>
              <a:t>Java History</a:t>
            </a:r>
            <a:br>
              <a:rPr lang="en-US" sz="3900"/>
            </a:br>
            <a:endParaRPr lang="en-US" sz="3900"/>
          </a:p>
        </p:txBody>
      </p:sp>
      <p:sp>
        <p:nvSpPr>
          <p:cNvPr id="3075" name="Rectangle 5"/>
          <p:cNvSpPr>
            <a:spLocks noGrp="1" noChangeArrowheads="1"/>
          </p:cNvSpPr>
          <p:nvPr>
            <p:ph type="body" idx="1"/>
          </p:nvPr>
        </p:nvSpPr>
        <p:spPr>
          <a:xfrm>
            <a:off x="228600" y="685800"/>
            <a:ext cx="8763000" cy="5943600"/>
          </a:xfrm>
        </p:spPr>
        <p:txBody>
          <a:bodyPr/>
          <a:lstStyle/>
          <a:p>
            <a:pPr algn="just" eaLnBrk="1" hangingPunct="1">
              <a:lnSpc>
                <a:spcPct val="80000"/>
              </a:lnSpc>
              <a:buFontTx/>
              <a:buNone/>
            </a:pPr>
            <a:endParaRPr lang="en-US" sz="1800" b="1"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r>
              <a:rPr lang="en-US" sz="1800" dirty="0">
                <a:latin typeface="Times New Roman" panose="02020603050405020304" pitchFamily="18" charset="0"/>
                <a:cs typeface="Times New Roman" panose="02020603050405020304" pitchFamily="18" charset="0"/>
              </a:rPr>
              <a:t>:</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by Dennis Ritchie in 1970s.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Before C: BASIC, COBOL, FORTRAN, PASCAL </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C- structured, efficient, high-level language that could replace assembly code when creating systems programs.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implemented and tested by programmers.</a:t>
            </a: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Designed by Bjarne Stroustrup in 1979.</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Response to the increased complexity of programs and respective improvements in the programming paradigms and methods: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1) assembler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2) high-level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3) structured programming</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4) object-oriented programming (OOP)</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OOP – methodology that helps organize complex programs through the use of inheritance, encapsulation and polymorphism.</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C++ extends C by adding object-oriented features</a:t>
            </a:r>
            <a:endParaRPr lang="en-US" sz="2400" dirty="0">
              <a:latin typeface="Times New Roman" panose="02020603050405020304" pitchFamily="18" charset="0"/>
              <a:cs typeface="Times New Roman" panose="02020603050405020304" pitchFamily="18" charset="0"/>
            </a:endParaRPr>
          </a:p>
        </p:txBody>
      </p:sp>
      <p:sp>
        <p:nvSpPr>
          <p:cNvPr id="3076" name="Slide Number Placeholder 3"/>
          <p:cNvSpPr>
            <a:spLocks noGrp="1"/>
          </p:cNvSpPr>
          <p:nvPr>
            <p:ph type="sldNum" sz="quarter" idx="12"/>
          </p:nvPr>
        </p:nvSpPr>
        <p:spPr>
          <a:noFill/>
        </p:spPr>
        <p:txBody>
          <a:bodyPr/>
          <a:lstStyle/>
          <a:p>
            <a:fld id="{3306CB1D-AA30-46BE-A791-7B4BC834EC65}"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body" idx="1"/>
          </p:nvPr>
        </p:nvSpPr>
        <p:spPr>
          <a:xfrm>
            <a:off x="228600" y="228600"/>
            <a:ext cx="8610600" cy="5791200"/>
          </a:xfrm>
        </p:spPr>
        <p:txBody>
          <a:bodyPr/>
          <a:lstStyle/>
          <a:p>
            <a:pPr algn="just" eaLnBrk="1" hangingPunct="1">
              <a:lnSpc>
                <a:spcPct val="90000"/>
              </a:lnSpc>
              <a:buFontTx/>
              <a:buNone/>
            </a:pPr>
            <a:r>
              <a:rPr lang="en-US" sz="2400" b="1" dirty="0">
                <a:latin typeface="Times New Roman" panose="02020603050405020304" pitchFamily="18" charset="0"/>
                <a:cs typeface="Times New Roman" panose="02020603050405020304" pitchFamily="18" charset="0"/>
              </a:rPr>
              <a:t>JAVA language :</a:t>
            </a:r>
          </a:p>
          <a:p>
            <a:pPr algn="just" eaLnBrk="1" hangingPunct="1">
              <a:lnSpc>
                <a:spcPct val="90000"/>
              </a:lnSpc>
              <a:buFontTx/>
              <a:buNone/>
            </a:pPr>
            <a:endParaRPr lang="en-US" sz="2400" b="1" dirty="0">
              <a:latin typeface="Times New Roman" panose="02020603050405020304" pitchFamily="18" charset="0"/>
              <a:cs typeface="Times New Roman" panose="02020603050405020304" pitchFamily="18" charset="0"/>
            </a:endParaRPr>
          </a:p>
          <a:p>
            <a:pPr algn="just" eaLnBrk="1" hangingPunct="1"/>
            <a:r>
              <a:rPr lang="en-US" sz="2400" dirty="0">
                <a:latin typeface="Times New Roman" panose="02020603050405020304" pitchFamily="18" charset="0"/>
                <a:cs typeface="Times New Roman" panose="02020603050405020304" pitchFamily="18" charset="0"/>
              </a:rPr>
              <a:t>Computer language innovation and development occurs for two fundamental reasons:</a:t>
            </a:r>
          </a:p>
          <a:p>
            <a:pPr algn="just" eaLnBrk="1" hangingPunct="1">
              <a:buFontTx/>
              <a:buNone/>
            </a:pPr>
            <a:r>
              <a:rPr lang="en-US" sz="2400" dirty="0">
                <a:latin typeface="Times New Roman" panose="02020603050405020304" pitchFamily="18" charset="0"/>
                <a:cs typeface="Times New Roman" panose="02020603050405020304" pitchFamily="18" charset="0"/>
              </a:rPr>
              <a:t>	1) to adapt to changing environments and uses</a:t>
            </a:r>
          </a:p>
          <a:p>
            <a:pPr algn="just" eaLnBrk="1" hangingPunct="1">
              <a:buFontTx/>
              <a:buNone/>
            </a:pPr>
            <a:r>
              <a:rPr lang="en-US" sz="2400" dirty="0">
                <a:latin typeface="Times New Roman" panose="02020603050405020304" pitchFamily="18" charset="0"/>
                <a:cs typeface="Times New Roman" panose="02020603050405020304" pitchFamily="18" charset="0"/>
              </a:rPr>
              <a:t>	2) to implement improvements in the art of programming</a:t>
            </a:r>
          </a:p>
          <a:p>
            <a:pPr algn="just" eaLnBrk="1" hangingPunct="1"/>
            <a:r>
              <a:rPr lang="en-US" sz="2400" dirty="0">
                <a:latin typeface="Times New Roman" panose="02020603050405020304" pitchFamily="18" charset="0"/>
                <a:cs typeface="Times New Roman" panose="02020603050405020304" pitchFamily="18" charset="0"/>
              </a:rPr>
              <a:t>The development of Java was driven by both in equal measures.</a:t>
            </a:r>
          </a:p>
          <a:p>
            <a:pPr algn="just" eaLnBrk="1" hangingPunct="1"/>
            <a:r>
              <a:rPr lang="en-US" sz="2400" dirty="0">
                <a:latin typeface="Times New Roman" panose="02020603050405020304" pitchFamily="18" charset="0"/>
                <a:cs typeface="Times New Roman" panose="02020603050405020304" pitchFamily="18" charset="0"/>
              </a:rPr>
              <a:t>Many Java features are inherited from the earlier languages:</a:t>
            </a:r>
          </a:p>
          <a:p>
            <a:pPr algn="just" eaLnBrk="1" hangingPunct="1">
              <a:buFontTx/>
              <a:buNone/>
            </a:pPr>
            <a:r>
              <a:rPr lang="en-US" sz="2400" dirty="0">
                <a:latin typeface="Times New Roman" panose="02020603050405020304" pitchFamily="18" charset="0"/>
                <a:cs typeface="Times New Roman" panose="02020603050405020304" pitchFamily="18" charset="0"/>
              </a:rPr>
              <a:t>			B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Java</a:t>
            </a:r>
          </a:p>
          <a:p>
            <a:pPr algn="just" eaLnBrk="1" hangingPunct="1">
              <a:buFontTx/>
              <a:buNone/>
            </a:pPr>
            <a:endParaRPr lang="en-US" sz="2800" dirty="0">
              <a:latin typeface="Times New Roman" panose="02020603050405020304" pitchFamily="18" charset="0"/>
              <a:cs typeface="Times New Roman" panose="02020603050405020304" pitchFamily="18" charset="0"/>
            </a:endParaRPr>
          </a:p>
        </p:txBody>
      </p:sp>
      <p:sp>
        <p:nvSpPr>
          <p:cNvPr id="4099" name="Slide Number Placeholder 2"/>
          <p:cNvSpPr>
            <a:spLocks noGrp="1"/>
          </p:cNvSpPr>
          <p:nvPr>
            <p:ph type="sldNum" sz="quarter" idx="12"/>
          </p:nvPr>
        </p:nvSpPr>
        <p:spPr>
          <a:noFill/>
        </p:spPr>
        <p:txBody>
          <a:bodyPr/>
          <a:lstStyle/>
          <a:p>
            <a:fld id="{2A39FF64-64F8-4797-B08F-75C21E2749E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9144000" cy="609600"/>
          </a:xfrm>
          <a:solidFill>
            <a:srgbClr val="FFFF00"/>
          </a:solidFill>
        </p:spPr>
        <p:txBody>
          <a:bodyPr>
            <a:normAutofit fontScale="90000"/>
          </a:bodyPr>
          <a:lstStyle/>
          <a:p>
            <a:pPr eaLnBrk="1" hangingPunct="1"/>
            <a:r>
              <a:rPr lang="en-US" sz="4000" b="1"/>
              <a:t>Java</a:t>
            </a:r>
          </a:p>
        </p:txBody>
      </p:sp>
      <p:sp>
        <p:nvSpPr>
          <p:cNvPr id="5123" name="Rectangle 3"/>
          <p:cNvSpPr>
            <a:spLocks noGrp="1" noChangeArrowheads="1"/>
          </p:cNvSpPr>
          <p:nvPr>
            <p:ph type="body" idx="1"/>
          </p:nvPr>
        </p:nvSpPr>
        <p:spPr>
          <a:xfrm>
            <a:off x="152400" y="762000"/>
            <a:ext cx="8991600" cy="5029200"/>
          </a:xfrm>
        </p:spPr>
        <p:txBody>
          <a:bodyPr/>
          <a:lstStyle/>
          <a:p>
            <a:pPr eaLnBrk="1" hangingPunct="1">
              <a:lnSpc>
                <a:spcPct val="90000"/>
              </a:lnSpc>
            </a:pPr>
            <a:r>
              <a:rPr lang="en-US" sz="2000" b="1" dirty="0">
                <a:latin typeface="Times New Roman" panose="02020603050405020304" pitchFamily="18" charset="0"/>
                <a:cs typeface="Times New Roman" panose="02020603050405020304" pitchFamily="18" charset="0"/>
              </a:rPr>
              <a:t>In 1991, Sun Microsystems </a:t>
            </a:r>
          </a:p>
          <a:p>
            <a:pPr eaLnBrk="1" hangingPunct="1">
              <a:lnSpc>
                <a:spcPct val="90000"/>
              </a:lnSpc>
            </a:pPr>
            <a:endParaRPr lang="en-US" sz="2000" b="1"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Designed by James Gosling, Patrick </a:t>
            </a:r>
            <a:r>
              <a:rPr lang="en-US" sz="2000" dirty="0" err="1">
                <a:latin typeface="Times New Roman" panose="02020603050405020304" pitchFamily="18" charset="0"/>
                <a:cs typeface="Times New Roman" panose="02020603050405020304" pitchFamily="18" charset="0"/>
              </a:rPr>
              <a:t>Naughton</a:t>
            </a:r>
            <a:r>
              <a:rPr lang="en-US" sz="2000" dirty="0">
                <a:latin typeface="Times New Roman" panose="02020603050405020304" pitchFamily="18" charset="0"/>
                <a:cs typeface="Times New Roman" panose="02020603050405020304" pitchFamily="18" charset="0"/>
              </a:rPr>
              <a:t>, Chris </a:t>
            </a:r>
            <a:r>
              <a:rPr lang="en-US" sz="2000" dirty="0" err="1">
                <a:latin typeface="Times New Roman" panose="02020603050405020304" pitchFamily="18" charset="0"/>
                <a:cs typeface="Times New Roman" panose="02020603050405020304" pitchFamily="18" charset="0"/>
              </a:rPr>
              <a:t>Warth</a:t>
            </a:r>
            <a:r>
              <a:rPr lang="en-US" sz="2000" dirty="0">
                <a:latin typeface="Times New Roman" panose="02020603050405020304" pitchFamily="18" charset="0"/>
                <a:cs typeface="Times New Roman" panose="02020603050405020304" pitchFamily="18" charset="0"/>
              </a:rPr>
              <a:t>, Ed Frank and Mike Sheridan at Sun Microsystems in 1991.</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The original motivation is not Internet: platform-independent software embedded in consumer electronics devices.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as an “Internet version of C++”? No.</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was not designed to replace C++, but to solve a different set of problems.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90000"/>
              </a:lnSpc>
            </a:pPr>
            <a:endParaRPr lang="en-US" sz="2400" b="1" dirty="0">
              <a:latin typeface="Times New Roman" panose="02020603050405020304" pitchFamily="18" charset="0"/>
              <a:cs typeface="Times New Roman" panose="02020603050405020304" pitchFamily="18" charset="0"/>
            </a:endParaRPr>
          </a:p>
        </p:txBody>
      </p:sp>
      <p:sp>
        <p:nvSpPr>
          <p:cNvPr id="5124" name="Slide Number Placeholder 3"/>
          <p:cNvSpPr>
            <a:spLocks noGrp="1"/>
          </p:cNvSpPr>
          <p:nvPr>
            <p:ph type="sldNum" sz="quarter" idx="12"/>
          </p:nvPr>
        </p:nvSpPr>
        <p:spPr>
          <a:noFill/>
        </p:spPr>
        <p:txBody>
          <a:bodyPr/>
          <a:lstStyle/>
          <a:p>
            <a:fld id="{1188E2C2-2A2B-4568-8680-EA7A85546201}"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838201"/>
            <a:ext cx="8763000" cy="5883274"/>
          </a:xfrm>
        </p:spPr>
        <p:txBody>
          <a:bodyPr>
            <a:normAutofit fontScale="92500" lnSpcReduction="10000"/>
          </a:bodyPr>
          <a:lstStyle/>
          <a:p>
            <a:pPr marL="0" indent="0" eaLnBrk="1" hangingPunct="1">
              <a:lnSpc>
                <a:spcPct val="80000"/>
              </a:lnSpc>
              <a:buNone/>
            </a:pPr>
            <a:r>
              <a:rPr lang="en-US" sz="2600" dirty="0">
                <a:latin typeface="Times New Roman" panose="02020603050405020304" pitchFamily="18" charset="0"/>
                <a:cs typeface="Times New Roman" panose="02020603050405020304" pitchFamily="18" charset="0"/>
              </a:rPr>
              <a:t>The key considerations were summed up by the Java team in the following list of buzzwords:</a:t>
            </a:r>
          </a:p>
          <a:p>
            <a:pPr marL="514350" indent="-514350">
              <a:buFont typeface="+mj-lt"/>
              <a:buAutoNum type="arabicPeriod"/>
            </a:pPr>
            <a:r>
              <a:rPr lang="en-US" sz="2800" dirty="0"/>
              <a:t> Simple</a:t>
            </a:r>
          </a:p>
          <a:p>
            <a:pPr marL="514350" indent="-514350">
              <a:buFont typeface="+mj-lt"/>
              <a:buAutoNum type="arabicPeriod"/>
            </a:pPr>
            <a:r>
              <a:rPr lang="en-US" sz="2800" dirty="0"/>
              <a:t>Object-Oriented</a:t>
            </a:r>
          </a:p>
          <a:p>
            <a:pPr marL="514350" indent="-514350">
              <a:buFont typeface="+mj-lt"/>
              <a:buAutoNum type="arabicPeriod"/>
            </a:pPr>
            <a:r>
              <a:rPr lang="en-US" sz="2800" dirty="0"/>
              <a:t>Portable</a:t>
            </a:r>
          </a:p>
          <a:p>
            <a:pPr marL="514350" indent="-514350">
              <a:buFont typeface="+mj-lt"/>
              <a:buAutoNum type="arabicPeriod"/>
            </a:pPr>
            <a:r>
              <a:rPr lang="en-US" sz="2800" dirty="0"/>
              <a:t>Platform independent</a:t>
            </a:r>
          </a:p>
          <a:p>
            <a:pPr marL="514350" indent="-514350">
              <a:buFont typeface="+mj-lt"/>
              <a:buAutoNum type="arabicPeriod"/>
            </a:pPr>
            <a:r>
              <a:rPr lang="en-US" sz="2800" dirty="0"/>
              <a:t>Secured</a:t>
            </a:r>
          </a:p>
          <a:p>
            <a:pPr marL="514350" indent="-514350">
              <a:buFont typeface="+mj-lt"/>
              <a:buAutoNum type="arabicPeriod"/>
            </a:pPr>
            <a:r>
              <a:rPr lang="en-US" sz="2800" dirty="0"/>
              <a:t>Robust</a:t>
            </a:r>
          </a:p>
          <a:p>
            <a:pPr marL="514350" indent="-514350">
              <a:buFont typeface="+mj-lt"/>
              <a:buAutoNum type="arabicPeriod"/>
            </a:pPr>
            <a:r>
              <a:rPr lang="en-US" sz="2800" dirty="0"/>
              <a:t>Architecture neutral</a:t>
            </a:r>
          </a:p>
          <a:p>
            <a:pPr marL="514350" indent="-514350">
              <a:buFont typeface="+mj-lt"/>
              <a:buAutoNum type="arabicPeriod"/>
            </a:pPr>
            <a:r>
              <a:rPr lang="en-US" sz="2800" dirty="0"/>
              <a:t>Dynamic</a:t>
            </a:r>
          </a:p>
          <a:p>
            <a:pPr marL="514350" indent="-514350">
              <a:buFont typeface="+mj-lt"/>
              <a:buAutoNum type="arabicPeriod"/>
            </a:pPr>
            <a:r>
              <a:rPr lang="en-US" sz="2800" dirty="0"/>
              <a:t>Interpreted</a:t>
            </a:r>
          </a:p>
          <a:p>
            <a:pPr marL="514350" indent="-514350">
              <a:buFont typeface="+mj-lt"/>
              <a:buAutoNum type="arabicPeriod"/>
            </a:pPr>
            <a:r>
              <a:rPr lang="en-US" sz="2800" dirty="0"/>
              <a:t>High Performance</a:t>
            </a:r>
          </a:p>
          <a:p>
            <a:pPr marL="514350" indent="-514350">
              <a:buFont typeface="+mj-lt"/>
              <a:buAutoNum type="arabicPeriod"/>
            </a:pPr>
            <a:r>
              <a:rPr lang="en-US" sz="2800" dirty="0"/>
              <a:t>Multithreaded</a:t>
            </a:r>
          </a:p>
          <a:p>
            <a:pPr marL="514350" indent="-514350">
              <a:buFont typeface="+mj-lt"/>
              <a:buAutoNum type="arabicPeriod"/>
            </a:pPr>
            <a:r>
              <a:rPr lang="en-US" sz="2800" dirty="0"/>
              <a:t>Distributed</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r>
              <a:rPr lang="en-US" b="1" dirty="0">
                <a:latin typeface="Times New Roman" panose="02020603050405020304" pitchFamily="18" charset="0"/>
                <a:cs typeface="Times New Roman" panose="02020603050405020304" pitchFamily="18" charset="0"/>
              </a:rPr>
              <a:t>Simple: </a:t>
            </a:r>
            <a:r>
              <a:rPr lang="en-US" dirty="0">
                <a:latin typeface="Times New Roman" panose="02020603050405020304" pitchFamily="18" charset="0"/>
                <a:cs typeface="Times New Roman" panose="02020603050405020304" pitchFamily="18" charset="0"/>
              </a:rPr>
              <a:t>According to Sun, Java language is simple because: </a:t>
            </a:r>
          </a:p>
          <a:p>
            <a:pPr>
              <a:buFont typeface="Wingdings" pitchFamily="2" charset="2"/>
              <a:buChar char="Ø"/>
            </a:pPr>
            <a:r>
              <a:rPr lang="en-US" dirty="0">
                <a:latin typeface="Times New Roman" panose="02020603050405020304" pitchFamily="18" charset="0"/>
                <a:cs typeface="Times New Roman" panose="02020603050405020304" pitchFamily="18" charset="0"/>
              </a:rPr>
              <a:t>       syntax is based on C++ (so easier for programmers to learn it after C++).     </a:t>
            </a:r>
          </a:p>
          <a:p>
            <a:pPr>
              <a:buFont typeface="Wingdings" pitchFamily="2" charset="2"/>
              <a:buChar char="Ø"/>
            </a:pPr>
            <a:r>
              <a:rPr lang="en-US" dirty="0">
                <a:latin typeface="Times New Roman" panose="02020603050405020304" pitchFamily="18" charset="0"/>
                <a:cs typeface="Times New Roman" panose="02020603050405020304" pitchFamily="18" charset="0"/>
              </a:rPr>
              <a:t>     removed many confusing and/or rarely-used features e.g., explicit pointers, operator overloading etc.      </a:t>
            </a:r>
          </a:p>
          <a:p>
            <a:pPr>
              <a:buFont typeface="Wingdings" pitchFamily="2" charset="2"/>
              <a:buChar char="Ø"/>
            </a:pPr>
            <a:r>
              <a:rPr lang="en-US" dirty="0">
                <a:latin typeface="Times New Roman" panose="02020603050405020304" pitchFamily="18" charset="0"/>
                <a:cs typeface="Times New Roman" panose="02020603050405020304" pitchFamily="18" charset="0"/>
              </a:rPr>
              <a:t>  No need to remove unreferenced objects because there is Automatic Garbage Collection in java.</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50000"/>
              </a:lnSpc>
            </a:pPr>
            <a:r>
              <a:rPr lang="en-US" sz="2600" b="1" dirty="0">
                <a:latin typeface="Times New Roman" panose="02020603050405020304" pitchFamily="18" charset="0"/>
                <a:cs typeface="Times New Roman" panose="02020603050405020304" pitchFamily="18" charset="0"/>
              </a:rPr>
              <a:t>Object-oriented: </a:t>
            </a:r>
            <a:r>
              <a:rPr lang="en-US" sz="2600" dirty="0">
                <a:latin typeface="Times New Roman" panose="02020603050405020304" pitchFamily="18" charset="0"/>
                <a:cs typeface="Times New Roman" panose="02020603050405020304" pitchFamily="18" charset="0"/>
              </a:rPr>
              <a:t>Object-oriented means we organize our software as a combination of different types of objects that incorporates both data and behavior.</a:t>
            </a:r>
          </a:p>
          <a:p>
            <a:pPr algn="just">
              <a:lnSpc>
                <a:spcPct val="150000"/>
              </a:lnSpc>
            </a:pPr>
            <a:r>
              <a:rPr lang="en-US" sz="2600" b="1" dirty="0">
                <a:latin typeface="Times New Roman" panose="02020603050405020304" pitchFamily="18" charset="0"/>
                <a:cs typeface="Times New Roman" panose="02020603050405020304" pitchFamily="18" charset="0"/>
              </a:rPr>
              <a:t>Platform Independent: </a:t>
            </a:r>
            <a:r>
              <a:rPr lang="en-US" sz="2600" dirty="0">
                <a:latin typeface="Times New Roman" panose="02020603050405020304" pitchFamily="18" charset="0"/>
                <a:cs typeface="Times New Roman" panose="02020603050405020304" pitchFamily="18" charset="0"/>
              </a:rPr>
              <a:t>Java code can be run on multiple platforms e.g. Windows, Linux, Sun Solaris, Mac/OS etc. Java code is compiled by the compiler and converted into bytecode. </a:t>
            </a:r>
          </a:p>
          <a:p>
            <a:pPr algn="just">
              <a:lnSpc>
                <a:spcPct val="150000"/>
              </a:lnSpc>
            </a:pPr>
            <a:r>
              <a:rPr lang="en-US" sz="2600" dirty="0">
                <a:latin typeface="Times New Roman" panose="02020603050405020304" pitchFamily="18" charset="0"/>
                <a:cs typeface="Times New Roman" panose="02020603050405020304" pitchFamily="18" charset="0"/>
              </a:rPr>
              <a:t>This bytecode is a platform-independent code because it can be run on multiple platforms i.e. Write Once and Run Anywhere(WORA).</a:t>
            </a:r>
          </a:p>
          <a:p>
            <a:pPr algn="just"/>
            <a:endParaRPr lang="en-US" sz="2800"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10000"/>
              </a:lnSpc>
            </a:pPr>
            <a:r>
              <a:rPr lang="en-US" b="1" dirty="0">
                <a:latin typeface="Times New Roman" panose="02020603050405020304" pitchFamily="18" charset="0"/>
                <a:cs typeface="Times New Roman" panose="02020603050405020304" pitchFamily="18" charset="0"/>
              </a:rPr>
              <a:t>Secured: </a:t>
            </a:r>
            <a:r>
              <a:rPr lang="en-US" dirty="0">
                <a:latin typeface="Times New Roman" panose="02020603050405020304" pitchFamily="18" charset="0"/>
                <a:cs typeface="Times New Roman" panose="02020603050405020304" pitchFamily="18" charset="0"/>
              </a:rPr>
              <a:t>Java is secured because:</a:t>
            </a:r>
          </a:p>
          <a:p>
            <a:pPr algn="just">
              <a:lnSpc>
                <a:spcPct val="110000"/>
              </a:lnSpc>
              <a:buNone/>
            </a:pPr>
            <a:r>
              <a:rPr lang="en-US" dirty="0">
                <a:latin typeface="Times New Roman" panose="02020603050405020304" pitchFamily="18" charset="0"/>
                <a:cs typeface="Times New Roman" panose="02020603050405020304" pitchFamily="18" charset="0"/>
              </a:rPr>
              <a:t>No explicit pointer</a:t>
            </a:r>
          </a:p>
          <a:p>
            <a:pPr algn="just">
              <a:lnSpc>
                <a:spcPct val="110000"/>
              </a:lnSpc>
              <a:buNone/>
            </a:pPr>
            <a:r>
              <a:rPr lang="en-US" dirty="0">
                <a:latin typeface="Times New Roman" panose="02020603050405020304" pitchFamily="18" charset="0"/>
                <a:cs typeface="Times New Roman" panose="02020603050405020304" pitchFamily="18" charset="0"/>
              </a:rPr>
              <a:t>Java Programs run inside virtual machine</a:t>
            </a:r>
          </a:p>
          <a:p>
            <a:pPr algn="just">
              <a:lnSpc>
                <a:spcPct val="110000"/>
              </a:lnSpc>
            </a:pPr>
            <a:r>
              <a:rPr lang="en-US" b="1" dirty="0">
                <a:latin typeface="Times New Roman" panose="02020603050405020304" pitchFamily="18" charset="0"/>
                <a:cs typeface="Times New Roman" panose="02020603050405020304" pitchFamily="18" charset="0"/>
              </a:rPr>
              <a:t>Robust: </a:t>
            </a:r>
            <a:r>
              <a:rPr lang="en-US" dirty="0">
                <a:latin typeface="Times New Roman" panose="02020603050405020304" pitchFamily="18" charset="0"/>
                <a:cs typeface="Times New Roman" panose="02020603050405020304" pitchFamily="18" charset="0"/>
              </a:rPr>
              <a:t>Robust simply means strong. Java uses </a:t>
            </a:r>
            <a:r>
              <a:rPr lang="en-US" b="1" dirty="0">
                <a:solidFill>
                  <a:srgbClr val="FF0000"/>
                </a:solidFill>
                <a:latin typeface="Times New Roman" panose="02020603050405020304" pitchFamily="18" charset="0"/>
                <a:cs typeface="Times New Roman" panose="02020603050405020304" pitchFamily="18" charset="0"/>
              </a:rPr>
              <a:t>strong memory management</a:t>
            </a:r>
            <a:r>
              <a:rPr lang="en-US" dirty="0">
                <a:latin typeface="Times New Roman" panose="02020603050405020304" pitchFamily="18" charset="0"/>
                <a:cs typeface="Times New Roman" panose="02020603050405020304" pitchFamily="18" charset="0"/>
              </a:rPr>
              <a:t>. There are lack of pointers that avoids security problem. There is </a:t>
            </a:r>
            <a:r>
              <a:rPr lang="en-US" sz="2800" b="1" i="1" dirty="0">
                <a:solidFill>
                  <a:srgbClr val="FF0000"/>
                </a:solidFill>
                <a:latin typeface="Times New Roman" panose="02020603050405020304" pitchFamily="18" charset="0"/>
                <a:cs typeface="Times New Roman" panose="02020603050405020304" pitchFamily="18" charset="0"/>
              </a:rPr>
              <a:t>automatic garbage collection </a:t>
            </a:r>
            <a:r>
              <a:rPr lang="en-US" dirty="0">
                <a:latin typeface="Times New Roman" panose="02020603050405020304" pitchFamily="18" charset="0"/>
                <a:cs typeface="Times New Roman" panose="02020603050405020304" pitchFamily="18" charset="0"/>
              </a:rPr>
              <a:t>in java. There is </a:t>
            </a:r>
            <a:r>
              <a:rPr lang="en-US" b="1" dirty="0">
                <a:latin typeface="Times New Roman" panose="02020603050405020304" pitchFamily="18" charset="0"/>
                <a:cs typeface="Times New Roman" panose="02020603050405020304" pitchFamily="18" charset="0"/>
              </a:rPr>
              <a:t>exception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handling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type checking </a:t>
            </a:r>
            <a:r>
              <a:rPr lang="en-US" dirty="0">
                <a:latin typeface="Times New Roman" panose="02020603050405020304" pitchFamily="18" charset="0"/>
                <a:cs typeface="Times New Roman" panose="02020603050405020304" pitchFamily="18" charset="0"/>
              </a:rPr>
              <a:t>mechanism in java. All these points makes java robust.</a:t>
            </a:r>
          </a:p>
          <a:p>
            <a:pPr algn="just">
              <a:lnSpc>
                <a:spcPct val="110000"/>
              </a:lnSpc>
            </a:pPr>
            <a:endParaRPr lang="en-US" dirty="0">
              <a:latin typeface="Times New Roman" panose="02020603050405020304" pitchFamily="18" charset="0"/>
              <a:cs typeface="Times New Roman" panose="02020603050405020304" pitchFamily="18" charset="0"/>
            </a:endParaRPr>
          </a:p>
          <a:p>
            <a:pPr algn="just">
              <a:lnSpc>
                <a:spcPct val="110000"/>
              </a:lnSpc>
            </a:pPr>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85000" lnSpcReduction="20000"/>
          </a:bodyPr>
          <a:lstStyle/>
          <a:p>
            <a:pPr algn="just"/>
            <a:r>
              <a:rPr lang="en-US" b="1" dirty="0">
                <a:latin typeface="Times New Roman" panose="02020603050405020304" pitchFamily="18" charset="0"/>
                <a:cs typeface="Times New Roman" panose="02020603050405020304" pitchFamily="18" charset="0"/>
              </a:rPr>
              <a:t>Architecture-neutral</a:t>
            </a:r>
          </a:p>
          <a:p>
            <a:pPr marL="0" indent="0" algn="just">
              <a:buNone/>
            </a:pPr>
            <a:endParaRPr lang="en-US" b="1"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   There is no implementation dependent features e.g. size of primitive types is fixed.</a:t>
            </a:r>
          </a:p>
          <a:p>
            <a:pPr algn="just">
              <a:buNone/>
            </a:pPr>
            <a:r>
              <a:rPr lang="en-US" dirty="0">
                <a:latin typeface="Times New Roman" panose="02020603050405020304" pitchFamily="18" charset="0"/>
                <a:cs typeface="Times New Roman" panose="02020603050405020304" pitchFamily="18" charset="0"/>
              </a:rPr>
              <a:t>   In C programming,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data type occupies 2 bytes of memory for 32-bit architecture and 4 bytes of memory for 64-bit architecture. But in java, it occupies 4 bytes of memory for both 32 and 64 bit architectures.</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Portable</a:t>
            </a:r>
          </a:p>
          <a:p>
            <a:pPr algn="just">
              <a:buNone/>
            </a:pPr>
            <a:r>
              <a:rPr lang="en-US" dirty="0">
                <a:latin typeface="Times New Roman" panose="02020603050405020304" pitchFamily="18" charset="0"/>
                <a:cs typeface="Times New Roman" panose="02020603050405020304" pitchFamily="18" charset="0"/>
              </a:rPr>
              <a:t>     We may carry the java </a:t>
            </a:r>
            <a:r>
              <a:rPr lang="en-US" dirty="0" err="1">
                <a:latin typeface="Times New Roman" panose="02020603050405020304" pitchFamily="18" charset="0"/>
                <a:cs typeface="Times New Roman" panose="02020603050405020304" pitchFamily="18" charset="0"/>
              </a:rPr>
              <a:t>bytecode</a:t>
            </a:r>
            <a:r>
              <a:rPr lang="en-US" dirty="0">
                <a:latin typeface="Times New Roman" panose="02020603050405020304" pitchFamily="18" charset="0"/>
                <a:cs typeface="Times New Roman" panose="02020603050405020304" pitchFamily="18" charset="0"/>
              </a:rPr>
              <a:t> to any platform.</a:t>
            </a:r>
          </a:p>
          <a:p>
            <a:pPr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High-performance</a:t>
            </a:r>
          </a:p>
          <a:p>
            <a:pPr algn="just">
              <a:buNone/>
            </a:pPr>
            <a:r>
              <a:rPr lang="en-US" dirty="0">
                <a:latin typeface="Times New Roman" panose="02020603050405020304" pitchFamily="18" charset="0"/>
                <a:cs typeface="Times New Roman" panose="02020603050405020304" pitchFamily="18" charset="0"/>
              </a:rPr>
              <a:t>   Java is faster than traditional interpretation since byte code is "close" to native code still somewhat slower than a compiled language (e.g., C++).</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Distributed</a:t>
            </a:r>
          </a:p>
          <a:p>
            <a:pPr algn="just">
              <a:buNone/>
            </a:pPr>
            <a:r>
              <a:rPr lang="en-US" dirty="0">
                <a:latin typeface="Times New Roman" panose="02020603050405020304" pitchFamily="18" charset="0"/>
                <a:cs typeface="Times New Roman" panose="02020603050405020304" pitchFamily="18" charset="0"/>
              </a:rPr>
              <a:t>  We can create distributed applications in java. RMI  is used for creating distributed applications. We may access files by calling the methods from any machine on the internet.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pPr algn="just"/>
            <a:r>
              <a:rPr lang="en-US" b="1" dirty="0">
                <a:latin typeface="Times New Roman" panose="02020603050405020304" pitchFamily="18" charset="0"/>
                <a:cs typeface="Times New Roman" panose="02020603050405020304" pitchFamily="18" charset="0"/>
              </a:rPr>
              <a:t>Multi-threaded</a:t>
            </a:r>
          </a:p>
          <a:p>
            <a:pPr algn="just">
              <a:buNone/>
            </a:pPr>
            <a:r>
              <a:rPr lang="en-US" dirty="0">
                <a:latin typeface="Times New Roman" panose="02020603050405020304" pitchFamily="18" charset="0"/>
                <a:cs typeface="Times New Roman" panose="02020603050405020304" pitchFamily="18" charset="0"/>
              </a:rPr>
              <a:t>     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28</a:t>
            </a:fld>
            <a:endParaRPr lang="en-US"/>
          </a:p>
        </p:txBody>
      </p:sp>
      <p:sp>
        <p:nvSpPr>
          <p:cNvPr id="15363" name="Rectangle 18"/>
          <p:cNvSpPr>
            <a:spLocks noChangeArrowheads="1"/>
          </p:cNvSpPr>
          <p:nvPr/>
        </p:nvSpPr>
        <p:spPr bwMode="auto">
          <a:xfrm>
            <a:off x="228600" y="1219200"/>
            <a:ext cx="8763000" cy="3970318"/>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JVM(Java Virtual Machine</a:t>
            </a:r>
            <a:r>
              <a:rPr lang="en-US" sz="2800" dirty="0">
                <a:latin typeface="Times New Roman" panose="02020603050405020304" pitchFamily="18" charset="0"/>
                <a:cs typeface="Times New Roman" panose="02020603050405020304" pitchFamily="18" charset="0"/>
              </a:rPr>
              <a:t>) acts as a run-time engine to run Java applications. JVM is a part of JRE(Java Run Environment).</a:t>
            </a:r>
          </a:p>
          <a:p>
            <a:pPr algn="just"/>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Java applications are called </a:t>
            </a:r>
            <a:r>
              <a:rPr lang="en-US" sz="2800" b="1" dirty="0">
                <a:latin typeface="Times New Roman" panose="02020603050405020304" pitchFamily="18" charset="0"/>
                <a:cs typeface="Times New Roman" panose="02020603050405020304" pitchFamily="18" charset="0"/>
              </a:rPr>
              <a:t>WORA</a:t>
            </a:r>
            <a:r>
              <a:rPr lang="en-US" sz="2800" dirty="0">
                <a:latin typeface="Times New Roman" panose="02020603050405020304" pitchFamily="18" charset="0"/>
                <a:cs typeface="Times New Roman" panose="02020603050405020304" pitchFamily="18" charset="0"/>
              </a:rPr>
              <a:t> (Write Once Run Everywhere). This means a programmer can develop Java code on one system and can expect it to run on any other Java enabled system without any adjustment. This is all possible because of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29</a:t>
            </a:fld>
            <a:endParaRPr lang="en-US"/>
          </a:p>
        </p:txBody>
      </p:sp>
      <p:sp>
        <p:nvSpPr>
          <p:cNvPr id="15363" name="Rectangle 18"/>
          <p:cNvSpPr>
            <a:spLocks noChangeArrowheads="1"/>
          </p:cNvSpPr>
          <p:nvPr/>
        </p:nvSpPr>
        <p:spPr bwMode="auto">
          <a:xfrm>
            <a:off x="228600" y="1219200"/>
            <a:ext cx="8763000" cy="2246769"/>
          </a:xfrm>
          <a:prstGeom prst="rect">
            <a:avLst/>
          </a:prstGeom>
          <a:noFill/>
          <a:ln w="9525">
            <a:noFill/>
            <a:miter lim="800000"/>
            <a:headEnd/>
            <a:tailEnd/>
          </a:ln>
        </p:spPr>
        <p:txBody>
          <a:bodyPr wrap="square">
            <a:spAutoFit/>
          </a:bodyPr>
          <a:lstStyle/>
          <a:p>
            <a:pPr algn="just"/>
            <a:r>
              <a:rPr lang="en-US" sz="2800" dirty="0">
                <a:latin typeface="Times New Roman" panose="02020603050405020304" pitchFamily="18" charset="0"/>
                <a:cs typeface="Times New Roman" panose="02020603050405020304" pitchFamily="18" charset="0"/>
              </a:rPr>
              <a:t>When we compile a </a:t>
            </a:r>
            <a:r>
              <a:rPr lang="en-US" sz="2800" b="1" i="1" dirty="0">
                <a:latin typeface="Times New Roman" panose="02020603050405020304" pitchFamily="18" charset="0"/>
                <a:cs typeface="Times New Roman" panose="02020603050405020304" pitchFamily="18" charset="0"/>
              </a:rPr>
              <a:t>.java</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a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(contains byte-code) with the same filename is generated by the Java compiler. </a:t>
            </a:r>
          </a:p>
          <a:p>
            <a:pPr algn="just"/>
            <a:r>
              <a:rPr lang="en-US" sz="2800" dirty="0">
                <a:latin typeface="Times New Roman" panose="02020603050405020304" pitchFamily="18" charset="0"/>
                <a:cs typeface="Times New Roman" panose="02020603050405020304" pitchFamily="18" charset="0"/>
              </a:rPr>
              <a:t>This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goes into various steps when we run it. These steps together describe the whole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30</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pic>
        <p:nvPicPr>
          <p:cNvPr id="6" name="Picture 2" descr="Image result for jvm architecture in java"/>
          <p:cNvPicPr>
            <a:picLocks noChangeAspect="1" noChangeArrowheads="1"/>
          </p:cNvPicPr>
          <p:nvPr/>
        </p:nvPicPr>
        <p:blipFill>
          <a:blip r:embed="rId2" cstate="print"/>
          <a:srcRect/>
          <a:stretch>
            <a:fillRect/>
          </a:stretch>
        </p:blipFill>
        <p:spPr bwMode="auto">
          <a:xfrm>
            <a:off x="914400" y="1219201"/>
            <a:ext cx="7543800" cy="4953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31</a:t>
            </a:fld>
            <a:endParaRPr lang="en-US"/>
          </a:p>
        </p:txBody>
      </p:sp>
      <p:sp>
        <p:nvSpPr>
          <p:cNvPr id="15363" name="Rectangle 18"/>
          <p:cNvSpPr>
            <a:spLocks noChangeArrowheads="1"/>
          </p:cNvSpPr>
          <p:nvPr/>
        </p:nvSpPr>
        <p:spPr bwMode="auto">
          <a:xfrm>
            <a:off x="228600" y="1219200"/>
            <a:ext cx="7696200" cy="3539430"/>
          </a:xfrm>
          <a:prstGeom prst="rect">
            <a:avLst/>
          </a:prstGeom>
          <a:noFill/>
          <a:ln w="9525">
            <a:noFill/>
            <a:miter lim="800000"/>
            <a:headEnd/>
            <a:tailEnd/>
          </a:ln>
        </p:spPr>
        <p:txBody>
          <a:bodyPr>
            <a:spAutoFit/>
          </a:bodyPr>
          <a:lstStyle/>
          <a:p>
            <a:pPr fontAlgn="base"/>
            <a:endParaRPr lang="en-US" sz="2800" dirty="0"/>
          </a:p>
          <a:p>
            <a:pPr fontAlgn="base"/>
            <a:r>
              <a:rPr lang="en-US" sz="2800" dirty="0"/>
              <a:t>JVM is mainly responsible for three activities.</a:t>
            </a:r>
          </a:p>
          <a:p>
            <a:pPr fontAlgn="base">
              <a:buFont typeface="Wingdings" pitchFamily="2" charset="2"/>
              <a:buChar char="Ø"/>
            </a:pPr>
            <a:endParaRPr lang="en-US" sz="2800" dirty="0"/>
          </a:p>
          <a:p>
            <a:pPr fontAlgn="base">
              <a:buFont typeface="Wingdings" pitchFamily="2" charset="2"/>
              <a:buChar char="Ø"/>
            </a:pPr>
            <a:endParaRPr lang="en-US" sz="2800" dirty="0"/>
          </a:p>
          <a:p>
            <a:pPr fontAlgn="base">
              <a:buFont typeface="Wingdings" pitchFamily="2" charset="2"/>
              <a:buChar char="Ø"/>
            </a:pPr>
            <a:r>
              <a:rPr lang="en-US" sz="2800" dirty="0"/>
              <a:t>Loading</a:t>
            </a:r>
          </a:p>
          <a:p>
            <a:pPr fontAlgn="base">
              <a:buFont typeface="Wingdings" pitchFamily="2" charset="2"/>
              <a:buChar char="Ø"/>
            </a:pPr>
            <a:r>
              <a:rPr lang="en-US" sz="2800" dirty="0"/>
              <a:t>Linking</a:t>
            </a:r>
          </a:p>
          <a:p>
            <a:pPr fontAlgn="base">
              <a:buFont typeface="Wingdings" pitchFamily="2" charset="2"/>
              <a:buChar char="Ø"/>
            </a:pPr>
            <a:r>
              <a:rPr lang="en-US" sz="2800" dirty="0"/>
              <a:t>Initialization</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
        <p:nvSpPr>
          <p:cNvPr id="7" name="TextBox 6"/>
          <p:cNvSpPr txBox="1"/>
          <p:nvPr/>
        </p:nvSpPr>
        <p:spPr>
          <a:xfrm>
            <a:off x="762000" y="1295400"/>
            <a:ext cx="7315200" cy="5693866"/>
          </a:xfrm>
          <a:prstGeom prst="rect">
            <a:avLst/>
          </a:prstGeom>
          <a:noFill/>
        </p:spPr>
        <p:txBody>
          <a:bodyPr wrap="square" rtlCol="0">
            <a:spAutoFit/>
          </a:bodyPr>
          <a:lstStyle/>
          <a:p>
            <a:pPr algn="just" fontAlgn="base"/>
            <a:r>
              <a:rPr lang="en-US" sz="2800" b="1" dirty="0"/>
              <a:t>Loading :</a:t>
            </a:r>
            <a:r>
              <a:rPr lang="en-US" sz="2800" dirty="0"/>
              <a:t> The Class loader reads the </a:t>
            </a:r>
            <a:r>
              <a:rPr lang="en-US" sz="2800" b="1" i="1" dirty="0"/>
              <a:t>.class</a:t>
            </a:r>
            <a:r>
              <a:rPr lang="en-US" sz="2800" b="1" dirty="0"/>
              <a:t> </a:t>
            </a:r>
            <a:r>
              <a:rPr lang="en-US" sz="2800" dirty="0"/>
              <a:t>file, generate the corresponding </a:t>
            </a:r>
            <a:r>
              <a:rPr lang="en-US" sz="2800" b="1" dirty="0"/>
              <a:t>binary data </a:t>
            </a:r>
            <a:r>
              <a:rPr lang="en-US" sz="2800" dirty="0"/>
              <a:t>and save it in method area. For each </a:t>
            </a:r>
            <a:r>
              <a:rPr lang="en-US" sz="2800" b="1" i="1" dirty="0"/>
              <a:t>.class</a:t>
            </a:r>
            <a:r>
              <a:rPr lang="en-US" sz="2800" b="1" dirty="0"/>
              <a:t> file</a:t>
            </a:r>
            <a:r>
              <a:rPr lang="en-US" sz="2800" dirty="0"/>
              <a:t>, JVM stores following information in method area.</a:t>
            </a:r>
          </a:p>
          <a:p>
            <a:pPr algn="just" fontAlgn="base">
              <a:buFont typeface="Arial" pitchFamily="34" charset="0"/>
              <a:buChar char="•"/>
            </a:pPr>
            <a:r>
              <a:rPr lang="en-US" sz="2800" dirty="0"/>
              <a:t>Fully qualified name of the loaded class and its immediate parent class.</a:t>
            </a:r>
          </a:p>
          <a:p>
            <a:pPr algn="just" fontAlgn="base">
              <a:buFont typeface="Arial" pitchFamily="34" charset="0"/>
              <a:buChar char="•"/>
            </a:pPr>
            <a:r>
              <a:rPr lang="en-US" sz="2800" dirty="0"/>
              <a:t>Whether </a:t>
            </a:r>
            <a:r>
              <a:rPr lang="en-US" sz="2800" b="1" i="1" dirty="0"/>
              <a:t>.class</a:t>
            </a:r>
            <a:r>
              <a:rPr lang="en-US" sz="2800" b="1" dirty="0"/>
              <a:t> </a:t>
            </a:r>
            <a:r>
              <a:rPr lang="en-US" sz="2800" dirty="0"/>
              <a:t>file is related to Class or Interface or </a:t>
            </a:r>
            <a:r>
              <a:rPr lang="en-US" sz="2800" dirty="0" err="1"/>
              <a:t>Enum</a:t>
            </a:r>
            <a:endParaRPr lang="en-US" sz="2800" dirty="0"/>
          </a:p>
          <a:p>
            <a:pPr algn="just" fontAlgn="base">
              <a:buFont typeface="Arial" pitchFamily="34" charset="0"/>
              <a:buChar char="•"/>
            </a:pPr>
            <a:r>
              <a:rPr lang="en-US" sz="2800" dirty="0"/>
              <a:t>Modifier, Variables and Method information etc.</a:t>
            </a:r>
          </a:p>
          <a:p>
            <a:pPr algn="just" fontAlgn="base"/>
            <a:r>
              <a:rPr lang="en-US" sz="2800" dirty="0"/>
              <a:t>After loading </a:t>
            </a:r>
            <a:r>
              <a:rPr lang="en-US" sz="2800" b="1" i="1" dirty="0"/>
              <a:t>.class</a:t>
            </a:r>
            <a:r>
              <a:rPr lang="en-US" sz="2800" b="1" dirty="0"/>
              <a:t> file</a:t>
            </a:r>
            <a:r>
              <a:rPr lang="en-US" sz="2800" dirty="0"/>
              <a:t>, JVM creates an object of type Class to represent this file in the heap memory.</a:t>
            </a:r>
          </a:p>
          <a:p>
            <a:pPr algn="just"/>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33</a:t>
            </a:fld>
            <a:endParaRPr lang="en-US"/>
          </a:p>
        </p:txBody>
      </p:sp>
      <p:sp>
        <p:nvSpPr>
          <p:cNvPr id="15363" name="Rectangle 18"/>
          <p:cNvSpPr>
            <a:spLocks noChangeArrowheads="1"/>
          </p:cNvSpPr>
          <p:nvPr/>
        </p:nvSpPr>
        <p:spPr bwMode="auto">
          <a:xfrm>
            <a:off x="381000" y="990600"/>
            <a:ext cx="7696200" cy="5693866"/>
          </a:xfrm>
          <a:prstGeom prst="rect">
            <a:avLst/>
          </a:prstGeom>
          <a:noFill/>
          <a:ln w="9525">
            <a:noFill/>
            <a:miter lim="800000"/>
            <a:headEnd/>
            <a:tailEnd/>
          </a:ln>
        </p:spPr>
        <p:txBody>
          <a:bodyPr>
            <a:spAutoFit/>
          </a:bodyPr>
          <a:lstStyle/>
          <a:p>
            <a:pPr fontAlgn="base"/>
            <a:endParaRPr lang="en-US" sz="2800" dirty="0"/>
          </a:p>
          <a:p>
            <a:pPr algn="just" fontAlgn="base"/>
            <a:r>
              <a:rPr lang="en-US" sz="2800" b="1" dirty="0"/>
              <a:t>Linking :</a:t>
            </a:r>
            <a:r>
              <a:rPr lang="en-US" sz="2800" dirty="0"/>
              <a:t> Performs verification, preparation, and (optionally) resolution.</a:t>
            </a:r>
          </a:p>
          <a:p>
            <a:pPr algn="just" fontAlgn="base"/>
            <a:r>
              <a:rPr lang="en-US" sz="2800" b="1" i="1" dirty="0"/>
              <a:t>Verification</a:t>
            </a:r>
            <a:r>
              <a:rPr lang="en-US" sz="2800" b="1" dirty="0"/>
              <a:t> : </a:t>
            </a:r>
            <a:r>
              <a:rPr lang="en-US" sz="2800" dirty="0"/>
              <a:t>It ensures the correctness of </a:t>
            </a:r>
            <a:r>
              <a:rPr lang="en-US" sz="2800" b="1" i="1" dirty="0"/>
              <a:t>.class</a:t>
            </a:r>
            <a:r>
              <a:rPr lang="en-US" sz="2800" b="1" dirty="0"/>
              <a:t> </a:t>
            </a:r>
            <a:r>
              <a:rPr lang="en-US" sz="2800" dirty="0"/>
              <a:t>file i.e. it check whether this file is properly formatted and generated by valid compiler or not. If verification fails, we get run-time exception </a:t>
            </a:r>
            <a:r>
              <a:rPr lang="en-US" sz="2800" i="1" dirty="0" err="1"/>
              <a:t>java.lang.VerifyError</a:t>
            </a:r>
            <a:r>
              <a:rPr lang="en-US" sz="2800" dirty="0"/>
              <a:t>.</a:t>
            </a:r>
          </a:p>
          <a:p>
            <a:pPr fontAlgn="base"/>
            <a:endParaRPr lang="en-US" sz="2800" i="1" dirty="0"/>
          </a:p>
          <a:p>
            <a:pPr fontAlgn="base"/>
            <a:r>
              <a:rPr lang="en-US" sz="2800" b="1" i="1" dirty="0"/>
              <a:t>Preparation</a:t>
            </a:r>
            <a:r>
              <a:rPr lang="en-US" sz="2800" b="1" dirty="0"/>
              <a:t> : </a:t>
            </a:r>
            <a:r>
              <a:rPr lang="en-US" sz="2800" dirty="0"/>
              <a:t>JVM allocates memory for class variables and initializing the memory to default values.</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34</a:t>
            </a:fld>
            <a:endParaRPr lang="en-US"/>
          </a:p>
        </p:txBody>
      </p:sp>
      <p:sp>
        <p:nvSpPr>
          <p:cNvPr id="15363" name="Rectangle 18"/>
          <p:cNvSpPr>
            <a:spLocks noChangeArrowheads="1"/>
          </p:cNvSpPr>
          <p:nvPr/>
        </p:nvSpPr>
        <p:spPr bwMode="auto">
          <a:xfrm>
            <a:off x="459556" y="1143000"/>
            <a:ext cx="8379644" cy="2246769"/>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Initialization :</a:t>
            </a:r>
            <a:r>
              <a:rPr lang="en-US" sz="2800" dirty="0">
                <a:latin typeface="Times New Roman" panose="02020603050405020304" pitchFamily="18" charset="0"/>
                <a:cs typeface="Times New Roman" panose="02020603050405020304" pitchFamily="18" charset="0"/>
              </a:rPr>
              <a:t> In this phase, all static variables are assigned with their values defined in the code and static block(if any). This is executed from top to bottom in a class and from parent to child in class hierarchy.</a:t>
            </a:r>
          </a:p>
          <a:p>
            <a:pPr algn="just"/>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76A1-A8B2-35C3-32E4-BEB323633B61}"/>
              </a:ext>
            </a:extLst>
          </p:cNvPr>
          <p:cNvSpPr>
            <a:spLocks noGrp="1"/>
          </p:cNvSpPr>
          <p:nvPr>
            <p:ph type="title"/>
          </p:nvPr>
        </p:nvSpPr>
        <p:spPr>
          <a:xfrm>
            <a:off x="457200" y="228600"/>
            <a:ext cx="8229600" cy="457199"/>
          </a:xfrm>
        </p:spPr>
        <p:txBody>
          <a:bodyPr>
            <a:noAutofit/>
          </a:bodyPr>
          <a:lstStyle/>
          <a:p>
            <a:r>
              <a:rPr lang="en-US" sz="2400" b="1" dirty="0">
                <a:solidFill>
                  <a:srgbClr val="FF0000"/>
                </a:solidFill>
                <a:latin typeface="Times New Roman" panose="02020603050405020304" pitchFamily="18" charset="0"/>
                <a:cs typeface="Times New Roman" panose="02020603050405020304" pitchFamily="18" charset="0"/>
              </a:rPr>
              <a:t>DATA TYPES IN JAVA</a:t>
            </a:r>
            <a:br>
              <a:rPr lang="en-US" sz="2400" b="1"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392F6F-07E9-4113-7351-49ACBF45054D}"/>
              </a:ext>
            </a:extLst>
          </p:cNvPr>
          <p:cNvSpPr>
            <a:spLocks noGrp="1"/>
          </p:cNvSpPr>
          <p:nvPr>
            <p:ph idx="1"/>
          </p:nvPr>
        </p:nvSpPr>
        <p:spPr>
          <a:xfrm>
            <a:off x="457200" y="457200"/>
            <a:ext cx="8229600" cy="5668964"/>
          </a:xfrm>
        </p:spPr>
        <p:txBody>
          <a:bodyPr>
            <a:normAutofit/>
          </a:bodyPr>
          <a:lstStyle/>
          <a:p>
            <a:pPr algn="just"/>
            <a:r>
              <a:rPr lang="en-US" sz="2000" dirty="0">
                <a:latin typeface="Times New Roman" panose="02020603050405020304" pitchFamily="18" charset="0"/>
                <a:cs typeface="Times New Roman" panose="02020603050405020304" pitchFamily="18" charset="0"/>
              </a:rPr>
              <a:t>Java programming language has a rich set of data types. The data type is a category of data stored in variables. In java, data types are classified into two types and they are as follows.</a:t>
            </a:r>
          </a:p>
          <a:p>
            <a:pPr lvl="2" algn="just"/>
            <a:r>
              <a:rPr lang="en-US" sz="2000" b="1" dirty="0">
                <a:latin typeface="Times New Roman" panose="02020603050405020304" pitchFamily="18" charset="0"/>
                <a:cs typeface="Times New Roman" panose="02020603050405020304" pitchFamily="18" charset="0"/>
              </a:rPr>
              <a:t>Primitive Data Types</a:t>
            </a:r>
          </a:p>
          <a:p>
            <a:pPr lvl="2" algn="just"/>
            <a:r>
              <a:rPr lang="en-US" sz="2000" b="1" dirty="0">
                <a:latin typeface="Times New Roman" panose="02020603050405020304" pitchFamily="18" charset="0"/>
                <a:cs typeface="Times New Roman" panose="02020603050405020304" pitchFamily="18" charset="0"/>
              </a:rPr>
              <a:t>Non-primitive Data Types</a:t>
            </a:r>
          </a:p>
          <a:p>
            <a:pPr algn="just"/>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C4673FD-0FFB-306B-F24A-127D23C8ED62}"/>
              </a:ext>
            </a:extLst>
          </p:cNvPr>
          <p:cNvPicPr>
            <a:picLocks noChangeAspect="1"/>
          </p:cNvPicPr>
          <p:nvPr/>
        </p:nvPicPr>
        <p:blipFill>
          <a:blip r:embed="rId2"/>
          <a:stretch>
            <a:fillRect/>
          </a:stretch>
        </p:blipFill>
        <p:spPr>
          <a:xfrm>
            <a:off x="609600" y="2209800"/>
            <a:ext cx="8077200" cy="4144964"/>
          </a:xfrm>
          <a:prstGeom prst="rect">
            <a:avLst/>
          </a:prstGeom>
        </p:spPr>
      </p:pic>
    </p:spTree>
    <p:extLst>
      <p:ext uri="{BB962C8B-B14F-4D97-AF65-F5344CB8AC3E}">
        <p14:creationId xmlns:p14="http://schemas.microsoft.com/office/powerpoint/2010/main" val="1283672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40B2E-B7C0-4075-DCFC-AE48831BC697}"/>
              </a:ext>
            </a:extLst>
          </p:cNvPr>
          <p:cNvSpPr>
            <a:spLocks noGrp="1"/>
          </p:cNvSpPr>
          <p:nvPr>
            <p:ph idx="1"/>
          </p:nvPr>
        </p:nvSpPr>
        <p:spPr>
          <a:xfrm>
            <a:off x="457200" y="365918"/>
            <a:ext cx="8229600" cy="6126163"/>
          </a:xfrm>
        </p:spPr>
        <p:txBody>
          <a:bodyPr>
            <a:normAutofit/>
          </a:bodyPr>
          <a:lstStyle/>
          <a:p>
            <a:pPr algn="just"/>
            <a:r>
              <a:rPr lang="en-US" sz="2000" b="1" dirty="0">
                <a:latin typeface="Times New Roman" panose="02020603050405020304" pitchFamily="18" charset="0"/>
                <a:cs typeface="Times New Roman" panose="02020603050405020304" pitchFamily="18" charset="0"/>
              </a:rPr>
              <a:t>Primitive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primitive data types are built-in data types and they specify the type of value stored in a variable and the memory size. </a:t>
            </a:r>
          </a:p>
          <a:p>
            <a:pPr algn="just"/>
            <a:r>
              <a:rPr lang="en-US" sz="2000" b="1" dirty="0">
                <a:latin typeface="Times New Roman" panose="02020603050405020304" pitchFamily="18" charset="0"/>
                <a:cs typeface="Times New Roman" panose="02020603050405020304" pitchFamily="18" charset="0"/>
              </a:rPr>
              <a:t>Integer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Integer Data Types represent integer numbers, </a:t>
            </a:r>
            <a:r>
              <a:rPr lang="en-US" sz="2000" dirty="0" err="1">
                <a:latin typeface="Times New Roman" panose="02020603050405020304" pitchFamily="18" charset="0"/>
                <a:cs typeface="Times New Roman" panose="02020603050405020304" pitchFamily="18" charset="0"/>
              </a:rPr>
              <a:t>i.e</a:t>
            </a:r>
            <a:r>
              <a:rPr lang="en-US" sz="2000" dirty="0">
                <a:latin typeface="Times New Roman" panose="02020603050405020304" pitchFamily="18" charset="0"/>
                <a:cs typeface="Times New Roman" panose="02020603050405020304" pitchFamily="18" charset="0"/>
              </a:rPr>
              <a:t> numbers without any fractional parts or decimal points. </a:t>
            </a:r>
          </a:p>
          <a:p>
            <a:pPr marL="0" indent="0" algn="just">
              <a:buNone/>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D36C628-D8FC-D7E1-3FE3-90887466CF7A}"/>
              </a:ext>
            </a:extLst>
          </p:cNvPr>
          <p:cNvPicPr>
            <a:picLocks noChangeAspect="1"/>
          </p:cNvPicPr>
          <p:nvPr/>
        </p:nvPicPr>
        <p:blipFill>
          <a:blip r:embed="rId2"/>
          <a:stretch>
            <a:fillRect/>
          </a:stretch>
        </p:blipFill>
        <p:spPr>
          <a:xfrm>
            <a:off x="1066800" y="2438400"/>
            <a:ext cx="7334786" cy="3429000"/>
          </a:xfrm>
          <a:prstGeom prst="rect">
            <a:avLst/>
          </a:prstGeom>
        </p:spPr>
      </p:pic>
    </p:spTree>
    <p:extLst>
      <p:ext uri="{BB962C8B-B14F-4D97-AF65-F5344CB8AC3E}">
        <p14:creationId xmlns:p14="http://schemas.microsoft.com/office/powerpoint/2010/main" val="2724923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E5C140-C59C-E95B-84A1-B951F9131606}"/>
              </a:ext>
            </a:extLst>
          </p:cNvPr>
          <p:cNvSpPr>
            <a:spLocks noGrp="1"/>
          </p:cNvSpPr>
          <p:nvPr>
            <p:ph idx="1"/>
          </p:nvPr>
        </p:nvSpPr>
        <p:spPr>
          <a:xfrm>
            <a:off x="457200" y="381000"/>
            <a:ext cx="8229600" cy="5745163"/>
          </a:xfrm>
        </p:spPr>
        <p:txBody>
          <a:bodyPr>
            <a:normAutofit lnSpcReduction="10000"/>
          </a:bodyPr>
          <a:lstStyle/>
          <a:p>
            <a:r>
              <a:rPr lang="en-US" sz="2000" b="1" dirty="0">
                <a:latin typeface="Times New Roman" panose="02020603050405020304" pitchFamily="18" charset="0"/>
                <a:cs typeface="Times New Roman" panose="02020603050405020304" pitchFamily="18" charset="0"/>
              </a:rPr>
              <a:t>Float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Float data types are represent numbers with decimal point. </a:t>
            </a:r>
          </a:p>
          <a:p>
            <a:endParaRPr lang="en-US" dirty="0"/>
          </a:p>
          <a:p>
            <a:endParaRPr lang="en-US" dirty="0"/>
          </a:p>
          <a:p>
            <a:endParaRPr lang="en-US" dirty="0"/>
          </a:p>
          <a:p>
            <a:endParaRPr lang="en-US" dirty="0"/>
          </a:p>
          <a:p>
            <a:endParaRPr lang="en-US" dirty="0"/>
          </a:p>
          <a:p>
            <a:endParaRPr lang="en-US" dirty="0"/>
          </a:p>
          <a:p>
            <a:pPr marL="0" indent="0">
              <a:buNone/>
            </a:pPr>
            <a:r>
              <a:rPr lang="en-US" sz="2200" b="1" dirty="0">
                <a:latin typeface="Times New Roman" panose="02020603050405020304" pitchFamily="18" charset="0"/>
                <a:cs typeface="Times New Roman" panose="02020603050405020304" pitchFamily="18" charset="0"/>
              </a:rPr>
              <a:t>Note: </a:t>
            </a:r>
            <a:r>
              <a:rPr lang="en-US" sz="2200" dirty="0">
                <a:latin typeface="Times New Roman" panose="02020603050405020304" pitchFamily="18" charset="0"/>
                <a:cs typeface="Times New Roman" panose="02020603050405020304" pitchFamily="18" charset="0"/>
              </a:rPr>
              <a:t>Float data type can represent up to 7 digits accurately after decimal point. </a:t>
            </a:r>
          </a:p>
          <a:p>
            <a:r>
              <a:rPr lang="en-US" sz="2200" dirty="0">
                <a:latin typeface="Times New Roman" panose="02020603050405020304" pitchFamily="18" charset="0"/>
                <a:cs typeface="Times New Roman" panose="02020603050405020304" pitchFamily="18" charset="0"/>
              </a:rPr>
              <a:t>Double data type can represent up to 15 digits accurately after decimal point. </a:t>
            </a:r>
          </a:p>
        </p:txBody>
      </p:sp>
      <p:pic>
        <p:nvPicPr>
          <p:cNvPr id="5" name="Picture 4">
            <a:extLst>
              <a:ext uri="{FF2B5EF4-FFF2-40B4-BE49-F238E27FC236}">
                <a16:creationId xmlns:a16="http://schemas.microsoft.com/office/drawing/2014/main" id="{29C41CB3-958D-EC6F-E645-F90F43B6C38F}"/>
              </a:ext>
            </a:extLst>
          </p:cNvPr>
          <p:cNvPicPr>
            <a:picLocks noChangeAspect="1"/>
          </p:cNvPicPr>
          <p:nvPr/>
        </p:nvPicPr>
        <p:blipFill>
          <a:blip r:embed="rId2"/>
          <a:stretch>
            <a:fillRect/>
          </a:stretch>
        </p:blipFill>
        <p:spPr>
          <a:xfrm>
            <a:off x="481781" y="1676400"/>
            <a:ext cx="7696200" cy="2400300"/>
          </a:xfrm>
          <a:prstGeom prst="rect">
            <a:avLst/>
          </a:prstGeom>
        </p:spPr>
      </p:pic>
    </p:spTree>
    <p:extLst>
      <p:ext uri="{BB962C8B-B14F-4D97-AF65-F5344CB8AC3E}">
        <p14:creationId xmlns:p14="http://schemas.microsoft.com/office/powerpoint/2010/main" val="4294360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B0BF9-C015-4A43-1B0B-A261994AF849}"/>
              </a:ext>
            </a:extLst>
          </p:cNvPr>
          <p:cNvSpPr>
            <a:spLocks noGrp="1"/>
          </p:cNvSpPr>
          <p:nvPr>
            <p:ph idx="1"/>
          </p:nvPr>
        </p:nvSpPr>
        <p:spPr>
          <a:xfrm>
            <a:off x="457200" y="304800"/>
            <a:ext cx="8229600" cy="5821363"/>
          </a:xfrm>
        </p:spPr>
        <p:txBody>
          <a:bodyPr>
            <a:normAutofit/>
          </a:bodyPr>
          <a:lstStyle/>
          <a:p>
            <a:r>
              <a:rPr lang="en-US" sz="2000" b="1" dirty="0">
                <a:latin typeface="Times New Roman" panose="02020603050405020304" pitchFamily="18" charset="0"/>
                <a:cs typeface="Times New Roman" panose="02020603050405020304" pitchFamily="18" charset="0"/>
              </a:rPr>
              <a:t>Character Data Type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Character data type are represents a single character like a, P, &amp;, *,..etc.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Boolean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Boolean data types represent any of the two values, true or false. JVM uses 1 bit to represent a Boolean value internally. </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B8C7B11-EC2A-D0BC-AB4A-9646A55B892C}"/>
              </a:ext>
            </a:extLst>
          </p:cNvPr>
          <p:cNvPicPr>
            <a:picLocks noChangeAspect="1"/>
          </p:cNvPicPr>
          <p:nvPr/>
        </p:nvPicPr>
        <p:blipFill>
          <a:blip r:embed="rId2"/>
          <a:stretch>
            <a:fillRect/>
          </a:stretch>
        </p:blipFill>
        <p:spPr>
          <a:xfrm>
            <a:off x="852487" y="1295398"/>
            <a:ext cx="7619937" cy="1496959"/>
          </a:xfrm>
          <a:prstGeom prst="rect">
            <a:avLst/>
          </a:prstGeom>
        </p:spPr>
      </p:pic>
      <p:pic>
        <p:nvPicPr>
          <p:cNvPr id="7" name="Picture 6">
            <a:extLst>
              <a:ext uri="{FF2B5EF4-FFF2-40B4-BE49-F238E27FC236}">
                <a16:creationId xmlns:a16="http://schemas.microsoft.com/office/drawing/2014/main" id="{2C78B88B-20F6-28B8-2FBE-5505095C2489}"/>
              </a:ext>
            </a:extLst>
          </p:cNvPr>
          <p:cNvPicPr>
            <a:picLocks noChangeAspect="1"/>
          </p:cNvPicPr>
          <p:nvPr/>
        </p:nvPicPr>
        <p:blipFill>
          <a:blip r:embed="rId3"/>
          <a:stretch>
            <a:fillRect/>
          </a:stretch>
        </p:blipFill>
        <p:spPr>
          <a:xfrm>
            <a:off x="685800" y="4191001"/>
            <a:ext cx="7620000" cy="1496960"/>
          </a:xfrm>
          <a:prstGeom prst="rect">
            <a:avLst/>
          </a:prstGeom>
        </p:spPr>
      </p:pic>
    </p:spTree>
    <p:extLst>
      <p:ext uri="{BB962C8B-B14F-4D97-AF65-F5344CB8AC3E}">
        <p14:creationId xmlns:p14="http://schemas.microsoft.com/office/powerpoint/2010/main" val="860024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B384A-71E6-8852-30E9-199E70DA2C8A}"/>
              </a:ext>
            </a:extLst>
          </p:cNvPr>
          <p:cNvSpPr>
            <a:spLocks noGrp="1"/>
          </p:cNvSpPr>
          <p:nvPr>
            <p:ph idx="1"/>
          </p:nvPr>
        </p:nvSpPr>
        <p:spPr>
          <a:xfrm>
            <a:off x="457200" y="228600"/>
            <a:ext cx="8229600" cy="5897563"/>
          </a:xfrm>
        </p:spPr>
        <p:txBody>
          <a:bodyPr>
            <a:normAutofit fontScale="775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VARIABLES</a:t>
            </a:r>
          </a:p>
          <a:p>
            <a:pPr marL="0" indent="0" algn="just">
              <a:lnSpc>
                <a:spcPct val="120000"/>
              </a:lnSpc>
              <a:buNone/>
            </a:pPr>
            <a:r>
              <a:rPr lang="en-US" dirty="0">
                <a:latin typeface="Times New Roman" panose="02020603050405020304" pitchFamily="18" charset="0"/>
                <a:cs typeface="Times New Roman" panose="02020603050405020304" pitchFamily="18" charset="0"/>
              </a:rPr>
              <a:t>Variable is a name given to a memory location where we can store different values of the same data type during the program execution.</a:t>
            </a:r>
          </a:p>
          <a:p>
            <a:pPr marL="0" indent="0" algn="just">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The following are the rules to specify a variable name</a:t>
            </a:r>
            <a:r>
              <a:rPr lang="en-US" b="1" dirty="0">
                <a:latin typeface="Times New Roman" panose="02020603050405020304" pitchFamily="18" charset="0"/>
                <a:cs typeface="Times New Roman" panose="02020603050405020304" pitchFamily="18" charset="0"/>
              </a:rPr>
              <a: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A variable name may contain letters, digits and underscore symbol</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start with digit.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Keywords should not be used as variable names.</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contain any special symbols except underscore(_).</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can be of any length but compiler considers only the first 31 characters of the variable name.</a:t>
            </a:r>
          </a:p>
          <a:p>
            <a:pPr algn="just">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852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1AC57-3696-5B0C-0D79-42327D0F8B9A}"/>
              </a:ext>
            </a:extLst>
          </p:cNvPr>
          <p:cNvSpPr>
            <a:spLocks noGrp="1"/>
          </p:cNvSpPr>
          <p:nvPr>
            <p:ph idx="1"/>
          </p:nvPr>
        </p:nvSpPr>
        <p:spPr>
          <a:xfrm>
            <a:off x="457200" y="228600"/>
            <a:ext cx="8229600" cy="5897563"/>
          </a:xfrm>
        </p:spPr>
        <p:txBody>
          <a:bodyPr>
            <a:normAutofit fontScale="700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Declaration of Variable</a:t>
            </a:r>
          </a:p>
          <a:p>
            <a:pPr marL="0" indent="0" algn="just">
              <a:lnSpc>
                <a:spcPct val="120000"/>
              </a:lnSpc>
              <a:buNone/>
            </a:pPr>
            <a:r>
              <a:rPr lang="en-US" dirty="0">
                <a:latin typeface="Times New Roman" panose="02020603050405020304" pitchFamily="18" charset="0"/>
                <a:cs typeface="Times New Roman" panose="02020603050405020304" pitchFamily="18" charset="0"/>
              </a:rPr>
              <a:t>Declaration of a variable tells to the compiler to allocate required amount of memory with specified variable name and allows only specified datatype values into that memory location.</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a:t>
            </a:r>
          </a:p>
          <a:p>
            <a:pPr marL="0" indent="0">
              <a:lnSpc>
                <a:spcPct val="120000"/>
              </a:lnSpc>
              <a:buNone/>
            </a:pPr>
            <a:r>
              <a:rPr lang="en-US" b="1" dirty="0">
                <a:latin typeface="Times New Roman" panose="02020603050405020304" pitchFamily="18" charset="0"/>
                <a:cs typeface="Times New Roman" panose="02020603050405020304" pitchFamily="18" charset="0"/>
              </a:rPr>
              <a:t>Example : int a;</a:t>
            </a:r>
            <a:endParaRPr lang="en-US" dirty="0">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data_type</a:t>
            </a:r>
            <a:r>
              <a:rPr lang="en-US" b="1" dirty="0">
                <a:latin typeface="Times New Roman" panose="02020603050405020304" pitchFamily="18" charset="0"/>
                <a:cs typeface="Times New Roman" panose="02020603050405020304" pitchFamily="18" charset="0"/>
              </a:rPr>
              <a:t> variable_name_1, variable_name_2,...; Example : int a, b;</a:t>
            </a:r>
            <a:endParaRPr lang="en-US" dirty="0">
              <a:latin typeface="Times New Roman" panose="02020603050405020304" pitchFamily="18" charset="0"/>
              <a:cs typeface="Times New Roman" panose="02020603050405020304" pitchFamily="18" charset="0"/>
            </a:endParaRPr>
          </a:p>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Initialization of a variable:</a:t>
            </a: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Example : </a:t>
            </a:r>
            <a:r>
              <a:rPr lang="en-US" dirty="0">
                <a:latin typeface="Times New Roman" panose="02020603050405020304" pitchFamily="18" charset="0"/>
                <a:cs typeface="Times New Roman" panose="02020603050405020304" pitchFamily="18" charset="0"/>
              </a:rPr>
              <a:t>int a = 10;</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data_type</a:t>
            </a:r>
            <a:r>
              <a:rPr lang="en-US" dirty="0">
                <a:latin typeface="Times New Roman" panose="02020603050405020304" pitchFamily="18" charset="0"/>
                <a:cs typeface="Times New Roman" panose="02020603050405020304" pitchFamily="18" charset="0"/>
              </a:rPr>
              <a:t> variable_name_1=value, variable_name_2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a:t>
            </a:r>
            <a:r>
              <a:rPr lang="en-US" dirty="0">
                <a:latin typeface="Times New Roman" panose="02020603050405020304" pitchFamily="18" charset="0"/>
                <a:cs typeface="Times New Roman" panose="02020603050405020304" pitchFamily="18" charset="0"/>
              </a:rPr>
              <a:t>e : int a = 10, b = 20;</a:t>
            </a: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671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837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04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246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45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65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8918D-2CA4-1067-1763-9C9E3916C322}"/>
              </a:ext>
            </a:extLst>
          </p:cNvPr>
          <p:cNvSpPr>
            <a:spLocks noGrp="1"/>
          </p:cNvSpPr>
          <p:nvPr>
            <p:ph idx="1"/>
          </p:nvPr>
        </p:nvSpPr>
        <p:spPr>
          <a:xfrm>
            <a:off x="457200" y="152400"/>
            <a:ext cx="8229600" cy="5973763"/>
          </a:xfrm>
        </p:spPr>
        <p:txBody>
          <a:bodyPr>
            <a:normAutofit lnSpcReduction="10000"/>
          </a:bodyPr>
          <a:lstStyle/>
          <a:p>
            <a:pPr marL="0" indent="0" algn="ctr">
              <a:buNone/>
            </a:pPr>
            <a:r>
              <a:rPr lang="en-US" i="1" dirty="0"/>
              <a:t> </a:t>
            </a:r>
            <a:r>
              <a:rPr lang="en-US" sz="2400" b="1" dirty="0">
                <a:solidFill>
                  <a:srgbClr val="FF0000"/>
                </a:solidFill>
                <a:latin typeface="Times New Roman" panose="02020603050405020304" pitchFamily="18" charset="0"/>
                <a:cs typeface="Times New Roman" panose="02020603050405020304" pitchFamily="18" charset="0"/>
              </a:rPr>
              <a:t>SCOPE AND LIFETIME OF A VARIABLE</a:t>
            </a:r>
            <a:endParaRPr lang="en-US" b="1" dirty="0">
              <a:solidFill>
                <a:srgbClr val="FF0000"/>
              </a:solidFill>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In programming, a variable can be declared and defined inside a class, method, or block.</a:t>
            </a:r>
          </a:p>
          <a:p>
            <a:pPr lvl="0" algn="just"/>
            <a:r>
              <a:rPr lang="en-US" dirty="0">
                <a:latin typeface="Times New Roman" panose="02020603050405020304" pitchFamily="18" charset="0"/>
                <a:cs typeface="Times New Roman" panose="02020603050405020304" pitchFamily="18" charset="0"/>
              </a:rPr>
              <a:t>It defines the scope of the variable i.e. the visibility or accessibility of a variable.</a:t>
            </a:r>
          </a:p>
          <a:p>
            <a:pPr lvl="0" algn="just"/>
            <a:r>
              <a:rPr lang="en-US" dirty="0">
                <a:latin typeface="Times New Roman" panose="02020603050405020304" pitchFamily="18" charset="0"/>
                <a:cs typeface="Times New Roman" panose="02020603050405020304" pitchFamily="18" charset="0"/>
              </a:rPr>
              <a:t>Variable declared inside a block or method are not visible to outside.</a:t>
            </a:r>
          </a:p>
          <a:p>
            <a:pPr lvl="0" algn="just"/>
            <a:r>
              <a:rPr lang="en-US" dirty="0">
                <a:latin typeface="Times New Roman" panose="02020603050405020304" pitchFamily="18" charset="0"/>
                <a:cs typeface="Times New Roman" panose="02020603050405020304" pitchFamily="18" charset="0"/>
              </a:rPr>
              <a:t>If we try to do so, we will get a compilation error. Note that the scope of a variable can be nested.</a:t>
            </a:r>
          </a:p>
          <a:p>
            <a:pPr lvl="0" algn="just"/>
            <a:r>
              <a:rPr lang="en-US" b="1" dirty="0">
                <a:latin typeface="Times New Roman" panose="02020603050405020304" pitchFamily="18" charset="0"/>
                <a:cs typeface="Times New Roman" panose="02020603050405020304" pitchFamily="18" charset="0"/>
              </a:rPr>
              <a:t>Lifetime </a:t>
            </a:r>
            <a:r>
              <a:rPr lang="en-US" dirty="0">
                <a:latin typeface="Times New Roman" panose="02020603050405020304" pitchFamily="18" charset="0"/>
                <a:cs typeface="Times New Roman" panose="02020603050405020304" pitchFamily="18" charset="0"/>
              </a:rPr>
              <a:t>of a variable indicates how long the variable stays alive in the memory.</a:t>
            </a:r>
          </a:p>
          <a:p>
            <a:pPr algn="just"/>
            <a:endParaRPr lang="en-US" dirty="0"/>
          </a:p>
        </p:txBody>
      </p:sp>
    </p:spTree>
    <p:extLst>
      <p:ext uri="{BB962C8B-B14F-4D97-AF65-F5344CB8AC3E}">
        <p14:creationId xmlns:p14="http://schemas.microsoft.com/office/powerpoint/2010/main" val="3804360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3D0DC-8A21-B54B-4E32-EB33D746D5DD}"/>
              </a:ext>
            </a:extLst>
          </p:cNvPr>
          <p:cNvSpPr>
            <a:spLocks noGrp="1"/>
          </p:cNvSpPr>
          <p:nvPr>
            <p:ph type="title"/>
          </p:nvPr>
        </p:nvSpPr>
        <p:spPr>
          <a:xfrm>
            <a:off x="457200" y="274638"/>
            <a:ext cx="8229600" cy="457199"/>
          </a:xfrm>
        </p:spPr>
        <p:txBody>
          <a:bodyPr>
            <a:normAutofit fontScale="90000"/>
          </a:bodyPr>
          <a:lstStyle/>
          <a:p>
            <a:r>
              <a:rPr lang="en-US" dirty="0"/>
              <a:t>Main.java</a:t>
            </a:r>
          </a:p>
        </p:txBody>
      </p:sp>
      <p:sp>
        <p:nvSpPr>
          <p:cNvPr id="3" name="Content Placeholder 2">
            <a:extLst>
              <a:ext uri="{FF2B5EF4-FFF2-40B4-BE49-F238E27FC236}">
                <a16:creationId xmlns:a16="http://schemas.microsoft.com/office/drawing/2014/main" id="{F3FA3C45-76B0-4BB2-7450-304C407AAC92}"/>
              </a:ext>
            </a:extLst>
          </p:cNvPr>
          <p:cNvSpPr>
            <a:spLocks noGrp="1"/>
          </p:cNvSpPr>
          <p:nvPr>
            <p:ph idx="1"/>
          </p:nvPr>
        </p:nvSpPr>
        <p:spPr>
          <a:xfrm>
            <a:off x="457200" y="731838"/>
            <a:ext cx="8229600" cy="5394326"/>
          </a:xfrm>
        </p:spPr>
        <p:txBody>
          <a:bodyPr>
            <a:normAutofit fontScale="775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public class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lnSpc>
                <a:spcPct val="120000"/>
              </a:lnSpc>
              <a:buNone/>
            </a:pP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dirty="0">
                <a:latin typeface="Times New Roman" panose="02020603050405020304" pitchFamily="18" charset="0"/>
                <a:cs typeface="Times New Roman" panose="02020603050405020304" pitchFamily="18" charset="0"/>
              </a:rPr>
              <a:t>Every line of code that runs in Java must be </a:t>
            </a:r>
            <a:r>
              <a:rPr lang="en-US" b="1" i="1" dirty="0">
                <a:solidFill>
                  <a:srgbClr val="FF0000"/>
                </a:solidFill>
                <a:latin typeface="Times New Roman" panose="02020603050405020304" pitchFamily="18" charset="0"/>
                <a:cs typeface="Times New Roman" panose="02020603050405020304" pitchFamily="18" charset="0"/>
              </a:rPr>
              <a:t>inside a class</a:t>
            </a:r>
            <a:r>
              <a:rPr lang="en-US" dirty="0">
                <a:latin typeface="Times New Roman" panose="02020603050405020304" pitchFamily="18" charset="0"/>
                <a:cs typeface="Times New Roman" panose="02020603050405020304" pitchFamily="18" charset="0"/>
              </a:rPr>
              <a:t>. The </a:t>
            </a:r>
            <a:r>
              <a:rPr lang="en-US" b="1" i="1" dirty="0">
                <a:solidFill>
                  <a:srgbClr val="FF0000"/>
                </a:solidFill>
                <a:latin typeface="Times New Roman" panose="02020603050405020304" pitchFamily="18" charset="0"/>
                <a:cs typeface="Times New Roman" panose="02020603050405020304" pitchFamily="18" charset="0"/>
              </a:rPr>
              <a:t>class name should always start with an uppercase first letter</a:t>
            </a:r>
            <a:r>
              <a:rPr lang="en-US" dirty="0">
                <a:latin typeface="Times New Roman" panose="02020603050405020304" pitchFamily="18" charset="0"/>
                <a:cs typeface="Times New Roman" panose="02020603050405020304" pitchFamily="18" charset="0"/>
              </a:rPr>
              <a:t>. In our example, we named the class</a:t>
            </a:r>
            <a:r>
              <a:rPr lang="en-US"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Main</a:t>
            </a:r>
            <a:r>
              <a:rPr lang="en-US" dirty="0">
                <a:solidFill>
                  <a:srgbClr val="FF0000"/>
                </a:solidFill>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b="1" dirty="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Java is case-sensitive.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would be treated as two completely different names.</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966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21F48-7236-D3CA-C2DB-FF010C8E2C51}"/>
              </a:ext>
            </a:extLst>
          </p:cNvPr>
          <p:cNvSpPr>
            <a:spLocks noGrp="1"/>
          </p:cNvSpPr>
          <p:nvPr>
            <p:ph idx="1"/>
          </p:nvPr>
        </p:nvSpPr>
        <p:spPr>
          <a:xfrm>
            <a:off x="457200" y="381000"/>
            <a:ext cx="8229600" cy="5745163"/>
          </a:xfrm>
        </p:spPr>
        <p:txBody>
          <a:bodyPr>
            <a:normAutofit lnSpcReduction="1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name of the Java file </a:t>
            </a:r>
            <a:r>
              <a:rPr lang="en-US" b="1" dirty="0">
                <a:latin typeface="Times New Roman" panose="02020603050405020304" pitchFamily="18" charset="0"/>
                <a:cs typeface="Times New Roman" panose="02020603050405020304" pitchFamily="18" charset="0"/>
              </a:rPr>
              <a:t>must match</a:t>
            </a:r>
            <a:r>
              <a:rPr lang="en-US" dirty="0">
                <a:latin typeface="Times New Roman" panose="02020603050405020304" pitchFamily="18" charset="0"/>
                <a:cs typeface="Times New Roman" panose="02020603050405020304" pitchFamily="18" charset="0"/>
              </a:rPr>
              <a:t> the class name. </a:t>
            </a:r>
          </a:p>
          <a:p>
            <a:pPr algn="just"/>
            <a:r>
              <a:rPr lang="en-US" dirty="0">
                <a:latin typeface="Times New Roman" panose="02020603050405020304" pitchFamily="18" charset="0"/>
                <a:cs typeface="Times New Roman" panose="02020603050405020304" pitchFamily="18" charset="0"/>
              </a:rPr>
              <a:t>So if your class is called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the file must be saved as </a:t>
            </a:r>
            <a:r>
              <a:rPr lang="en-US" dirty="0">
                <a:solidFill>
                  <a:srgbClr val="FF0000"/>
                </a:solidFill>
                <a:latin typeface="Times New Roman" panose="02020603050405020304" pitchFamily="18" charset="0"/>
                <a:cs typeface="Times New Roman" panose="02020603050405020304" pitchFamily="18" charset="0"/>
              </a:rPr>
              <a:t>Main.java</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This is because Java uses the class name to find and run your code. If the names don't match, Java will give an error and the program will not run.</a:t>
            </a:r>
          </a:p>
          <a:p>
            <a:pPr algn="just"/>
            <a:r>
              <a:rPr lang="en-US" dirty="0">
                <a:latin typeface="Times New Roman" panose="02020603050405020304" pitchFamily="18" charset="0"/>
                <a:cs typeface="Times New Roman" panose="02020603050405020304" pitchFamily="18" charset="0"/>
              </a:rPr>
              <a:t>When saving the file, save it using the class name and add </a:t>
            </a:r>
            <a:r>
              <a:rPr lang="en-US" dirty="0">
                <a:solidFill>
                  <a:srgbClr val="FF0000"/>
                </a:solidFill>
                <a:latin typeface="Times New Roman" panose="02020603050405020304" pitchFamily="18" charset="0"/>
                <a:cs typeface="Times New Roman" panose="02020603050405020304" pitchFamily="18" charset="0"/>
              </a:rPr>
              <a:t>.java </a:t>
            </a:r>
            <a:r>
              <a:rPr lang="en-US" dirty="0">
                <a:latin typeface="Times New Roman" panose="02020603050405020304" pitchFamily="18" charset="0"/>
                <a:cs typeface="Times New Roman" panose="02020603050405020304" pitchFamily="18" charset="0"/>
              </a:rPr>
              <a:t>to the end of the filename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441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050B8-CC1A-84E1-253C-E89C9A102DE1}"/>
              </a:ext>
            </a:extLst>
          </p:cNvPr>
          <p:cNvSpPr>
            <a:spLocks noGrp="1"/>
          </p:cNvSpPr>
          <p:nvPr>
            <p:ph type="title"/>
          </p:nvPr>
        </p:nvSpPr>
        <p:spPr>
          <a:xfrm>
            <a:off x="457200" y="274638"/>
            <a:ext cx="8229600" cy="457199"/>
          </a:xfrm>
        </p:spPr>
        <p:txBody>
          <a:bodyPr>
            <a:noAutofit/>
          </a:bodyPr>
          <a:lstStyle/>
          <a:p>
            <a:r>
              <a:rPr lang="en-US" sz="2400" dirty="0">
                <a:solidFill>
                  <a:srgbClr val="FF0000"/>
                </a:solidFill>
                <a:latin typeface="Times New Roman" panose="02020603050405020304" pitchFamily="18" charset="0"/>
                <a:cs typeface="Times New Roman" panose="02020603050405020304" pitchFamily="18" charset="0"/>
              </a:rPr>
              <a:t>The main Method</a:t>
            </a:r>
          </a:p>
        </p:txBody>
      </p:sp>
      <p:sp>
        <p:nvSpPr>
          <p:cNvPr id="3" name="Content Placeholder 2">
            <a:extLst>
              <a:ext uri="{FF2B5EF4-FFF2-40B4-BE49-F238E27FC236}">
                <a16:creationId xmlns:a16="http://schemas.microsoft.com/office/drawing/2014/main" id="{97A32BE9-4247-871E-B8CA-8FA84DAA073E}"/>
              </a:ext>
            </a:extLst>
          </p:cNvPr>
          <p:cNvSpPr>
            <a:spLocks noGrp="1"/>
          </p:cNvSpPr>
          <p:nvPr>
            <p:ph idx="1"/>
          </p:nvPr>
        </p:nvSpPr>
        <p:spPr>
          <a:xfrm>
            <a:off x="457200" y="838200"/>
            <a:ext cx="8229600" cy="6019800"/>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The main() method is required in every Java program. It is where the program starts running:</a:t>
            </a:r>
          </a:p>
          <a:p>
            <a:pPr marL="0" indent="0" algn="ctr">
              <a:buNone/>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public static void </a:t>
            </a:r>
            <a:r>
              <a:rPr lang="en-US" sz="2800" b="1" dirty="0">
                <a:latin typeface="Times New Roman" panose="02020603050405020304" pitchFamily="18" charset="0"/>
                <a:cs typeface="Times New Roman" panose="02020603050405020304" pitchFamily="18" charset="0"/>
              </a:rPr>
              <a:t>main</a:t>
            </a:r>
            <a:r>
              <a:rPr lang="en-US" sz="2800" dirty="0">
                <a:latin typeface="Times New Roman" panose="02020603050405020304" pitchFamily="18" charset="0"/>
                <a:cs typeface="Times New Roman" panose="02020603050405020304" pitchFamily="18" charset="0"/>
              </a:rPr>
              <a:t>(String[]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pPr marL="0" indent="0" algn="ctr">
              <a:buNone/>
            </a:pPr>
            <a:endParaRPr lang="en-US" sz="28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word in this statement grants specific permissions and behaviors to the JVM:</a:t>
            </a:r>
          </a:p>
          <a:p>
            <a:pPr algn="just"/>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Access Modifier</a:t>
            </a:r>
            <a:r>
              <a:rPr lang="en-US" sz="2400" dirty="0">
                <a:latin typeface="Times New Roman" panose="02020603050405020304" pitchFamily="18" charset="0"/>
                <a:cs typeface="Times New Roman" panose="02020603050405020304" pitchFamily="18" charset="0"/>
              </a:rPr>
              <a:t>): Makes the method globally visible. The JVM must access this method from outside your program's class to start it.</a:t>
            </a:r>
          </a:p>
          <a:p>
            <a:pPr algn="just"/>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Keyword</a:t>
            </a:r>
            <a:r>
              <a:rPr lang="en-US" sz="2400" dirty="0">
                <a:latin typeface="Times New Roman" panose="02020603050405020304" pitchFamily="18" charset="0"/>
                <a:cs typeface="Times New Roman" panose="02020603050405020304" pitchFamily="18" charset="0"/>
              </a:rPr>
              <a:t>): Allows the JVM to invoke the method directly on the class without instantiating it first. This saves memory because no object needs to be created just to start the application.</a:t>
            </a:r>
          </a:p>
          <a:p>
            <a:pPr algn="just"/>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Return Type</a:t>
            </a:r>
            <a:r>
              <a:rPr lang="en-US" sz="2400" dirty="0">
                <a:latin typeface="Times New Roman" panose="02020603050405020304" pitchFamily="18" charset="0"/>
                <a:cs typeface="Times New Roman" panose="02020603050405020304" pitchFamily="18" charset="0"/>
              </a:rPr>
              <a:t>): Indicates that this method does not return any data or value once it finishes executing.</a:t>
            </a:r>
          </a:p>
          <a:p>
            <a:pPr algn="just"/>
            <a:r>
              <a:rPr lang="en-US" sz="2400" b="1" dirty="0">
                <a:latin typeface="Times New Roman" panose="02020603050405020304" pitchFamily="18" charset="0"/>
                <a:cs typeface="Times New Roman" panose="02020603050405020304" pitchFamily="18" charset="0"/>
              </a:rPr>
              <a:t>main</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Method Name</a:t>
            </a:r>
            <a:r>
              <a:rPr lang="en-US" sz="2400" dirty="0">
                <a:latin typeface="Times New Roman" panose="02020603050405020304" pitchFamily="18" charset="0"/>
                <a:cs typeface="Times New Roman" panose="02020603050405020304" pitchFamily="18" charset="0"/>
              </a:rPr>
              <a:t>): The designated name the JVM explicitly searches for as the baseline starting point.</a:t>
            </a:r>
          </a:p>
          <a:p>
            <a:pPr algn="just"/>
            <a:r>
              <a:rPr lang="en-US" sz="2400" b="1" dirty="0">
                <a:latin typeface="Times New Roman" panose="02020603050405020304" pitchFamily="18" charset="0"/>
                <a:cs typeface="Times New Roman" panose="02020603050405020304" pitchFamily="18" charset="0"/>
              </a:rPr>
              <a:t>String[] </a:t>
            </a:r>
            <a:r>
              <a:rPr lang="en-US" sz="2400" b="1"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Parameters</a:t>
            </a:r>
            <a:r>
              <a:rPr lang="en-US" sz="2400" dirty="0">
                <a:latin typeface="Times New Roman" panose="02020603050405020304" pitchFamily="18" charset="0"/>
                <a:cs typeface="Times New Roman" panose="02020603050405020304" pitchFamily="18" charset="0"/>
              </a:rPr>
              <a:t>): An array of text strings that lets you pass command-line arguments into your program when you launch it.</a:t>
            </a: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936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8A545-AF84-D68E-72FA-97DF1FFE4A45}"/>
              </a:ext>
            </a:extLst>
          </p:cNvPr>
          <p:cNvSpPr>
            <a:spLocks noGrp="1"/>
          </p:cNvSpPr>
          <p:nvPr>
            <p:ph type="title"/>
          </p:nvPr>
        </p:nvSpPr>
        <p:spPr>
          <a:xfrm>
            <a:off x="457200" y="274638"/>
            <a:ext cx="8229600" cy="457199"/>
          </a:xfrm>
        </p:spPr>
        <p:txBody>
          <a:bodyPr>
            <a:normAutofit fontScale="90000"/>
          </a:bodyPr>
          <a:lstStyle/>
          <a:p>
            <a:r>
              <a:rPr lang="en-US" sz="3200" dirty="0"/>
              <a:t>built-in command </a:t>
            </a:r>
            <a:r>
              <a:rPr lang="en-US" sz="3200" dirty="0" err="1">
                <a:solidFill>
                  <a:srgbClr val="FF0000"/>
                </a:solidFill>
              </a:rPr>
              <a:t>System.out.println</a:t>
            </a:r>
            <a:r>
              <a:rPr lang="en-US" sz="3200" dirty="0"/>
              <a:t>(...)</a:t>
            </a:r>
          </a:p>
        </p:txBody>
      </p:sp>
      <p:sp>
        <p:nvSpPr>
          <p:cNvPr id="3" name="Content Placeholder 2">
            <a:extLst>
              <a:ext uri="{FF2B5EF4-FFF2-40B4-BE49-F238E27FC236}">
                <a16:creationId xmlns:a16="http://schemas.microsoft.com/office/drawing/2014/main" id="{BCCE1D7F-F3C3-1F16-0A01-981383E5EFC8}"/>
              </a:ext>
            </a:extLst>
          </p:cNvPr>
          <p:cNvSpPr>
            <a:spLocks noGrp="1"/>
          </p:cNvSpPr>
          <p:nvPr>
            <p:ph idx="1"/>
          </p:nvPr>
        </p:nvSpPr>
        <p:spPr>
          <a:xfrm>
            <a:off x="457200" y="838200"/>
            <a:ext cx="8229600" cy="5287963"/>
          </a:xfrm>
        </p:spPr>
        <p:txBody>
          <a:bodyPr>
            <a:normAutofit/>
          </a:bodyPr>
          <a:lstStyle/>
          <a:p>
            <a:pPr algn="just"/>
            <a:r>
              <a:rPr lang="en-US" sz="2400" dirty="0">
                <a:latin typeface="Times New Roman" panose="02020603050405020304" pitchFamily="18" charset="0"/>
                <a:cs typeface="Times New Roman" panose="02020603050405020304" pitchFamily="18" charset="0"/>
              </a:rPr>
              <a:t>This is the built-in command to print text onto your screen.</a:t>
            </a:r>
          </a:p>
          <a:p>
            <a:pPr algn="just"/>
            <a:r>
              <a:rPr lang="en-US" sz="2400" b="1" dirty="0">
                <a:latin typeface="Times New Roman" panose="02020603050405020304" pitchFamily="18" charset="0"/>
                <a:cs typeface="Times New Roman" panose="02020603050405020304" pitchFamily="18" charset="0"/>
              </a:rPr>
              <a:t>System: </a:t>
            </a:r>
            <a:r>
              <a:rPr lang="en-US" sz="2400" dirty="0">
                <a:latin typeface="Times New Roman" panose="02020603050405020304" pitchFamily="18" charset="0"/>
                <a:cs typeface="Times New Roman" panose="02020603050405020304" pitchFamily="18" charset="0"/>
              </a:rPr>
              <a:t>A pre-built class that holds system utilities.</a:t>
            </a:r>
          </a:p>
          <a:p>
            <a:pPr algn="just"/>
            <a:r>
              <a:rPr lang="en-US" sz="2400" b="1" dirty="0">
                <a:latin typeface="Times New Roman" panose="02020603050405020304" pitchFamily="18" charset="0"/>
                <a:cs typeface="Times New Roman" panose="02020603050405020304" pitchFamily="18" charset="0"/>
              </a:rPr>
              <a:t>out: </a:t>
            </a:r>
            <a:r>
              <a:rPr lang="en-US" sz="2400" dirty="0">
                <a:latin typeface="Times New Roman" panose="02020603050405020304" pitchFamily="18" charset="0"/>
                <a:cs typeface="Times New Roman" panose="02020603050405020304" pitchFamily="18" charset="0"/>
              </a:rPr>
              <a:t>The output stream directed to your console.</a:t>
            </a:r>
          </a:p>
          <a:p>
            <a:pPr algn="just"/>
            <a:r>
              <a:rPr lang="en-US" sz="2400" b="1" dirty="0" err="1">
                <a:latin typeface="Times New Roman" panose="02020603050405020304" pitchFamily="18" charset="0"/>
                <a:cs typeface="Times New Roman" panose="02020603050405020304" pitchFamily="18" charset="0"/>
              </a:rPr>
              <a:t>println</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Short for "print line." It displays the text and moves the cursor to the next line.</a:t>
            </a:r>
          </a:p>
          <a:p>
            <a:pPr algn="just"/>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Steps to Implement a Java Program</a:t>
            </a:r>
          </a:p>
          <a:p>
            <a:pPr fontAlgn="base"/>
            <a:r>
              <a:rPr lang="en-US" sz="2400" dirty="0">
                <a:latin typeface="Times New Roman" panose="02020603050405020304" pitchFamily="18" charset="0"/>
                <a:cs typeface="Times New Roman" panose="02020603050405020304" pitchFamily="18" charset="0"/>
              </a:rPr>
              <a:t>Java is a platform-independent language that follows a two-step execution process:</a:t>
            </a:r>
          </a:p>
          <a:p>
            <a:pPr fontAlgn="base"/>
            <a:r>
              <a:rPr lang="en-US" sz="2400" b="1" dirty="0">
                <a:latin typeface="Times New Roman" panose="02020603050405020304" pitchFamily="18" charset="0"/>
                <a:cs typeface="Times New Roman" panose="02020603050405020304" pitchFamily="18" charset="0"/>
              </a:rPr>
              <a:t>Compilation </a:t>
            </a:r>
            <a:r>
              <a:rPr lang="en-US" sz="2400" dirty="0">
                <a:latin typeface="Times New Roman" panose="02020603050405020304" pitchFamily="18" charset="0"/>
                <a:cs typeface="Times New Roman" panose="02020603050405020304" pitchFamily="18" charset="0"/>
              </a:rPr>
              <a:t>(source code -&gt; bytecode)</a:t>
            </a:r>
          </a:p>
          <a:p>
            <a:pPr fontAlgn="base"/>
            <a:r>
              <a:rPr lang="en-US" sz="2400" b="1" dirty="0">
                <a:latin typeface="Times New Roman" panose="02020603050405020304" pitchFamily="18" charset="0"/>
                <a:cs typeface="Times New Roman" panose="02020603050405020304" pitchFamily="18" charset="0"/>
              </a:rPr>
              <a:t>Execution </a:t>
            </a:r>
            <a:r>
              <a:rPr lang="en-US" sz="2400" dirty="0">
                <a:latin typeface="Times New Roman" panose="02020603050405020304" pitchFamily="18" charset="0"/>
                <a:cs typeface="Times New Roman" panose="02020603050405020304" pitchFamily="18" charset="0"/>
              </a:rPr>
              <a:t>(bytecode -&gt; machine code via JVM)</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109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BDC2-2441-2E88-7953-C74DCE524BA3}"/>
              </a:ext>
            </a:extLst>
          </p:cNvPr>
          <p:cNvSpPr>
            <a:spLocks noGrp="1"/>
          </p:cNvSpPr>
          <p:nvPr>
            <p:ph type="title"/>
          </p:nvPr>
        </p:nvSpPr>
        <p:spPr>
          <a:xfrm>
            <a:off x="457200" y="274638"/>
            <a:ext cx="8229600" cy="334962"/>
          </a:xfrm>
        </p:spPr>
        <p:txBody>
          <a:bodyPr>
            <a:normAutofit fontScale="90000"/>
          </a:bodyPr>
          <a:lstStyle/>
          <a:p>
            <a:r>
              <a:rPr lang="en-US" b="1" dirty="0"/>
              <a:t>Scanner class</a:t>
            </a:r>
            <a:endParaRPr lang="en-US" dirty="0"/>
          </a:p>
        </p:txBody>
      </p:sp>
      <p:sp>
        <p:nvSpPr>
          <p:cNvPr id="3" name="Content Placeholder 2">
            <a:extLst>
              <a:ext uri="{FF2B5EF4-FFF2-40B4-BE49-F238E27FC236}">
                <a16:creationId xmlns:a16="http://schemas.microsoft.com/office/drawing/2014/main" id="{DC101E0B-7ABE-85F9-27A9-7A9E864E69D4}"/>
              </a:ext>
            </a:extLst>
          </p:cNvPr>
          <p:cNvSpPr>
            <a:spLocks noGrp="1"/>
          </p:cNvSpPr>
          <p:nvPr>
            <p:ph idx="1"/>
          </p:nvPr>
        </p:nvSpPr>
        <p:spPr>
          <a:xfrm>
            <a:off x="457200" y="1066800"/>
            <a:ext cx="8229600" cy="4983163"/>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To read a value from the keyboard in Java, the easiest and most common way is to use the </a:t>
            </a:r>
            <a:r>
              <a:rPr lang="en-US" b="1" dirty="0">
                <a:latin typeface="Times New Roman" panose="02020603050405020304" pitchFamily="18" charset="0"/>
                <a:cs typeface="Times New Roman" panose="02020603050405020304" pitchFamily="18" charset="0"/>
              </a:rPr>
              <a:t>Scanner class</a:t>
            </a:r>
            <a:r>
              <a:rPr lang="en-US" dirty="0">
                <a:latin typeface="Times New Roman" panose="02020603050405020304" pitchFamily="18" charset="0"/>
                <a:cs typeface="Times New Roman" panose="02020603050405020304" pitchFamily="18" charset="0"/>
              </a:rPr>
              <a:t> from the </a:t>
            </a:r>
            <a:r>
              <a:rPr lang="en-US" dirty="0" err="1">
                <a:latin typeface="Times New Roman" panose="02020603050405020304" pitchFamily="18" charset="0"/>
                <a:cs typeface="Times New Roman" panose="02020603050405020304" pitchFamily="18" charset="0"/>
              </a:rPr>
              <a:t>java.util</a:t>
            </a:r>
            <a:r>
              <a:rPr lang="en-US" dirty="0">
                <a:latin typeface="Times New Roman" panose="02020603050405020304" pitchFamily="18" charset="0"/>
                <a:cs typeface="Times New Roman" panose="02020603050405020304" pitchFamily="18" charset="0"/>
              </a:rPr>
              <a:t> package.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Essential Scanner Methods</a:t>
            </a:r>
          </a:p>
          <a:p>
            <a:pPr marL="0" indent="0" algn="just">
              <a:buNone/>
            </a:pPr>
            <a:r>
              <a:rPr lang="en-US" dirty="0">
                <a:latin typeface="Times New Roman" panose="02020603050405020304" pitchFamily="18" charset="0"/>
                <a:cs typeface="Times New Roman" panose="02020603050405020304" pitchFamily="18" charset="0"/>
              </a:rPr>
              <a:t>Depending on what type of data you want to collect…</a:t>
            </a:r>
          </a:p>
          <a:p>
            <a:pPr algn="just"/>
            <a:r>
              <a:rPr lang="en-US" b="1" dirty="0" err="1">
                <a:latin typeface="Times New Roman" panose="02020603050405020304" pitchFamily="18" charset="0"/>
                <a:cs typeface="Times New Roman" panose="02020603050405020304" pitchFamily="18" charset="0"/>
              </a:rPr>
              <a:t>nextLine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line of text.</a:t>
            </a:r>
          </a:p>
          <a:p>
            <a:pPr algn="just"/>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Reads just a single word (stops at the first space).</a:t>
            </a:r>
          </a:p>
          <a:p>
            <a:pPr algn="just"/>
            <a:r>
              <a:rPr lang="en-US" b="1" dirty="0" err="1">
                <a:latin typeface="Times New Roman" panose="02020603050405020304" pitchFamily="18" charset="0"/>
                <a:cs typeface="Times New Roman" panose="02020603050405020304" pitchFamily="18" charset="0"/>
              </a:rPr>
              <a:t>nextInt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number (int).</a:t>
            </a:r>
          </a:p>
          <a:p>
            <a:pPr algn="just"/>
            <a:r>
              <a:rPr lang="en-US" b="1" dirty="0" err="1">
                <a:latin typeface="Times New Roman" panose="02020603050405020304" pitchFamily="18" charset="0"/>
                <a:cs typeface="Times New Roman" panose="02020603050405020304" pitchFamily="18" charset="0"/>
              </a:rPr>
              <a:t>nextDouble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decimal number (double).</a:t>
            </a:r>
          </a:p>
          <a:p>
            <a:pPr algn="just"/>
            <a:r>
              <a:rPr lang="en-US" b="1" dirty="0" err="1">
                <a:latin typeface="Times New Roman" panose="02020603050405020304" pitchFamily="18" charset="0"/>
                <a:cs typeface="Times New Roman" panose="02020603050405020304" pitchFamily="18" charset="0"/>
              </a:rPr>
              <a:t>nextBoolean</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true or false value.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312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2373D-2B3E-8CC0-DA7D-D464E9D66C24}"/>
              </a:ext>
            </a:extLst>
          </p:cNvPr>
          <p:cNvSpPr>
            <a:spLocks noGrp="1"/>
          </p:cNvSpPr>
          <p:nvPr>
            <p:ph idx="1"/>
          </p:nvPr>
        </p:nvSpPr>
        <p:spPr>
          <a:xfrm>
            <a:off x="457200" y="228600"/>
            <a:ext cx="8229600" cy="5897563"/>
          </a:xfrm>
        </p:spPr>
        <p:txBody>
          <a:bodyPr>
            <a:normAutofit lnSpcReduction="10000"/>
          </a:bodyPr>
          <a:lstStyle/>
          <a:p>
            <a:pPr marL="0" indent="0">
              <a:buNone/>
            </a:pPr>
            <a:r>
              <a:rPr lang="en-US" dirty="0">
                <a:solidFill>
                  <a:srgbClr val="FF0000"/>
                </a:solidFill>
              </a:rPr>
              <a:t>Program :- To print a message on the screen.</a:t>
            </a:r>
          </a:p>
          <a:p>
            <a:pPr marL="514350" indent="-514350">
              <a:buFont typeface="+mj-lt"/>
              <a:buAutoNum type="arabicParenR"/>
            </a:pPr>
            <a:r>
              <a:rPr lang="en-US" dirty="0"/>
              <a:t>Create a class. </a:t>
            </a:r>
          </a:p>
          <a:p>
            <a:pPr marL="514350" indent="-514350">
              <a:buFont typeface="+mj-lt"/>
              <a:buAutoNum type="arabicParenR"/>
            </a:pPr>
            <a:r>
              <a:rPr lang="en-US" dirty="0"/>
              <a:t>Define the main() method. </a:t>
            </a:r>
          </a:p>
          <a:p>
            <a:pPr marL="514350" indent="-514350">
              <a:buFont typeface="+mj-lt"/>
              <a:buAutoNum type="arabicParenR"/>
            </a:pPr>
            <a:r>
              <a:rPr lang="en-US" dirty="0"/>
              <a:t>Use </a:t>
            </a:r>
            <a:r>
              <a:rPr lang="en-US" dirty="0" err="1"/>
              <a:t>System.out.println</a:t>
            </a:r>
            <a:r>
              <a:rPr lang="en-US" dirty="0"/>
              <a:t>() to print the message.</a:t>
            </a:r>
          </a:p>
          <a:p>
            <a:pPr marL="514350" indent="-514350">
              <a:buFont typeface="+mj-lt"/>
              <a:buAutoNum type="arabicParenR"/>
            </a:pPr>
            <a:endParaRPr lang="en-US" dirty="0"/>
          </a:p>
          <a:p>
            <a:pPr marL="0" indent="0">
              <a:buNone/>
            </a:pPr>
            <a:r>
              <a:rPr lang="en-US" dirty="0"/>
              <a:t>public class HelloWorld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System.out.println</a:t>
            </a:r>
            <a:r>
              <a:rPr lang="en-US" dirty="0"/>
              <a:t>("Hello, World!");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735397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E7EB6A-967D-9AF1-A305-933089CA6A47}"/>
              </a:ext>
            </a:extLst>
          </p:cNvPr>
          <p:cNvSpPr>
            <a:spLocks noGrp="1"/>
          </p:cNvSpPr>
          <p:nvPr>
            <p:ph idx="1"/>
          </p:nvPr>
        </p:nvSpPr>
        <p:spPr>
          <a:xfrm>
            <a:off x="457200" y="365918"/>
            <a:ext cx="8229600" cy="6126163"/>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public class HelloWorld {</a:t>
            </a: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Explanation</a:t>
            </a:r>
          </a:p>
          <a:p>
            <a:r>
              <a:rPr lang="en-US" b="1" i="1" dirty="0">
                <a:solidFill>
                  <a:srgbClr val="FF0000"/>
                </a:solidFill>
                <a:latin typeface="Times New Roman" panose="02020603050405020304" pitchFamily="18" charset="0"/>
                <a:cs typeface="Times New Roman" panose="02020603050405020304" pitchFamily="18" charset="0"/>
              </a:rPr>
              <a:t>public class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 creates a class named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t>
            </a:r>
          </a:p>
          <a:p>
            <a:r>
              <a:rPr lang="en-US" dirty="0">
                <a:solidFill>
                  <a:srgbClr val="C00000"/>
                </a:solidFill>
                <a:latin typeface="Times New Roman" panose="02020603050405020304" pitchFamily="18" charset="0"/>
                <a:cs typeface="Times New Roman" panose="02020603050405020304" pitchFamily="18" charset="0"/>
              </a:rPr>
              <a:t>public static void main(String[] </a:t>
            </a:r>
            <a:r>
              <a:rPr lang="en-US" dirty="0" err="1">
                <a:solidFill>
                  <a:srgbClr val="C00000"/>
                </a:solidFill>
                <a:latin typeface="Times New Roman" panose="02020603050405020304" pitchFamily="18" charset="0"/>
                <a:cs typeface="Times New Roman" panose="02020603050405020304" pitchFamily="18" charset="0"/>
              </a:rPr>
              <a:t>args</a:t>
            </a:r>
            <a:r>
              <a:rPr lang="en-US"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the </a:t>
            </a:r>
            <a:r>
              <a:rPr lang="en-US" b="1" i="1" dirty="0">
                <a:solidFill>
                  <a:srgbClr val="FF0000"/>
                </a:solidFill>
                <a:latin typeface="Times New Roman" panose="02020603050405020304" pitchFamily="18" charset="0"/>
                <a:cs typeface="Times New Roman" panose="02020603050405020304" pitchFamily="18" charset="0"/>
              </a:rPr>
              <a:t>entry point </a:t>
            </a:r>
            <a:r>
              <a:rPr lang="en-US" dirty="0">
                <a:latin typeface="Times New Roman" panose="02020603050405020304" pitchFamily="18" charset="0"/>
                <a:cs typeface="Times New Roman" panose="02020603050405020304" pitchFamily="18" charset="0"/>
              </a:rPr>
              <a:t>of every Java program.</a:t>
            </a:r>
          </a:p>
          <a:p>
            <a:pPr marL="0" indent="0">
              <a:buNone/>
            </a:pPr>
            <a:endParaRPr lang="en-US" dirty="0">
              <a:latin typeface="Times New Roman" panose="02020603050405020304" pitchFamily="18" charset="0"/>
              <a:cs typeface="Times New Roman" panose="02020603050405020304" pitchFamily="18" charset="0"/>
            </a:endParaRPr>
          </a:p>
          <a:p>
            <a:r>
              <a:rPr lang="en-US" b="1" i="1" dirty="0" err="1">
                <a:solidFill>
                  <a:srgbClr val="FF0000"/>
                </a:solidFill>
                <a:latin typeface="Times New Roman" panose="02020603050405020304" pitchFamily="18" charset="0"/>
                <a:cs typeface="Times New Roman" panose="02020603050405020304" pitchFamily="18" charset="0"/>
              </a:rPr>
              <a:t>System.out.println</a:t>
            </a:r>
            <a:r>
              <a:rPr lang="en-US" b="1" i="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prints text on the console and moves the cursor to the next line.</a:t>
            </a:r>
          </a:p>
          <a:p>
            <a:r>
              <a:rPr lang="en-US" sz="2800" b="1" dirty="0"/>
              <a:t>System </a:t>
            </a:r>
            <a:r>
              <a:rPr lang="en-US" sz="2800" dirty="0"/>
              <a:t>is a </a:t>
            </a:r>
            <a:r>
              <a:rPr lang="en-US" sz="2800" dirty="0">
                <a:solidFill>
                  <a:srgbClr val="FF0000"/>
                </a:solidFill>
              </a:rPr>
              <a:t>predefined class </a:t>
            </a:r>
            <a:r>
              <a:rPr lang="en-US" sz="2800" dirty="0"/>
              <a:t>in the </a:t>
            </a:r>
            <a:r>
              <a:rPr lang="en-US" sz="2800" dirty="0" err="1"/>
              <a:t>java.lang</a:t>
            </a:r>
            <a:r>
              <a:rPr lang="en-US" sz="2800" dirty="0"/>
              <a:t> package.</a:t>
            </a:r>
          </a:p>
          <a:p>
            <a:r>
              <a:rPr lang="en-US" sz="2800" b="1" dirty="0"/>
              <a:t>out</a:t>
            </a:r>
            <a:r>
              <a:rPr lang="en-US" sz="2800" dirty="0"/>
              <a:t> is a </a:t>
            </a:r>
            <a:r>
              <a:rPr lang="en-US" sz="2800" dirty="0">
                <a:solidFill>
                  <a:srgbClr val="FF0000"/>
                </a:solidFill>
              </a:rPr>
              <a:t>static object </a:t>
            </a:r>
            <a:r>
              <a:rPr lang="en-US" sz="2800" dirty="0"/>
              <a:t>of the </a:t>
            </a:r>
            <a:r>
              <a:rPr lang="en-US" sz="2800" dirty="0" err="1"/>
              <a:t>PrintStream</a:t>
            </a:r>
            <a:r>
              <a:rPr lang="en-US" sz="2800" dirty="0"/>
              <a:t> class.</a:t>
            </a:r>
          </a:p>
          <a:p>
            <a:r>
              <a:rPr lang="en-US" sz="2800" b="1" dirty="0" err="1"/>
              <a:t>println</a:t>
            </a:r>
            <a:r>
              <a:rPr lang="en-US" sz="2800" b="1" dirty="0"/>
              <a:t>()</a:t>
            </a:r>
            <a:r>
              <a:rPr lang="en-US" sz="2800" dirty="0"/>
              <a:t> is a </a:t>
            </a:r>
            <a:r>
              <a:rPr lang="en-US" sz="2800" dirty="0">
                <a:solidFill>
                  <a:srgbClr val="FF0000"/>
                </a:solidFill>
              </a:rPr>
              <a:t>method</a:t>
            </a:r>
            <a:r>
              <a:rPr lang="en-US" sz="2800" dirty="0"/>
              <a:t> of the </a:t>
            </a:r>
            <a:r>
              <a:rPr lang="en-US" sz="2800" dirty="0" err="1"/>
              <a:t>PrintStream</a:t>
            </a:r>
            <a:r>
              <a:rPr lang="en-US" sz="2800" dirty="0"/>
              <a:t> class.</a:t>
            </a:r>
          </a:p>
          <a:p>
            <a:endParaRPr lang="en-US" sz="2800" dirty="0"/>
          </a:p>
          <a:p>
            <a:endParaRPr lang="en-US" dirty="0"/>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494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5FDBC-FAEF-89C8-1233-319CE9E52D58}"/>
              </a:ext>
            </a:extLst>
          </p:cNvPr>
          <p:cNvSpPr>
            <a:spLocks noGrp="1"/>
          </p:cNvSpPr>
          <p:nvPr>
            <p:ph idx="1"/>
          </p:nvPr>
        </p:nvSpPr>
        <p:spPr>
          <a:xfrm>
            <a:off x="457200" y="228600"/>
            <a:ext cx="8229600" cy="5897563"/>
          </a:xfrm>
        </p:spPr>
        <p:txBody>
          <a:bodyPr/>
          <a:lstStyle/>
          <a:p>
            <a:pPr marL="0" indent="0">
              <a:buNone/>
            </a:pPr>
            <a:r>
              <a:rPr lang="en-US" dirty="0">
                <a:solidFill>
                  <a:srgbClr val="FF0000"/>
                </a:solidFill>
              </a:rPr>
              <a:t>Program – 2:- To add two integers entered by the user.</a:t>
            </a:r>
          </a:p>
          <a:p>
            <a:pPr marL="514350" indent="-514350">
              <a:buFont typeface="+mj-lt"/>
              <a:buAutoNum type="arabicParenR"/>
            </a:pPr>
            <a:r>
              <a:rPr lang="en-US" dirty="0"/>
              <a:t>Import the Scanner class. </a:t>
            </a:r>
          </a:p>
          <a:p>
            <a:pPr marL="514350" indent="-514350">
              <a:buFont typeface="+mj-lt"/>
              <a:buAutoNum type="arabicParenR"/>
            </a:pPr>
            <a:r>
              <a:rPr lang="en-US" dirty="0"/>
              <a:t>Read two numbers from the keyboard. </a:t>
            </a:r>
          </a:p>
          <a:p>
            <a:pPr marL="514350" indent="-514350">
              <a:buFont typeface="+mj-lt"/>
              <a:buAutoNum type="arabicParenR"/>
            </a:pPr>
            <a:r>
              <a:rPr lang="en-US" dirty="0"/>
              <a:t>Add the numbers. </a:t>
            </a:r>
          </a:p>
          <a:p>
            <a:pPr marL="514350" indent="-514350">
              <a:buFont typeface="+mj-lt"/>
              <a:buAutoNum type="arabicParenR"/>
            </a:pPr>
            <a:r>
              <a:rPr lang="en-US" dirty="0"/>
              <a:t>Display the result.</a:t>
            </a:r>
          </a:p>
          <a:p>
            <a:pPr marL="0" indent="0">
              <a:buNone/>
            </a:pPr>
            <a:endParaRPr lang="en-US" dirty="0">
              <a:solidFill>
                <a:srgbClr val="FF0000"/>
              </a:solidFill>
            </a:endParaRPr>
          </a:p>
        </p:txBody>
      </p:sp>
    </p:spTree>
    <p:extLst>
      <p:ext uri="{BB962C8B-B14F-4D97-AF65-F5344CB8AC3E}">
        <p14:creationId xmlns:p14="http://schemas.microsoft.com/office/powerpoint/2010/main" val="20407003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C3C35-2A9C-3B57-9842-1D65EF42F3A4}"/>
              </a:ext>
            </a:extLst>
          </p:cNvPr>
          <p:cNvSpPr>
            <a:spLocks noGrp="1"/>
          </p:cNvSpPr>
          <p:nvPr>
            <p:ph type="title"/>
          </p:nvPr>
        </p:nvSpPr>
        <p:spPr/>
        <p:txBody>
          <a:bodyPr>
            <a:noAutofit/>
          </a:bodyPr>
          <a:lstStyle/>
          <a:p>
            <a:r>
              <a:rPr lang="en-US" sz="3600" dirty="0">
                <a:solidFill>
                  <a:srgbClr val="FF0000"/>
                </a:solidFill>
              </a:rPr>
              <a:t>Scanner </a:t>
            </a:r>
            <a:r>
              <a:rPr lang="en-US" sz="3600" dirty="0" err="1"/>
              <a:t>sc</a:t>
            </a:r>
            <a:r>
              <a:rPr lang="en-US" sz="3600" dirty="0">
                <a:solidFill>
                  <a:srgbClr val="FF0000"/>
                </a:solidFill>
              </a:rPr>
              <a:t> = </a:t>
            </a:r>
            <a:r>
              <a:rPr lang="en-US" sz="3600" dirty="0">
                <a:solidFill>
                  <a:schemeClr val="accent1"/>
                </a:solidFill>
              </a:rPr>
              <a:t>new</a:t>
            </a:r>
            <a:r>
              <a:rPr lang="en-US" sz="3600" dirty="0">
                <a:solidFill>
                  <a:srgbClr val="FF0000"/>
                </a:solidFill>
              </a:rPr>
              <a:t> Scanner(</a:t>
            </a:r>
            <a:r>
              <a:rPr lang="en-US" sz="3600" dirty="0"/>
              <a:t>System.in</a:t>
            </a:r>
            <a:r>
              <a:rPr lang="en-US" sz="3600" dirty="0">
                <a:solidFill>
                  <a:srgbClr val="FF0000"/>
                </a:solidFill>
              </a:rPr>
              <a:t>);</a:t>
            </a:r>
          </a:p>
        </p:txBody>
      </p:sp>
      <p:sp>
        <p:nvSpPr>
          <p:cNvPr id="3" name="Content Placeholder 2">
            <a:extLst>
              <a:ext uri="{FF2B5EF4-FFF2-40B4-BE49-F238E27FC236}">
                <a16:creationId xmlns:a16="http://schemas.microsoft.com/office/drawing/2014/main" id="{A0359865-EAF7-D79C-C98E-C7373E922D48}"/>
              </a:ext>
            </a:extLst>
          </p:cNvPr>
          <p:cNvSpPr>
            <a:spLocks noGrp="1"/>
          </p:cNvSpPr>
          <p:nvPr>
            <p:ph idx="1"/>
          </p:nvPr>
        </p:nvSpPr>
        <p:spPr/>
        <p:txBody>
          <a:bodyPr>
            <a:normAutofit fontScale="70000" lnSpcReduction="20000"/>
          </a:bodyPr>
          <a:lstStyle/>
          <a:p>
            <a:pPr marL="0" indent="0" algn="just">
              <a:buNone/>
            </a:pPr>
            <a:r>
              <a:rPr lang="en-US" b="1" dirty="0">
                <a:latin typeface="Times New Roman" panose="02020603050405020304" pitchFamily="18" charset="0"/>
                <a:cs typeface="Times New Roman" panose="02020603050405020304" pitchFamily="18" charset="0"/>
              </a:rPr>
              <a:t>Scanner</a:t>
            </a:r>
          </a:p>
          <a:p>
            <a:pPr algn="just"/>
            <a:r>
              <a:rPr lang="en-US" dirty="0">
                <a:latin typeface="Times New Roman" panose="02020603050405020304" pitchFamily="18" charset="0"/>
                <a:cs typeface="Times New Roman" panose="02020603050405020304" pitchFamily="18" charset="0"/>
              </a:rPr>
              <a:t>Scanner is </a:t>
            </a:r>
            <a:r>
              <a:rPr lang="en-US" dirty="0">
                <a:solidFill>
                  <a:srgbClr val="FF0000"/>
                </a:solidFill>
                <a:latin typeface="Times New Roman" panose="02020603050405020304" pitchFamily="18" charset="0"/>
                <a:cs typeface="Times New Roman" panose="02020603050405020304" pitchFamily="18" charset="0"/>
              </a:rPr>
              <a:t>a predefined class in the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package. </a:t>
            </a:r>
          </a:p>
          <a:p>
            <a:pPr algn="just"/>
            <a:r>
              <a:rPr lang="en-US" dirty="0">
                <a:latin typeface="Times New Roman" panose="02020603050405020304" pitchFamily="18" charset="0"/>
                <a:cs typeface="Times New Roman" panose="02020603050405020304" pitchFamily="18" charset="0"/>
              </a:rPr>
              <a:t>It is used to read different types of input such as integers, floating-point numbers, characters, words, and strings from the user.</a:t>
            </a:r>
          </a:p>
          <a:p>
            <a:pPr algn="just"/>
            <a:r>
              <a:rPr lang="en-US" dirty="0">
                <a:latin typeface="Times New Roman" panose="02020603050405020304" pitchFamily="18" charset="0"/>
                <a:cs typeface="Times New Roman" panose="02020603050405020304" pitchFamily="18" charset="0"/>
              </a:rPr>
              <a:t>Before using Scanner, you must import it:</a:t>
            </a: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java.util.Scanner</a:t>
            </a:r>
            <a:r>
              <a:rPr lang="en-US">
                <a:solidFill>
                  <a:srgbClr val="FF0000"/>
                </a:solidFill>
                <a:latin typeface="Times New Roman" panose="02020603050405020304" pitchFamily="18" charset="0"/>
                <a:cs typeface="Times New Roman" panose="02020603050405020304" pitchFamily="18" charset="0"/>
              </a:rPr>
              <a:t>; (or)</a:t>
            </a:r>
            <a:endParaRPr lang="en-US" dirty="0">
              <a:solidFill>
                <a:srgbClr val="FF0000"/>
              </a:solidFill>
              <a:latin typeface="Times New Roman" panose="02020603050405020304" pitchFamily="18" charset="0"/>
              <a:cs typeface="Times New Roman" panose="02020603050405020304" pitchFamily="18" charset="0"/>
            </a:endParaRP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Sc </a:t>
            </a:r>
          </a:p>
          <a:p>
            <a:pPr algn="just"/>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is the </a:t>
            </a:r>
            <a:r>
              <a:rPr lang="en-US" b="1" dirty="0">
                <a:latin typeface="Times New Roman" panose="02020603050405020304" pitchFamily="18" charset="0"/>
                <a:cs typeface="Times New Roman" panose="02020603050405020304" pitchFamily="18" charset="0"/>
              </a:rPr>
              <a:t>reference variable</a:t>
            </a:r>
            <a:r>
              <a:rPr lang="en-US" dirty="0">
                <a:latin typeface="Times New Roman" panose="02020603050405020304" pitchFamily="18" charset="0"/>
                <a:cs typeface="Times New Roman" panose="02020603050405020304" pitchFamily="18" charset="0"/>
              </a:rPr>
              <a:t> (or object name). </a:t>
            </a:r>
          </a:p>
          <a:p>
            <a:pPr algn="just"/>
            <a:r>
              <a:rPr lang="en-US" dirty="0">
                <a:latin typeface="Times New Roman" panose="02020603050405020304" pitchFamily="18" charset="0"/>
                <a:cs typeface="Times New Roman" panose="02020603050405020304" pitchFamily="18" charset="0"/>
              </a:rPr>
              <a:t>It refers to the Scanner object. </a:t>
            </a:r>
          </a:p>
          <a:p>
            <a:pPr algn="just"/>
            <a:r>
              <a:rPr lang="en-US" dirty="0">
                <a:latin typeface="Times New Roman" panose="02020603050405020304" pitchFamily="18" charset="0"/>
                <a:cs typeface="Times New Roman" panose="02020603050405020304" pitchFamily="18" charset="0"/>
              </a:rPr>
              <a:t>You can choose any valid name instead of </a:t>
            </a:r>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such as input or scanner.</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6855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0F16-451F-CE02-CEEE-834D85E3B248}"/>
              </a:ext>
            </a:extLst>
          </p:cNvPr>
          <p:cNvSpPr>
            <a:spLocks noGrp="1"/>
          </p:cNvSpPr>
          <p:nvPr>
            <p:ph type="title"/>
          </p:nvPr>
        </p:nvSpPr>
        <p:spPr/>
        <p:txBody>
          <a:bodyPr>
            <a:normAutofit fontScale="90000"/>
          </a:bodyPr>
          <a:lstStyle/>
          <a:p>
            <a:r>
              <a:rPr lang="en-US" dirty="0">
                <a:solidFill>
                  <a:srgbClr val="FF0000"/>
                </a:solidFill>
              </a:rPr>
              <a:t>Scanner </a:t>
            </a:r>
            <a:r>
              <a:rPr lang="en-US" dirty="0" err="1"/>
              <a:t>sc</a:t>
            </a:r>
            <a:r>
              <a:rPr lang="en-US" dirty="0">
                <a:solidFill>
                  <a:srgbClr val="FF0000"/>
                </a:solidFill>
              </a:rPr>
              <a:t> = </a:t>
            </a:r>
            <a:r>
              <a:rPr lang="en-US" dirty="0">
                <a:solidFill>
                  <a:schemeClr val="accent1"/>
                </a:solidFill>
              </a:rPr>
              <a:t>new</a:t>
            </a:r>
            <a:r>
              <a:rPr lang="en-US" dirty="0">
                <a:solidFill>
                  <a:srgbClr val="FF0000"/>
                </a:solidFill>
              </a:rPr>
              <a:t> Scanner(</a:t>
            </a:r>
            <a:r>
              <a:rPr lang="en-US" dirty="0"/>
              <a:t>System.in</a:t>
            </a:r>
            <a:r>
              <a:rPr lang="en-US" dirty="0">
                <a:solidFill>
                  <a:srgbClr val="FF0000"/>
                </a:solidFill>
              </a:rPr>
              <a:t>);</a:t>
            </a:r>
            <a:endParaRPr lang="en-US" dirty="0"/>
          </a:p>
        </p:txBody>
      </p:sp>
      <p:sp>
        <p:nvSpPr>
          <p:cNvPr id="3" name="Content Placeholder 2">
            <a:extLst>
              <a:ext uri="{FF2B5EF4-FFF2-40B4-BE49-F238E27FC236}">
                <a16:creationId xmlns:a16="http://schemas.microsoft.com/office/drawing/2014/main" id="{70BDF06C-BC4F-EE7D-BD1A-EA6FFCA80945}"/>
              </a:ext>
            </a:extLst>
          </p:cNvPr>
          <p:cNvSpPr>
            <a:spLocks noGrp="1"/>
          </p:cNvSpPr>
          <p:nvPr>
            <p:ph idx="1"/>
          </p:nvPr>
        </p:nvSpPr>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 3) new</a:t>
            </a:r>
          </a:p>
          <a:p>
            <a:pPr algn="just"/>
            <a:r>
              <a:rPr lang="en-US" sz="2200" dirty="0">
                <a:latin typeface="Times New Roman" panose="02020603050405020304" pitchFamily="18" charset="0"/>
                <a:cs typeface="Times New Roman" panose="02020603050405020304" pitchFamily="18" charset="0"/>
              </a:rPr>
              <a:t>new is a Java keyword used to </a:t>
            </a:r>
            <a:r>
              <a:rPr lang="en-US" sz="2200" b="1" dirty="0">
                <a:solidFill>
                  <a:srgbClr val="FF0000"/>
                </a:solidFill>
                <a:latin typeface="Times New Roman" panose="02020603050405020304" pitchFamily="18" charset="0"/>
                <a:cs typeface="Times New Roman" panose="02020603050405020304" pitchFamily="18" charset="0"/>
              </a:rPr>
              <a:t>create an object</a:t>
            </a:r>
            <a:r>
              <a:rPr lang="en-US" sz="2200" dirty="0">
                <a:latin typeface="Times New Roman" panose="02020603050405020304" pitchFamily="18" charset="0"/>
                <a:cs typeface="Times New Roman" panose="02020603050405020304" pitchFamily="18" charset="0"/>
              </a:rPr>
              <a:t>. </a:t>
            </a:r>
          </a:p>
          <a:p>
            <a:pPr algn="just"/>
            <a:r>
              <a:rPr lang="en-US" sz="2200" dirty="0">
                <a:latin typeface="Times New Roman" panose="02020603050405020304" pitchFamily="18" charset="0"/>
                <a:cs typeface="Times New Roman" panose="02020603050405020304" pitchFamily="18" charset="0"/>
              </a:rPr>
              <a:t>It allocates memory for the object and calls the constructor of the class.</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b="1" dirty="0">
                <a:latin typeface="Times New Roman" panose="02020603050405020304" pitchFamily="18" charset="0"/>
                <a:cs typeface="Times New Roman" panose="02020603050405020304" pitchFamily="18" charset="0"/>
              </a:rPr>
              <a:t>4) Scanner(System.in)</a:t>
            </a:r>
          </a:p>
          <a:p>
            <a:pPr algn="just"/>
            <a:r>
              <a:rPr lang="en-US" sz="2200" dirty="0">
                <a:latin typeface="Times New Roman" panose="02020603050405020304" pitchFamily="18" charset="0"/>
                <a:cs typeface="Times New Roman" panose="02020603050405020304" pitchFamily="18" charset="0"/>
              </a:rPr>
              <a:t>Scanner() is the constructor of the Scanner class. </a:t>
            </a:r>
          </a:p>
          <a:p>
            <a:pPr algn="just"/>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represents the </a:t>
            </a:r>
            <a:r>
              <a:rPr lang="en-US" sz="2200" b="1" dirty="0">
                <a:latin typeface="Times New Roman" panose="02020603050405020304" pitchFamily="18" charset="0"/>
                <a:cs typeface="Times New Roman" panose="02020603050405020304" pitchFamily="18" charset="0"/>
              </a:rPr>
              <a:t>standard input stream</a:t>
            </a:r>
            <a:r>
              <a:rPr lang="en-US" sz="2200" dirty="0">
                <a:latin typeface="Times New Roman" panose="02020603050405020304" pitchFamily="18" charset="0"/>
                <a:cs typeface="Times New Roman" panose="02020603050405020304" pitchFamily="18" charset="0"/>
              </a:rPr>
              <a:t>, which is usually the keyboard. </a:t>
            </a:r>
          </a:p>
          <a:p>
            <a:pPr algn="just"/>
            <a:r>
              <a:rPr lang="en-US" sz="2200" dirty="0">
                <a:latin typeface="Times New Roman" panose="02020603050405020304" pitchFamily="18" charset="0"/>
                <a:cs typeface="Times New Roman" panose="02020603050405020304" pitchFamily="18" charset="0"/>
              </a:rPr>
              <a:t>Passing </a:t>
            </a:r>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to the constructor tells the Scanner to read input from the keyboard.</a:t>
            </a:r>
          </a:p>
          <a:p>
            <a:pPr marL="0" indent="0" algn="just">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9922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CEC34-113E-2BF4-673B-F5F7E93808BA}"/>
              </a:ext>
            </a:extLst>
          </p:cNvPr>
          <p:cNvSpPr>
            <a:spLocks noGrp="1"/>
          </p:cNvSpPr>
          <p:nvPr>
            <p:ph idx="1"/>
          </p:nvPr>
        </p:nvSpPr>
        <p:spPr>
          <a:xfrm>
            <a:off x="457200" y="533400"/>
            <a:ext cx="8229600" cy="5592763"/>
          </a:xfrm>
        </p:spPr>
        <p:txBody>
          <a:bodyPr>
            <a:normAutofit lnSpcReduction="10000"/>
          </a:bodyPr>
          <a:lstStyle/>
          <a:p>
            <a:pPr marL="0" indent="0" algn="ctr">
              <a:buNone/>
            </a:pPr>
            <a:r>
              <a:rPr lang="en-US" dirty="0"/>
              <a:t>Keyboard</a:t>
            </a:r>
          </a:p>
          <a:p>
            <a:pPr marL="0" indent="0" algn="ctr">
              <a:buNone/>
            </a:pPr>
            <a:r>
              <a:rPr lang="en-US" dirty="0"/>
              <a:t>    │</a:t>
            </a:r>
          </a:p>
          <a:p>
            <a:pPr marL="0" indent="0" algn="ctr">
              <a:buNone/>
            </a:pPr>
            <a:r>
              <a:rPr lang="en-US" dirty="0"/>
              <a:t>    ▼</a:t>
            </a:r>
          </a:p>
          <a:p>
            <a:pPr marL="0" indent="0" algn="ctr">
              <a:buNone/>
            </a:pPr>
            <a:r>
              <a:rPr lang="en-US" dirty="0"/>
              <a:t>System.in</a:t>
            </a:r>
          </a:p>
          <a:p>
            <a:pPr marL="0" indent="0" algn="ctr">
              <a:buNone/>
            </a:pPr>
            <a:r>
              <a:rPr lang="en-US" dirty="0"/>
              <a:t>    │</a:t>
            </a:r>
          </a:p>
          <a:p>
            <a:pPr marL="0" indent="0" algn="ctr">
              <a:buNone/>
            </a:pPr>
            <a:r>
              <a:rPr lang="en-US" dirty="0"/>
              <a:t>    ▼</a:t>
            </a:r>
          </a:p>
          <a:p>
            <a:pPr marL="0" indent="0" algn="ctr">
              <a:buNone/>
            </a:pPr>
            <a:r>
              <a:rPr lang="en-US" dirty="0"/>
              <a:t>Scanner Object (</a:t>
            </a:r>
            <a:r>
              <a:rPr lang="en-US" dirty="0" err="1"/>
              <a:t>sc</a:t>
            </a:r>
            <a:r>
              <a:rPr lang="en-US" dirty="0"/>
              <a:t>)</a:t>
            </a:r>
          </a:p>
          <a:p>
            <a:pPr marL="0" indent="0" algn="ctr">
              <a:buNone/>
            </a:pPr>
            <a:r>
              <a:rPr lang="en-US" dirty="0"/>
              <a:t>    │</a:t>
            </a:r>
          </a:p>
          <a:p>
            <a:pPr marL="0" indent="0" algn="ctr">
              <a:buNone/>
            </a:pPr>
            <a:r>
              <a:rPr lang="en-US" dirty="0"/>
              <a:t>    ▼</a:t>
            </a:r>
          </a:p>
          <a:p>
            <a:pPr marL="0" indent="0" algn="ctr">
              <a:buNone/>
            </a:pPr>
            <a:r>
              <a:rPr lang="en-US" dirty="0"/>
              <a:t>Reads user input</a:t>
            </a:r>
          </a:p>
        </p:txBody>
      </p:sp>
    </p:spTree>
    <p:extLst>
      <p:ext uri="{BB962C8B-B14F-4D97-AF65-F5344CB8AC3E}">
        <p14:creationId xmlns:p14="http://schemas.microsoft.com/office/powerpoint/2010/main" val="352375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06A12-6EFB-4982-B029-2580E2133B94}"/>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latin typeface="Times New Roman" panose="02020603050405020304" pitchFamily="18" charset="0"/>
                <a:cs typeface="Times New Roman" panose="02020603050405020304" pitchFamily="18" charset="0"/>
              </a:rPr>
              <a:t>//1 Import the Scanner class. </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Addition {</a:t>
            </a: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//2 Read two numbers from the keyboard. </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a:t>Creates a Scanner object to read keyboard input.</a:t>
            </a: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first number: ");</a:t>
            </a:r>
          </a:p>
          <a:p>
            <a:pPr marL="0" indent="0">
              <a:buNone/>
            </a:pPr>
            <a:r>
              <a:rPr lang="en-US" sz="1600" b="1" dirty="0">
                <a:latin typeface="Times New Roman" panose="02020603050405020304" pitchFamily="18" charset="0"/>
                <a:cs typeface="Times New Roman" panose="02020603050405020304" pitchFamily="18" charset="0"/>
              </a:rPr>
              <a:t>        int a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second number: ");</a:t>
            </a:r>
          </a:p>
          <a:p>
            <a:pPr marL="0" indent="0">
              <a:buNone/>
            </a:pPr>
            <a:r>
              <a:rPr lang="en-US" sz="1600" b="1" dirty="0">
                <a:latin typeface="Times New Roman" panose="02020603050405020304" pitchFamily="18" charset="0"/>
                <a:cs typeface="Times New Roman" panose="02020603050405020304" pitchFamily="18" charset="0"/>
              </a:rPr>
              <a:t>        int b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//3 Add the numbers. </a:t>
            </a:r>
          </a:p>
          <a:p>
            <a:pPr marL="0" indent="0">
              <a:buNone/>
            </a:pPr>
            <a:r>
              <a:rPr lang="en-US" sz="1600" b="1" dirty="0">
                <a:latin typeface="Times New Roman" panose="02020603050405020304" pitchFamily="18" charset="0"/>
                <a:cs typeface="Times New Roman" panose="02020603050405020304" pitchFamily="18" charset="0"/>
              </a:rPr>
              <a:t>        int sum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  4  Display the result.</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("Sum = " + sum);</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06482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0AE70-D4B5-CE4F-83FB-C14BB1D5210C}"/>
              </a:ext>
            </a:extLst>
          </p:cNvPr>
          <p:cNvSpPr>
            <a:spLocks noGrp="1"/>
          </p:cNvSpPr>
          <p:nvPr>
            <p:ph idx="1"/>
          </p:nvPr>
        </p:nvSpPr>
        <p:spPr>
          <a:xfrm>
            <a:off x="457200" y="381000"/>
            <a:ext cx="8229600" cy="6248400"/>
          </a:xfrm>
        </p:spPr>
        <p:txBody>
          <a:bodyPr>
            <a:normAutofit fontScale="32500" lnSpcReduction="2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Program 3:- To swap two numbers using a temporary variable.</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public class Swap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public static void main(String[] </a:t>
            </a:r>
            <a:r>
              <a:rPr lang="en-US" sz="4900" b="1" dirty="0" err="1">
                <a:latin typeface="Times New Roman" panose="02020603050405020304" pitchFamily="18" charset="0"/>
                <a:cs typeface="Times New Roman" panose="02020603050405020304" pitchFamily="18" charset="0"/>
              </a:rPr>
              <a:t>args</a:t>
            </a:r>
            <a:r>
              <a:rPr lang="en-US" sz="4900" b="1" dirty="0">
                <a:latin typeface="Times New Roman" panose="02020603050405020304" pitchFamily="18" charset="0"/>
                <a:cs typeface="Times New Roman" panose="02020603050405020304" pitchFamily="18" charset="0"/>
              </a:rPr>
              <a:t>)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a = 10;</a:t>
            </a:r>
          </a:p>
          <a:p>
            <a:pPr marL="0" indent="0">
              <a:buNone/>
            </a:pPr>
            <a:r>
              <a:rPr lang="en-US" sz="4900" b="1" dirty="0">
                <a:latin typeface="Times New Roman" panose="02020603050405020304" pitchFamily="18" charset="0"/>
                <a:cs typeface="Times New Roman" panose="02020603050405020304" pitchFamily="18" charset="0"/>
              </a:rPr>
              <a:t>        int b = 20;</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temp = a;</a:t>
            </a:r>
          </a:p>
          <a:p>
            <a:pPr marL="0" indent="0">
              <a:buNone/>
            </a:pPr>
            <a:r>
              <a:rPr lang="en-US" sz="4900" b="1" dirty="0">
                <a:latin typeface="Times New Roman" panose="02020603050405020304" pitchFamily="18" charset="0"/>
                <a:cs typeface="Times New Roman" panose="02020603050405020304" pitchFamily="18" charset="0"/>
              </a:rPr>
              <a:t>        a = b;</a:t>
            </a:r>
          </a:p>
          <a:p>
            <a:pPr marL="0" indent="0">
              <a:buNone/>
            </a:pPr>
            <a:r>
              <a:rPr lang="en-US" sz="4900" b="1" dirty="0">
                <a:latin typeface="Times New Roman" panose="02020603050405020304" pitchFamily="18" charset="0"/>
                <a:cs typeface="Times New Roman" panose="02020603050405020304" pitchFamily="18" charset="0"/>
              </a:rPr>
              <a:t>        b =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dirty="0">
                <a:latin typeface="Times New Roman" panose="02020603050405020304" pitchFamily="18" charset="0"/>
                <a:cs typeface="Times New Roman" panose="02020603050405020304" pitchFamily="18" charset="0"/>
              </a:rPr>
              <a:t>// "a = “ This is a String literal. It prints the text exactly as written. </a:t>
            </a:r>
          </a:p>
          <a:p>
            <a:pPr marL="0" indent="0">
              <a:buNone/>
            </a:pPr>
            <a:r>
              <a:rPr lang="en-US" sz="4900" dirty="0">
                <a:latin typeface="Times New Roman" panose="02020603050405020304" pitchFamily="18" charset="0"/>
                <a:cs typeface="Times New Roman" panose="02020603050405020304" pitchFamily="18" charset="0"/>
              </a:rPr>
              <a:t>// “ +” -- The + operator is used for string concatenation when one operand is a string. </a:t>
            </a:r>
          </a:p>
          <a:p>
            <a:pPr marL="0" indent="0">
              <a:buNone/>
            </a:pPr>
            <a:r>
              <a:rPr lang="en-US" sz="4900" dirty="0">
                <a:latin typeface="Times New Roman" panose="02020603050405020304" pitchFamily="18" charset="0"/>
                <a:cs typeface="Times New Roman" panose="02020603050405020304" pitchFamily="18" charset="0"/>
              </a:rPr>
              <a:t>It joins the string "a = " with the value stored in the variable a.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("a = " + a);</a:t>
            </a: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("b = " + b);</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p>
          <a:p>
            <a:pPr marL="0" indent="0">
              <a:buNone/>
            </a:pPr>
            <a:r>
              <a:rPr lang="en-US" sz="49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2443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07EBE-7D0D-6838-14EF-A8521F805625}"/>
              </a:ext>
            </a:extLst>
          </p:cNvPr>
          <p:cNvSpPr>
            <a:spLocks noGrp="1"/>
          </p:cNvSpPr>
          <p:nvPr>
            <p:ph idx="1"/>
          </p:nvPr>
        </p:nvSpPr>
        <p:spPr>
          <a:xfrm>
            <a:off x="457200" y="152400"/>
            <a:ext cx="8229600" cy="5973763"/>
          </a:xfrm>
        </p:spPr>
        <p:txBody>
          <a:bodyPr>
            <a:normAutofit fontScale="92500" lnSpcReduction="20000"/>
          </a:bodyPr>
          <a:lstStyle/>
          <a:p>
            <a:pPr marL="0" indent="0">
              <a:buNone/>
            </a:pPr>
            <a:r>
              <a:rPr lang="en-US" sz="2000" b="1" dirty="0">
                <a:solidFill>
                  <a:srgbClr val="FF0000"/>
                </a:solidFill>
                <a:latin typeface="Times New Roman" panose="02020603050405020304" pitchFamily="18" charset="0"/>
                <a:cs typeface="Times New Roman" panose="02020603050405020304" pitchFamily="18" charset="0"/>
              </a:rPr>
              <a:t>Program : To determine whether a number is even or odd.</a:t>
            </a:r>
          </a:p>
          <a:p>
            <a:pPr marL="0" indent="0">
              <a:buNone/>
            </a:pPr>
            <a:endParaRPr lang="en-US" sz="20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import </a:t>
            </a:r>
            <a:r>
              <a:rPr lang="en-US" sz="2000" b="1" dirty="0" err="1">
                <a:latin typeface="Times New Roman" panose="02020603050405020304" pitchFamily="18" charset="0"/>
                <a:cs typeface="Times New Roman" panose="02020603050405020304" pitchFamily="18" charset="0"/>
              </a:rPr>
              <a:t>java.util.Scanner</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public class </a:t>
            </a:r>
            <a:r>
              <a:rPr lang="en-US" sz="2000" b="1" dirty="0" err="1">
                <a:latin typeface="Times New Roman" panose="02020603050405020304" pitchFamily="18" charset="0"/>
                <a:cs typeface="Times New Roman" panose="02020603050405020304" pitchFamily="18" charset="0"/>
              </a:rPr>
              <a:t>EvenOdd</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public static void main(String[] </a:t>
            </a:r>
            <a:r>
              <a:rPr lang="en-US" sz="2000" b="1" dirty="0" err="1">
                <a:latin typeface="Times New Roman" panose="02020603050405020304" pitchFamily="18" charset="0"/>
                <a:cs typeface="Times New Roman" panose="02020603050405020304" pitchFamily="18" charset="0"/>
              </a:rPr>
              <a:t>args</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Scanner </a:t>
            </a:r>
            <a:r>
              <a:rPr lang="en-US" sz="2000" b="1" dirty="0" err="1">
                <a:latin typeface="Times New Roman" panose="02020603050405020304" pitchFamily="18" charset="0"/>
                <a:cs typeface="Times New Roman" panose="02020603050405020304" pitchFamily="18" charset="0"/>
              </a:rPr>
              <a:t>sc</a:t>
            </a:r>
            <a:r>
              <a:rPr lang="en-US" sz="2000" b="1" dirty="0">
                <a:latin typeface="Times New Roman" panose="02020603050405020304" pitchFamily="18" charset="0"/>
                <a:cs typeface="Times New Roman" panose="02020603050405020304" pitchFamily="18" charset="0"/>
              </a:rPr>
              <a:t> = new Scanner(System.in);</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a:t>
            </a:r>
            <a:r>
              <a:rPr lang="en-US" sz="2000" b="1" dirty="0">
                <a:latin typeface="Times New Roman" panose="02020603050405020304" pitchFamily="18" charset="0"/>
                <a:cs typeface="Times New Roman" panose="02020603050405020304" pitchFamily="18" charset="0"/>
              </a:rPr>
              <a:t>("Enter a number: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int n = </a:t>
            </a:r>
            <a:r>
              <a:rPr lang="en-US" sz="2000" b="1" dirty="0" err="1">
                <a:latin typeface="Times New Roman" panose="02020603050405020304" pitchFamily="18" charset="0"/>
                <a:cs typeface="Times New Roman" panose="02020603050405020304" pitchFamily="18" charset="0"/>
              </a:rPr>
              <a:t>sc.nextInt</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if (n % 2 == 0)</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("Even Number");</a:t>
            </a:r>
          </a:p>
          <a:p>
            <a:pPr marL="0" indent="0">
              <a:buNone/>
            </a:pPr>
            <a:r>
              <a:rPr lang="en-US" sz="2000" b="1" dirty="0">
                <a:latin typeface="Times New Roman" panose="02020603050405020304" pitchFamily="18" charset="0"/>
                <a:cs typeface="Times New Roman" panose="02020603050405020304" pitchFamily="18" charset="0"/>
              </a:rPr>
              <a:t>        else</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("Odd Number");</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76955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62B8A-F243-D62C-5141-4493D1CA5291}"/>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calculate the factorial of a given number. </a:t>
            </a:r>
            <a:r>
              <a:rPr lang="pt-BR" sz="1600" b="1" dirty="0">
                <a:latin typeface="Times New Roman" panose="02020603050405020304" pitchFamily="18" charset="0"/>
                <a:cs typeface="Times New Roman" panose="02020603050405020304" pitchFamily="18" charset="0"/>
              </a:rPr>
              <a:t>n! = n × (n−1) × (n−2) × ... × 1</a:t>
            </a:r>
          </a:p>
          <a:p>
            <a:pPr marL="0" indent="0">
              <a:buNone/>
            </a:pPr>
            <a:endParaRPr lang="pt-BR"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Factorial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a number: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fact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fact = fact *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("Factorial = " + fact);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893251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3AFD5E-E059-1099-97B4-87ECC6D63697}"/>
              </a:ext>
            </a:extLst>
          </p:cNvPr>
          <p:cNvSpPr>
            <a:spLocks noGrp="1"/>
          </p:cNvSpPr>
          <p:nvPr>
            <p:ph idx="1"/>
          </p:nvPr>
        </p:nvSpPr>
        <p:spPr>
          <a:xfrm>
            <a:off x="457200" y="228600"/>
            <a:ext cx="8229600" cy="6629400"/>
          </a:xfrm>
        </p:spPr>
        <p:txBody>
          <a:bodyPr>
            <a:normAutofit fontScale="92500" lnSpcReduction="2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print the Fibonacci series.</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Fibonacci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number of terms: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a = 0;</a:t>
            </a:r>
          </a:p>
          <a:p>
            <a:pPr marL="0" indent="0">
              <a:buNone/>
            </a:pPr>
            <a:r>
              <a:rPr lang="en-US" sz="1600" b="1" dirty="0">
                <a:latin typeface="Times New Roman" panose="02020603050405020304" pitchFamily="18" charset="0"/>
                <a:cs typeface="Times New Roman" panose="02020603050405020304" pitchFamily="18" charset="0"/>
              </a:rPr>
              <a:t>        int b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(a + "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c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 = b;</a:t>
            </a:r>
          </a:p>
          <a:p>
            <a:pPr marL="0" indent="0">
              <a:buNone/>
            </a:pPr>
            <a:r>
              <a:rPr lang="en-US" sz="1600" b="1" dirty="0">
                <a:latin typeface="Times New Roman" panose="02020603050405020304" pitchFamily="18" charset="0"/>
                <a:cs typeface="Times New Roman" panose="02020603050405020304" pitchFamily="18" charset="0"/>
              </a:rPr>
              <a:t>            b = c;</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80051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F146E-619E-23B8-E643-72B100737F5A}"/>
              </a:ext>
            </a:extLst>
          </p:cNvPr>
          <p:cNvSpPr>
            <a:spLocks noGrp="1"/>
          </p:cNvSpPr>
          <p:nvPr>
            <p:ph idx="1"/>
          </p:nvPr>
        </p:nvSpPr>
        <p:spPr>
          <a:xfrm>
            <a:off x="457200" y="0"/>
            <a:ext cx="8229600" cy="6629400"/>
          </a:xfrm>
        </p:spPr>
        <p:txBody>
          <a:bodyPr>
            <a:normAutofit fontScale="85000" lnSpcReduction="2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To check whether a number is prime.</a:t>
            </a:r>
          </a:p>
          <a:p>
            <a:pPr marL="0" indent="0">
              <a:buNone/>
            </a:pPr>
            <a:r>
              <a:rPr lang="en-US" sz="1500" b="1" dirty="0">
                <a:latin typeface="Times New Roman" panose="02020603050405020304" pitchFamily="18" charset="0"/>
                <a:cs typeface="Times New Roman" panose="02020603050405020304" pitchFamily="18" charset="0"/>
              </a:rPr>
              <a:t>import </a:t>
            </a:r>
            <a:r>
              <a:rPr lang="en-US" sz="1500" b="1" dirty="0" err="1">
                <a:latin typeface="Times New Roman" panose="02020603050405020304" pitchFamily="18" charset="0"/>
                <a:cs typeface="Times New Roman" panose="02020603050405020304" pitchFamily="18" charset="0"/>
              </a:rPr>
              <a:t>java.util.Scanner</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public class Prime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public static void main(String[] </a:t>
            </a:r>
            <a:r>
              <a:rPr lang="en-US" sz="1500" b="1" dirty="0" err="1">
                <a:latin typeface="Times New Roman" panose="02020603050405020304" pitchFamily="18" charset="0"/>
                <a:cs typeface="Times New Roman" panose="02020603050405020304" pitchFamily="18" charset="0"/>
              </a:rPr>
              <a:t>args</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Scanner </a:t>
            </a:r>
            <a:r>
              <a:rPr lang="en-US" sz="1500" b="1" dirty="0" err="1">
                <a:latin typeface="Times New Roman" panose="02020603050405020304" pitchFamily="18" charset="0"/>
                <a:cs typeface="Times New Roman" panose="02020603050405020304" pitchFamily="18" charset="0"/>
              </a:rPr>
              <a:t>sc</a:t>
            </a:r>
            <a:r>
              <a:rPr lang="en-US" sz="1500" b="1" dirty="0">
                <a:latin typeface="Times New Roman" panose="02020603050405020304" pitchFamily="18" charset="0"/>
                <a:cs typeface="Times New Roman" panose="02020603050405020304" pitchFamily="18" charset="0"/>
              </a:rPr>
              <a:t> = new Scanner(System.in);</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a:t>
            </a:r>
            <a:r>
              <a:rPr lang="en-US" sz="1500" b="1" dirty="0">
                <a:latin typeface="Times New Roman" panose="02020603050405020304" pitchFamily="18" charset="0"/>
                <a:cs typeface="Times New Roman" panose="02020603050405020304" pitchFamily="18" charset="0"/>
              </a:rPr>
              <a:t>("Enter a number: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int n = </a:t>
            </a:r>
            <a:r>
              <a:rPr lang="en-US" sz="1500" b="1" dirty="0" err="1">
                <a:latin typeface="Times New Roman" panose="02020603050405020304" pitchFamily="18" charset="0"/>
                <a:cs typeface="Times New Roman" panose="02020603050405020304" pitchFamily="18" charset="0"/>
              </a:rPr>
              <a:t>sc.nextInt</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boolean</a:t>
            </a:r>
            <a:r>
              <a:rPr lang="en-US" sz="1500" b="1" dirty="0">
                <a:latin typeface="Times New Roman" panose="02020603050405020304" pitchFamily="18" charset="0"/>
                <a:cs typeface="Times New Roman" panose="02020603050405020304" pitchFamily="18" charset="0"/>
              </a:rPr>
              <a:t> prime = true;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&lt;= 1)</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for (int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2;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&lt;= </a:t>
            </a:r>
            <a:r>
              <a:rPr lang="en-US" sz="1500" b="1" dirty="0" err="1">
                <a:latin typeface="Times New Roman" panose="02020603050405020304" pitchFamily="18" charset="0"/>
                <a:cs typeface="Times New Roman" panose="02020603050405020304" pitchFamily="18" charset="0"/>
              </a:rPr>
              <a:t>Math.sqrt</a:t>
            </a:r>
            <a:r>
              <a:rPr lang="en-US" sz="1500" b="1" dirty="0">
                <a:latin typeface="Times New Roman" panose="02020603050405020304" pitchFamily="18" charset="0"/>
                <a:cs typeface="Times New Roman" panose="02020603050405020304" pitchFamily="18" charset="0"/>
              </a:rPr>
              <a:t>(n);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0) {</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r>
              <a:rPr lang="en-US" sz="1500" b="1" dirty="0">
                <a:latin typeface="Times New Roman" panose="02020603050405020304" pitchFamily="18" charset="0"/>
                <a:cs typeface="Times New Roman" panose="02020603050405020304" pitchFamily="18" charset="0"/>
              </a:rPr>
              <a:t>                break;</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(prime)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("Prime Number");</a:t>
            </a:r>
          </a:p>
          <a:p>
            <a:pPr marL="0" indent="0">
              <a:buNone/>
            </a:pPr>
            <a:r>
              <a:rPr lang="en-US" sz="1500" b="1" dirty="0">
                <a:latin typeface="Times New Roman" panose="02020603050405020304" pitchFamily="18" charset="0"/>
                <a:cs typeface="Times New Roman" panose="02020603050405020304" pitchFamily="18" charset="0"/>
              </a:rPr>
              <a:t>        else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("Not Prime");</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8957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724360-8688-1131-CD50-F5F7A7FAA3AA}"/>
              </a:ext>
            </a:extLst>
          </p:cNvPr>
          <p:cNvSpPr>
            <a:spLocks noGrp="1"/>
          </p:cNvSpPr>
          <p:nvPr>
            <p:ph idx="1"/>
          </p:nvPr>
        </p:nvSpPr>
        <p:spPr>
          <a:xfrm>
            <a:off x="457200" y="228600"/>
            <a:ext cx="8229600" cy="6126163"/>
          </a:xfrm>
        </p:spPr>
        <p:txBody>
          <a:bodyPr>
            <a:normAutofit fontScale="92500" lnSpcReduction="1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 To reverse the digits of a number.</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t>
            </a:r>
            <a:r>
              <a:rPr lang="en-US" sz="1600" b="1" dirty="0" err="1">
                <a:latin typeface="Times New Roman" panose="02020603050405020304" pitchFamily="18" charset="0"/>
                <a:cs typeface="Times New Roman" panose="02020603050405020304" pitchFamily="18" charset="0"/>
              </a:rPr>
              <a:t>ReverseNumber</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a:t>
            </a:r>
            <a:r>
              <a:rPr lang="en-US" sz="1600" b="1" i="1" dirty="0" err="1">
                <a:latin typeface="Times New Roman" panose="02020603050405020304" pitchFamily="18" charset="0"/>
                <a:cs typeface="Times New Roman" panose="02020603050405020304" pitchFamily="18" charset="0"/>
              </a:rPr>
              <a:t>out</a:t>
            </a:r>
            <a:r>
              <a:rPr lang="en-US" sz="1600" b="1" dirty="0" err="1">
                <a:latin typeface="Times New Roman" panose="02020603050405020304" pitchFamily="18" charset="0"/>
                <a:cs typeface="Times New Roman" panose="02020603050405020304" pitchFamily="18" charset="0"/>
              </a:rPr>
              <a:t>.println</a:t>
            </a:r>
            <a:r>
              <a:rPr lang="en-US" sz="1600" b="1" dirty="0">
                <a:latin typeface="Times New Roman" panose="02020603050405020304" pitchFamily="18" charset="0"/>
                <a:cs typeface="Times New Roman" panose="02020603050405020304" pitchFamily="18" charset="0"/>
              </a:rPr>
              <a:t>("Enter Number:");</a:t>
            </a: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reverse = 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while (n != 0)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reverse = reverse * 10 + n % 10;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n = n / 10;</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(reverse);</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303127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4D283-A3FE-7A5D-5F33-15B20136B20A}"/>
              </a:ext>
            </a:extLst>
          </p:cNvPr>
          <p:cNvSpPr>
            <a:spLocks noGrp="1"/>
          </p:cNvSpPr>
          <p:nvPr>
            <p:ph type="title"/>
          </p:nvPr>
        </p:nvSpPr>
        <p:spPr>
          <a:xfrm>
            <a:off x="457200" y="274638"/>
            <a:ext cx="8229600" cy="457199"/>
          </a:xfrm>
        </p:spPr>
        <p:txBody>
          <a:bodyPr>
            <a:normAutofit fontScale="90000"/>
          </a:bodyPr>
          <a:lstStyle/>
          <a:p>
            <a:r>
              <a:rPr lang="en-US" sz="3200" b="1" dirty="0">
                <a:latin typeface="Times New Roman" panose="02020603050405020304" pitchFamily="18" charset="0"/>
                <a:cs typeface="Times New Roman" panose="02020603050405020304" pitchFamily="18" charset="0"/>
              </a:rPr>
              <a:t>ARRAYS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4394B9-FA9B-46F3-29E2-BA845C395F88}"/>
              </a:ext>
            </a:extLst>
          </p:cNvPr>
          <p:cNvSpPr>
            <a:spLocks noGrp="1"/>
          </p:cNvSpPr>
          <p:nvPr>
            <p:ph idx="1"/>
          </p:nvPr>
        </p:nvSpPr>
        <p:spPr>
          <a:xfrm>
            <a:off x="457200" y="838200"/>
            <a:ext cx="8229600" cy="528796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An array is a </a:t>
            </a:r>
            <a:r>
              <a:rPr lang="en-US" b="1" i="1" dirty="0">
                <a:solidFill>
                  <a:srgbClr val="FF0000"/>
                </a:solidFill>
                <a:latin typeface="Times New Roman" panose="02020603050405020304" pitchFamily="18" charset="0"/>
                <a:cs typeface="Times New Roman" panose="02020603050405020304" pitchFamily="18" charset="0"/>
              </a:rPr>
              <a:t>collection of similar data values with a single name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An array can also be defined as, a </a:t>
            </a:r>
            <a:r>
              <a:rPr lang="en-US" b="1" i="1" dirty="0">
                <a:latin typeface="Times New Roman" panose="02020603050405020304" pitchFamily="18" charset="0"/>
                <a:cs typeface="Times New Roman" panose="02020603050405020304" pitchFamily="18" charset="0"/>
              </a:rPr>
              <a:t>special type of variable that holds multiple values of the same data type at a time. </a:t>
            </a:r>
          </a:p>
          <a:p>
            <a:pPr algn="just"/>
            <a:r>
              <a:rPr lang="en-US" dirty="0">
                <a:latin typeface="Times New Roman" panose="02020603050405020304" pitchFamily="18" charset="0"/>
                <a:cs typeface="Times New Roman" panose="02020603050405020304" pitchFamily="18" charset="0"/>
              </a:rPr>
              <a:t>In java, </a:t>
            </a:r>
            <a:r>
              <a:rPr lang="en-US" b="1" i="1" dirty="0">
                <a:solidFill>
                  <a:srgbClr val="FF0000"/>
                </a:solidFill>
                <a:latin typeface="Times New Roman" panose="02020603050405020304" pitchFamily="18" charset="0"/>
                <a:cs typeface="Times New Roman" panose="02020603050405020304" pitchFamily="18" charset="0"/>
              </a:rPr>
              <a:t>arrays are objects and they are created dynamically using </a:t>
            </a:r>
            <a:r>
              <a:rPr lang="en-US" b="1" i="1" dirty="0">
                <a:latin typeface="Times New Roman" panose="02020603050405020304" pitchFamily="18" charset="0"/>
                <a:cs typeface="Times New Roman" panose="02020603050405020304" pitchFamily="18" charset="0"/>
              </a:rPr>
              <a:t>new</a:t>
            </a:r>
            <a:r>
              <a:rPr lang="en-US" b="1" i="1" dirty="0">
                <a:solidFill>
                  <a:srgbClr val="FF0000"/>
                </a:solidFill>
                <a:latin typeface="Times New Roman" panose="02020603050405020304" pitchFamily="18" charset="0"/>
                <a:cs typeface="Times New Roman" panose="02020603050405020304" pitchFamily="18" charset="0"/>
              </a:rPr>
              <a:t> operator</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Every array in java is organized using </a:t>
            </a:r>
            <a:r>
              <a:rPr lang="en-US" b="1" i="1" dirty="0">
                <a:latin typeface="Times New Roman" panose="02020603050405020304" pitchFamily="18" charset="0"/>
                <a:cs typeface="Times New Roman" panose="02020603050405020304" pitchFamily="18" charset="0"/>
              </a:rPr>
              <a:t>index values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index value of an array starts with </a:t>
            </a:r>
            <a:r>
              <a:rPr lang="en-US" b="1" i="1" dirty="0">
                <a:latin typeface="Times New Roman" panose="02020603050405020304" pitchFamily="18" charset="0"/>
                <a:cs typeface="Times New Roman" panose="02020603050405020304" pitchFamily="18" charset="0"/>
              </a:rPr>
              <a:t>'0' and ends with ‘size -1</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We use the index value to access individual elements of an array. </a:t>
            </a:r>
          </a:p>
          <a:p>
            <a:pPr marL="0" indent="0" algn="just">
              <a:buNone/>
            </a:pPr>
            <a:endParaRPr lang="en-US"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In java, there are two types of arrays and they are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One Dimensional Array </a:t>
            </a:r>
          </a:p>
          <a:p>
            <a:pPr algn="just"/>
            <a:r>
              <a:rPr lang="en-US" dirty="0">
                <a:latin typeface="Times New Roman" panose="02020603050405020304" pitchFamily="18" charset="0"/>
                <a:cs typeface="Times New Roman" panose="02020603050405020304" pitchFamily="18" charset="0"/>
              </a:rPr>
              <a:t>Multi Dimensional Array </a:t>
            </a:r>
          </a:p>
        </p:txBody>
      </p:sp>
    </p:spTree>
    <p:extLst>
      <p:ext uri="{BB962C8B-B14F-4D97-AF65-F5344CB8AC3E}">
        <p14:creationId xmlns:p14="http://schemas.microsoft.com/office/powerpoint/2010/main" val="23270670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218C1B-EDCD-C3AD-F993-D0E3A13861A3}"/>
              </a:ext>
            </a:extLst>
          </p:cNvPr>
          <p:cNvSpPr>
            <a:spLocks noGrp="1"/>
          </p:cNvSpPr>
          <p:nvPr>
            <p:ph idx="1"/>
          </p:nvPr>
        </p:nvSpPr>
        <p:spPr>
          <a:xfrm>
            <a:off x="457200" y="304800"/>
            <a:ext cx="8229600" cy="5821363"/>
          </a:xfrm>
        </p:spPr>
        <p:txBody>
          <a:bodyPr>
            <a:normAutofit fontScale="92500"/>
          </a:bodyPr>
          <a:lstStyle/>
          <a:p>
            <a:pPr marL="0" indent="0" algn="just">
              <a:buNone/>
            </a:pPr>
            <a:r>
              <a:rPr lang="en-US" b="1" dirty="0"/>
              <a:t>One Dimensional Array </a:t>
            </a:r>
            <a:endParaRPr lang="en-US" dirty="0"/>
          </a:p>
          <a:p>
            <a:pPr algn="just"/>
            <a:r>
              <a:rPr lang="en-US" dirty="0"/>
              <a:t>In the java programming language, an </a:t>
            </a:r>
            <a:r>
              <a:rPr lang="en-US" b="1" i="1" dirty="0">
                <a:solidFill>
                  <a:srgbClr val="FF0000"/>
                </a:solidFill>
              </a:rPr>
              <a:t>array must be created using new operator</a:t>
            </a:r>
            <a:r>
              <a:rPr lang="en-US" dirty="0"/>
              <a:t> and with a specific size.</a:t>
            </a:r>
          </a:p>
          <a:p>
            <a:pPr algn="just"/>
            <a:r>
              <a:rPr lang="en-US" dirty="0"/>
              <a:t> The size </a:t>
            </a:r>
            <a:r>
              <a:rPr lang="en-US" i="1" dirty="0">
                <a:solidFill>
                  <a:srgbClr val="FF0000"/>
                </a:solidFill>
              </a:rPr>
              <a:t>must be an integer value </a:t>
            </a:r>
            <a:r>
              <a:rPr lang="en-US" dirty="0"/>
              <a:t>but not a byte, short, or long. We use the following syntax to create an array. </a:t>
            </a:r>
          </a:p>
          <a:p>
            <a:pPr marL="0" indent="0" algn="just">
              <a:buNone/>
            </a:pPr>
            <a:r>
              <a:rPr lang="en-US" b="1" dirty="0">
                <a:solidFill>
                  <a:srgbClr val="FF0000"/>
                </a:solidFill>
              </a:rPr>
              <a:t>Syntax </a:t>
            </a:r>
            <a:endParaRPr lang="en-US" dirty="0">
              <a:solidFill>
                <a:srgbClr val="FF0000"/>
              </a:solidFill>
            </a:endParaRPr>
          </a:p>
          <a:p>
            <a:pPr algn="just"/>
            <a:r>
              <a:rPr lang="en-US" dirty="0" err="1"/>
              <a:t>data_type</a:t>
            </a:r>
            <a:r>
              <a:rPr lang="en-US" dirty="0"/>
              <a:t> </a:t>
            </a:r>
            <a:r>
              <a:rPr lang="en-US" dirty="0" err="1"/>
              <a:t>array_name</a:t>
            </a:r>
            <a:r>
              <a:rPr lang="en-US" dirty="0"/>
              <a:t>[ ] = new </a:t>
            </a:r>
            <a:r>
              <a:rPr lang="en-US" dirty="0" err="1"/>
              <a:t>data_type</a:t>
            </a:r>
            <a:r>
              <a:rPr lang="en-US" dirty="0"/>
              <a:t>[size]; </a:t>
            </a:r>
          </a:p>
          <a:p>
            <a:pPr marL="0" indent="0" algn="ctr">
              <a:buNone/>
            </a:pPr>
            <a:r>
              <a:rPr lang="en-US" b="1" dirty="0"/>
              <a:t>(or)</a:t>
            </a:r>
            <a:r>
              <a:rPr lang="en-US" dirty="0"/>
              <a:t> </a:t>
            </a:r>
          </a:p>
          <a:p>
            <a:pPr algn="just"/>
            <a:r>
              <a:rPr lang="en-US" dirty="0" err="1"/>
              <a:t>data_type</a:t>
            </a:r>
            <a:r>
              <a:rPr lang="en-US" dirty="0"/>
              <a:t>[ ] </a:t>
            </a:r>
            <a:r>
              <a:rPr lang="en-US" dirty="0" err="1"/>
              <a:t>array_name</a:t>
            </a:r>
            <a:r>
              <a:rPr lang="en-US" dirty="0"/>
              <a:t> = new </a:t>
            </a:r>
            <a:r>
              <a:rPr lang="en-US" dirty="0" err="1"/>
              <a:t>data_type</a:t>
            </a:r>
            <a:r>
              <a:rPr lang="en-US" dirty="0"/>
              <a:t>[size];</a:t>
            </a:r>
          </a:p>
        </p:txBody>
      </p:sp>
    </p:spTree>
    <p:extLst>
      <p:ext uri="{BB962C8B-B14F-4D97-AF65-F5344CB8AC3E}">
        <p14:creationId xmlns:p14="http://schemas.microsoft.com/office/powerpoint/2010/main" val="173212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2EDF7C-61EE-D7E1-E9C5-C8C7D085937A}"/>
              </a:ext>
            </a:extLst>
          </p:cNvPr>
          <p:cNvSpPr>
            <a:spLocks noGrp="1"/>
          </p:cNvSpPr>
          <p:nvPr>
            <p:ph idx="1"/>
          </p:nvPr>
        </p:nvSpPr>
        <p:spPr>
          <a:xfrm>
            <a:off x="457200" y="228600"/>
            <a:ext cx="8534400" cy="5897563"/>
          </a:xfrm>
        </p:spPr>
        <p:txBody>
          <a:bodyPr>
            <a:normAutofit/>
          </a:bodyPr>
          <a:lstStyle/>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an array can also be initialized at the time of its declaration. </a:t>
            </a:r>
          </a:p>
          <a:p>
            <a:pPr algn="just"/>
            <a:r>
              <a:rPr lang="en-US" i="1" dirty="0">
                <a:latin typeface="Times New Roman" panose="02020603050405020304" pitchFamily="18" charset="0"/>
                <a:cs typeface="Times New Roman" panose="02020603050405020304" pitchFamily="18" charset="0"/>
              </a:rPr>
              <a:t>When an array is initialized at the time of its declaration, </a:t>
            </a:r>
            <a:r>
              <a:rPr lang="en-US" sz="2800"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sz="2800" b="1" i="1" dirty="0">
                <a:latin typeface="Times New Roman" panose="02020603050405020304" pitchFamily="18" charset="0"/>
                <a:cs typeface="Times New Roman" panose="02020603050405020304" pitchFamily="18" charset="0"/>
              </a:rPr>
              <a:t>the size is automatically decided based on the number of values that are initialized. </a:t>
            </a:r>
          </a:p>
          <a:p>
            <a:pPr marL="0" indent="0" algn="just">
              <a:buNone/>
            </a:pPr>
            <a:r>
              <a:rPr lang="en-US" b="1" dirty="0">
                <a:latin typeface="Times New Roman" panose="02020603050405020304" pitchFamily="18" charset="0"/>
                <a:cs typeface="Times New Roman" panose="02020603050405020304" pitchFamily="18" charset="0"/>
              </a:rPr>
              <a:t>Example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int list[ ] = {10, 20, 30, 40, 50};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436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509D3-4F32-24D2-9B56-58FFCBA39BAF}"/>
              </a:ext>
            </a:extLst>
          </p:cNvPr>
          <p:cNvSpPr>
            <a:spLocks noGrp="1"/>
          </p:cNvSpPr>
          <p:nvPr>
            <p:ph idx="1"/>
          </p:nvPr>
        </p:nvSpPr>
        <p:spPr>
          <a:xfrm>
            <a:off x="457200" y="152400"/>
            <a:ext cx="8229600" cy="5973763"/>
          </a:xfrm>
        </p:spPr>
        <p:txBody>
          <a:bodyPr>
            <a:normAutofit fontScale="77500" lnSpcReduction="20000"/>
          </a:bodyPr>
          <a:lstStyle/>
          <a:p>
            <a:pPr marL="0" indent="0">
              <a:buNone/>
            </a:pPr>
            <a:r>
              <a:rPr lang="en-US" b="1" dirty="0"/>
              <a:t>Example </a:t>
            </a:r>
            <a:endParaRPr lang="en-US" dirty="0"/>
          </a:p>
          <a:p>
            <a:pPr marL="0" indent="0">
              <a:buNone/>
            </a:pPr>
            <a:r>
              <a:rPr lang="en-US" dirty="0"/>
              <a:t>class </a:t>
            </a:r>
            <a:r>
              <a:rPr lang="en-US" dirty="0" err="1"/>
              <a:t>Onedarray</a:t>
            </a:r>
            <a:r>
              <a:rPr lang="en-US" dirty="0"/>
              <a:t> </a:t>
            </a:r>
          </a:p>
          <a:p>
            <a:pPr marL="0" indent="0">
              <a:buNone/>
            </a:pPr>
            <a:r>
              <a:rPr lang="en-US" dirty="0"/>
              <a:t>{ </a:t>
            </a:r>
          </a:p>
          <a:p>
            <a:pPr marL="0" indent="0">
              <a:buNone/>
            </a:pPr>
            <a:r>
              <a:rPr lang="en-US" dirty="0"/>
              <a:t>public static void main(String </a:t>
            </a:r>
            <a:r>
              <a:rPr lang="en-US" dirty="0" err="1"/>
              <a:t>args</a:t>
            </a:r>
            <a:r>
              <a:rPr lang="en-US" dirty="0"/>
              <a:t>[]) </a:t>
            </a:r>
          </a:p>
          <a:p>
            <a:pPr marL="0" indent="0">
              <a:buNone/>
            </a:pPr>
            <a:r>
              <a:rPr lang="en-US" dirty="0"/>
              <a:t>{ </a:t>
            </a:r>
          </a:p>
          <a:p>
            <a:pPr marL="0" indent="0">
              <a:buNone/>
            </a:pPr>
            <a:r>
              <a:rPr lang="en-US" dirty="0"/>
              <a:t>Int a[]= new int [5]; </a:t>
            </a:r>
          </a:p>
          <a:p>
            <a:pPr marL="0" indent="0">
              <a:buNone/>
            </a:pPr>
            <a:r>
              <a:rPr lang="en-US" dirty="0"/>
              <a:t>a[0]=10; </a:t>
            </a:r>
          </a:p>
          <a:p>
            <a:pPr marL="0" indent="0">
              <a:buNone/>
            </a:pPr>
            <a:r>
              <a:rPr lang="en-US" dirty="0"/>
              <a:t>a[1]=20; </a:t>
            </a:r>
          </a:p>
          <a:p>
            <a:pPr marL="0" indent="0">
              <a:buNone/>
            </a:pPr>
            <a:r>
              <a:rPr lang="en-US" dirty="0"/>
              <a:t>a[2]=70; </a:t>
            </a:r>
          </a:p>
          <a:p>
            <a:pPr marL="0" indent="0">
              <a:buNone/>
            </a:pPr>
            <a:r>
              <a:rPr lang="en-US" dirty="0"/>
              <a:t>a[3]=40; </a:t>
            </a:r>
          </a:p>
          <a:p>
            <a:pPr marL="0" indent="0">
              <a:buNone/>
            </a:pPr>
            <a:r>
              <a:rPr lang="en-US" dirty="0"/>
              <a:t>a[4]=50; </a:t>
            </a:r>
          </a:p>
          <a:p>
            <a:pPr marL="0" indent="0">
              <a:buNone/>
            </a:pPr>
            <a:r>
              <a:rPr lang="en-US" dirty="0"/>
              <a:t>for(int </a:t>
            </a:r>
            <a:r>
              <a:rPr lang="en-US" dirty="0" err="1"/>
              <a:t>i</a:t>
            </a:r>
            <a:r>
              <a:rPr lang="en-US" dirty="0"/>
              <a:t>=0;i&lt;5;i++) </a:t>
            </a:r>
          </a:p>
          <a:p>
            <a:pPr marL="0" indent="0">
              <a:buNone/>
            </a:pPr>
            <a:r>
              <a:rPr lang="en-US" dirty="0" err="1"/>
              <a:t>System.out.println</a:t>
            </a:r>
            <a:r>
              <a:rPr lang="en-US" dirty="0"/>
              <a:t>(a[</a:t>
            </a:r>
            <a:r>
              <a:rPr lang="en-US" dirty="0" err="1"/>
              <a:t>i</a:t>
            </a:r>
            <a:r>
              <a:rPr lang="en-US" dirty="0"/>
              <a:t>]);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3695659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678F9-598C-EBE1-5DE9-FC42516F3479}"/>
              </a:ext>
            </a:extLst>
          </p:cNvPr>
          <p:cNvSpPr>
            <a:spLocks noGrp="1"/>
          </p:cNvSpPr>
          <p:nvPr>
            <p:ph type="title"/>
          </p:nvPr>
        </p:nvSpPr>
        <p:spPr>
          <a:xfrm>
            <a:off x="457200" y="274638"/>
            <a:ext cx="8229600" cy="715962"/>
          </a:xfrm>
        </p:spPr>
        <p:txBody>
          <a:bodyPr>
            <a:noAutofit/>
          </a:bodyPr>
          <a:lstStyle/>
          <a:p>
            <a:r>
              <a:rPr lang="en-US" sz="2800" b="1" dirty="0">
                <a:latin typeface="Times New Roman" panose="02020603050405020304" pitchFamily="18" charset="0"/>
                <a:cs typeface="Times New Roman" panose="02020603050405020304" pitchFamily="18" charset="0"/>
              </a:rPr>
              <a:t>Multidimensional Array </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BB5A36-B5F5-4337-08DE-D1C0E8EEFE98}"/>
              </a:ext>
            </a:extLst>
          </p:cNvPr>
          <p:cNvSpPr>
            <a:spLocks noGrp="1"/>
          </p:cNvSpPr>
          <p:nvPr>
            <p:ph idx="1"/>
          </p:nvPr>
        </p:nvSpPr>
        <p:spPr>
          <a:xfrm>
            <a:off x="457200" y="838200"/>
            <a:ext cx="8229600" cy="5287963"/>
          </a:xfrm>
        </p:spPr>
        <p:txBody>
          <a:bodyPr>
            <a:normAutofit fontScale="70000" lnSpcReduction="2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we can create an array with multiple dimensions</a:t>
            </a:r>
            <a:r>
              <a:rPr lang="en-US" dirty="0">
                <a:latin typeface="Times New Roman" panose="02020603050405020304" pitchFamily="18" charset="0"/>
                <a:cs typeface="Times New Roman" panose="02020603050405020304" pitchFamily="18" charset="0"/>
              </a:rPr>
              <a:t>. We can create 2-dimensional, 3-dimensional, or any dimensional array. </a:t>
            </a:r>
          </a:p>
          <a:p>
            <a:pPr algn="just"/>
            <a:r>
              <a:rPr lang="en-US" dirty="0">
                <a:latin typeface="Times New Roman" panose="02020603050405020304" pitchFamily="18" charset="0"/>
                <a:cs typeface="Times New Roman" panose="02020603050405020304" pitchFamily="18" charset="0"/>
              </a:rPr>
              <a:t>In Java</a:t>
            </a:r>
            <a:r>
              <a:rPr lang="en-US" b="1" i="1" dirty="0">
                <a:solidFill>
                  <a:srgbClr val="FF0000"/>
                </a:solidFill>
                <a:latin typeface="Times New Roman" panose="02020603050405020304" pitchFamily="18" charset="0"/>
                <a:cs typeface="Times New Roman" panose="02020603050405020304" pitchFamily="18" charset="0"/>
              </a:rPr>
              <a:t>, multidimensional arrays are arrays of arrays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To create a multidimensional array variable, </a:t>
            </a:r>
            <a:r>
              <a:rPr lang="en-US" b="1" i="1" dirty="0">
                <a:latin typeface="Times New Roman" panose="02020603050405020304" pitchFamily="18" charset="0"/>
                <a:cs typeface="Times New Roman" panose="02020603050405020304" pitchFamily="18" charset="0"/>
              </a:rPr>
              <a:t>specify each additional index using another set of square brackets. </a:t>
            </a:r>
          </a:p>
          <a:p>
            <a:pPr marL="0" indent="0" algn="just">
              <a:buNone/>
            </a:pPr>
            <a:r>
              <a:rPr lang="en-US" b="1" dirty="0">
                <a:latin typeface="Times New Roman" panose="02020603050405020304" pitchFamily="18" charset="0"/>
                <a:cs typeface="Times New Roman" panose="02020603050405020304" pitchFamily="18" charset="0"/>
              </a:rPr>
              <a:t>Syntax </a:t>
            </a:r>
            <a:endParaRPr lang="en-US" dirty="0">
              <a:latin typeface="Times New Roman" panose="02020603050405020304" pitchFamily="18" charset="0"/>
              <a:cs typeface="Times New Roman" panose="02020603050405020304" pitchFamily="18" charset="0"/>
            </a:endParaRP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r>
              <a:rPr lang="en-US" b="1" dirty="0">
                <a:latin typeface="Times New Roman" panose="02020603050405020304" pitchFamily="18" charset="0"/>
                <a:cs typeface="Times New Roman" panose="02020603050405020304" pitchFamily="18" charset="0"/>
              </a:rPr>
              <a:t>(or) </a:t>
            </a: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 ][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endParaRPr lang="en-US" dirty="0">
              <a:solidFill>
                <a:srgbClr val="FF0000"/>
              </a:solidFill>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When an array is initialized at the time of declaration, </a:t>
            </a:r>
            <a:r>
              <a:rPr lang="en-US"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b="1" i="1" dirty="0">
                <a:latin typeface="Times New Roman" panose="02020603050405020304" pitchFamily="18" charset="0"/>
                <a:cs typeface="Times New Roman" panose="02020603050405020304" pitchFamily="18" charset="0"/>
              </a:rPr>
              <a:t>the size is automatically decided based on the number of values that are initialized</a:t>
            </a:r>
            <a:r>
              <a:rPr lang="en-US"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200830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425E23-FC27-8642-57FF-6659DC3869FA}"/>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latin typeface="Times New Roman" panose="02020603050405020304" pitchFamily="18" charset="0"/>
                <a:cs typeface="Times New Roman" panose="02020603050405020304" pitchFamily="18" charset="0"/>
              </a:rPr>
              <a:t>Example </a:t>
            </a:r>
          </a:p>
          <a:p>
            <a:pPr marL="0" indent="0">
              <a:lnSpc>
                <a:spcPct val="120000"/>
              </a:lnSpc>
              <a:spcBef>
                <a:spcPts val="0"/>
              </a:spcBef>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Twodarray</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{{1,2,3},{4,5,6},{7,8,9}};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=0;i&lt;3;i++)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j=0;j&lt;3;j++)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][j]+" ");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4517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E49F-98D7-E160-4A54-6853E6C93D6C}"/>
              </a:ext>
            </a:extLst>
          </p:cNvPr>
          <p:cNvSpPr>
            <a:spLocks noGrp="1"/>
          </p:cNvSpPr>
          <p:nvPr>
            <p:ph type="title"/>
          </p:nvPr>
        </p:nvSpPr>
        <p:spPr>
          <a:xfrm>
            <a:off x="457200" y="274638"/>
            <a:ext cx="8229600" cy="457199"/>
          </a:xfrm>
        </p:spPr>
        <p:txBody>
          <a:bodyPr>
            <a:normAutofit fontScale="90000"/>
          </a:bodyPr>
          <a:lstStyle/>
          <a:p>
            <a:r>
              <a:rPr lang="en-US" sz="2800" b="1" dirty="0">
                <a:solidFill>
                  <a:srgbClr val="FF0000"/>
                </a:solidFill>
                <a:latin typeface="Times New Roman" panose="02020603050405020304" pitchFamily="18" charset="0"/>
                <a:cs typeface="Times New Roman" panose="02020603050405020304" pitchFamily="18" charset="0"/>
              </a:rPr>
              <a:t>OPERATORS </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8C896B-D81A-EE49-17B9-8CD2E0B56BCE}"/>
              </a:ext>
            </a:extLst>
          </p:cNvPr>
          <p:cNvSpPr>
            <a:spLocks noGrp="1"/>
          </p:cNvSpPr>
          <p:nvPr>
            <p:ph idx="1"/>
          </p:nvPr>
        </p:nvSpPr>
        <p:spPr>
          <a:xfrm>
            <a:off x="457200" y="731838"/>
            <a:ext cx="8229600" cy="5394326"/>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An </a:t>
            </a:r>
            <a:r>
              <a:rPr lang="en-US" b="1" dirty="0">
                <a:solidFill>
                  <a:srgbClr val="FF0000"/>
                </a:solidFill>
                <a:latin typeface="Times New Roman" panose="02020603050405020304" pitchFamily="18" charset="0"/>
                <a:cs typeface="Times New Roman" panose="02020603050405020304" pitchFamily="18" charset="0"/>
              </a:rPr>
              <a:t>operator is a symbol </a:t>
            </a:r>
            <a:r>
              <a:rPr lang="en-US" dirty="0">
                <a:latin typeface="Times New Roman" panose="02020603050405020304" pitchFamily="18" charset="0"/>
                <a:cs typeface="Times New Roman" panose="02020603050405020304" pitchFamily="18" charset="0"/>
              </a:rPr>
              <a:t>that performs an </a:t>
            </a:r>
            <a:r>
              <a:rPr lang="en-US" i="1" dirty="0">
                <a:solidFill>
                  <a:srgbClr val="FF0000"/>
                </a:solidFill>
                <a:latin typeface="Times New Roman" panose="02020603050405020304" pitchFamily="18" charset="0"/>
                <a:cs typeface="Times New Roman" panose="02020603050405020304" pitchFamily="18" charset="0"/>
              </a:rPr>
              <a:t>operation</a:t>
            </a:r>
            <a:r>
              <a:rPr lang="en-US" dirty="0">
                <a:latin typeface="Times New Roman" panose="02020603050405020304" pitchFamily="18" charset="0"/>
                <a:cs typeface="Times New Roman" panose="02020603050405020304" pitchFamily="18" charset="0"/>
              </a:rPr>
              <a:t>. An operator acts on some variables called operands to get the desired result. </a:t>
            </a:r>
          </a:p>
          <a:p>
            <a:pPr marL="0" indent="0" algn="just">
              <a:buNone/>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 b </a:t>
            </a:r>
          </a:p>
          <a:p>
            <a:pPr marL="0" indent="0" algn="just">
              <a:buNone/>
            </a:pPr>
            <a:r>
              <a:rPr lang="en-US" dirty="0">
                <a:latin typeface="Times New Roman" panose="02020603050405020304" pitchFamily="18" charset="0"/>
                <a:cs typeface="Times New Roman" panose="02020603050405020304" pitchFamily="18" charset="0"/>
              </a:rPr>
              <a:t>	Here a, b are operands and + is operator. </a:t>
            </a:r>
          </a:p>
          <a:p>
            <a:pPr marL="0" indent="0" algn="just">
              <a:buNone/>
            </a:pPr>
            <a:r>
              <a:rPr lang="en-US" b="1" dirty="0">
                <a:latin typeface="Times New Roman" panose="02020603050405020304" pitchFamily="18" charset="0"/>
                <a:cs typeface="Times New Roman" panose="02020603050405020304" pitchFamily="18" charset="0"/>
              </a:rPr>
              <a:t>Types of Operators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1. Arithmetic operators </a:t>
            </a:r>
          </a:p>
          <a:p>
            <a:pPr algn="just"/>
            <a:r>
              <a:rPr lang="en-US" dirty="0">
                <a:latin typeface="Times New Roman" panose="02020603050405020304" pitchFamily="18" charset="0"/>
                <a:cs typeface="Times New Roman" panose="02020603050405020304" pitchFamily="18" charset="0"/>
              </a:rPr>
              <a:t>2. Relational operators </a:t>
            </a:r>
          </a:p>
          <a:p>
            <a:pPr algn="just"/>
            <a:r>
              <a:rPr lang="en-US" dirty="0">
                <a:latin typeface="Times New Roman" panose="02020603050405020304" pitchFamily="18" charset="0"/>
                <a:cs typeface="Times New Roman" panose="02020603050405020304" pitchFamily="18" charset="0"/>
              </a:rPr>
              <a:t>3. Logical operators </a:t>
            </a:r>
          </a:p>
          <a:p>
            <a:pPr algn="just"/>
            <a:r>
              <a:rPr lang="en-US" dirty="0">
                <a:latin typeface="Times New Roman" panose="02020603050405020304" pitchFamily="18" charset="0"/>
                <a:cs typeface="Times New Roman" panose="02020603050405020304" pitchFamily="18" charset="0"/>
              </a:rPr>
              <a:t>4. Assignment operators </a:t>
            </a:r>
          </a:p>
          <a:p>
            <a:pPr algn="just"/>
            <a:r>
              <a:rPr lang="en-US" dirty="0">
                <a:latin typeface="Times New Roman" panose="02020603050405020304" pitchFamily="18" charset="0"/>
                <a:cs typeface="Times New Roman" panose="02020603050405020304" pitchFamily="18" charset="0"/>
              </a:rPr>
              <a:t>5. Increment or Decrement operators </a:t>
            </a:r>
          </a:p>
          <a:p>
            <a:pPr algn="just"/>
            <a:r>
              <a:rPr lang="en-US" dirty="0">
                <a:latin typeface="Times New Roman" panose="02020603050405020304" pitchFamily="18" charset="0"/>
                <a:cs typeface="Times New Roman" panose="02020603050405020304" pitchFamily="18" charset="0"/>
              </a:rPr>
              <a:t>6. Conditional operator </a:t>
            </a:r>
          </a:p>
          <a:p>
            <a:pPr algn="just"/>
            <a:r>
              <a:rPr lang="en-US" dirty="0">
                <a:latin typeface="Times New Roman" panose="02020603050405020304" pitchFamily="18" charset="0"/>
                <a:cs typeface="Times New Roman" panose="02020603050405020304" pitchFamily="18" charset="0"/>
              </a:rPr>
              <a:t>7. Bit wise operators </a:t>
            </a:r>
          </a:p>
        </p:txBody>
      </p:sp>
    </p:spTree>
    <p:extLst>
      <p:ext uri="{BB962C8B-B14F-4D97-AF65-F5344CB8AC3E}">
        <p14:creationId xmlns:p14="http://schemas.microsoft.com/office/powerpoint/2010/main" val="19047899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E66472-6326-6B4E-9919-2D6917851909}"/>
              </a:ext>
            </a:extLst>
          </p:cNvPr>
          <p:cNvPicPr>
            <a:picLocks noGrp="1" noChangeAspect="1"/>
          </p:cNvPicPr>
          <p:nvPr>
            <p:ph idx="1"/>
          </p:nvPr>
        </p:nvPicPr>
        <p:blipFill>
          <a:blip r:embed="rId2"/>
          <a:stretch>
            <a:fillRect/>
          </a:stretch>
        </p:blipFill>
        <p:spPr>
          <a:xfrm>
            <a:off x="228600" y="152400"/>
            <a:ext cx="8458200" cy="2594769"/>
          </a:xfrm>
          <a:prstGeom prst="rect">
            <a:avLst/>
          </a:prstGeom>
        </p:spPr>
      </p:pic>
      <p:sp>
        <p:nvSpPr>
          <p:cNvPr id="7" name="TextBox 6">
            <a:extLst>
              <a:ext uri="{FF2B5EF4-FFF2-40B4-BE49-F238E27FC236}">
                <a16:creationId xmlns:a16="http://schemas.microsoft.com/office/drawing/2014/main" id="{1A6E8BB9-DBEB-5F21-D5F8-FB1F1AF2E247}"/>
              </a:ext>
            </a:extLst>
          </p:cNvPr>
          <p:cNvSpPr txBox="1"/>
          <p:nvPr/>
        </p:nvSpPr>
        <p:spPr>
          <a:xfrm>
            <a:off x="228600" y="2971800"/>
            <a:ext cx="8686800" cy="3877985"/>
          </a:xfrm>
          <a:prstGeom prst="rect">
            <a:avLst/>
          </a:prstGeom>
          <a:noFill/>
        </p:spPr>
        <p:txBody>
          <a:bodyPr wrap="square">
            <a:spAutoFit/>
          </a:bodyPr>
          <a:lstStyle/>
          <a:p>
            <a:endParaRPr lang="en-US" sz="1200" b="0" i="0" u="none" strike="noStrike" baseline="0" dirty="0">
              <a:solidFill>
                <a:srgbClr val="000000"/>
              </a:solidFill>
              <a:latin typeface="Cambria" panose="02040503050406030204" pitchFamily="18" charset="0"/>
            </a:endParaRPr>
          </a:p>
          <a:p>
            <a:r>
              <a:rPr lang="en-US" b="1" i="0" u="none" strike="noStrike" baseline="0" dirty="0">
                <a:solidFill>
                  <a:srgbClr val="FF0000"/>
                </a:solidFill>
                <a:latin typeface="Cambria" panose="02040503050406030204" pitchFamily="18" charset="0"/>
              </a:rPr>
              <a:t>Program: Java Program to implement Arithmetic Operators</a:t>
            </a:r>
            <a:endParaRPr lang="en-US" b="0" i="0" u="none" strike="noStrike" baseline="0" dirty="0">
              <a:solidFill>
                <a:srgbClr val="FF0000"/>
              </a:solidFill>
              <a:latin typeface="Cambria" panose="02040503050406030204" pitchFamily="18" charset="0"/>
            </a:endParaRPr>
          </a:p>
          <a:p>
            <a:r>
              <a:rPr lang="en-US" b="0" i="0" u="none" strike="noStrike" baseline="0" dirty="0">
                <a:solidFill>
                  <a:srgbClr val="000000"/>
                </a:solidFill>
                <a:latin typeface="Cambria" panose="02040503050406030204" pitchFamily="18" charset="0"/>
              </a:rPr>
              <a:t>class </a:t>
            </a:r>
            <a:r>
              <a:rPr lang="en-US" b="0" i="0" u="none" strike="noStrike" baseline="0" dirty="0" err="1">
                <a:solidFill>
                  <a:srgbClr val="000000"/>
                </a:solidFill>
                <a:latin typeface="Cambria" panose="02040503050406030204" pitchFamily="18" charset="0"/>
              </a:rPr>
              <a:t>ArithmeticOperators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public static void main(String[] </a:t>
            </a:r>
            <a:r>
              <a:rPr lang="en-US" b="0" i="0" u="none" strike="noStrike" baseline="0" dirty="0" err="1">
                <a:solidFill>
                  <a:srgbClr val="000000"/>
                </a:solidFill>
                <a:latin typeface="Cambria" panose="02040503050406030204" pitchFamily="18" charset="0"/>
              </a:rPr>
              <a:t>args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int a = 12, b = 5;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endParaRPr lang="en-US" sz="4800" dirty="0"/>
          </a:p>
        </p:txBody>
      </p:sp>
    </p:spTree>
    <p:extLst>
      <p:ext uri="{BB962C8B-B14F-4D97-AF65-F5344CB8AC3E}">
        <p14:creationId xmlns:p14="http://schemas.microsoft.com/office/powerpoint/2010/main" val="15298920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A651D6-9D2E-2ACC-5579-B2F8F1DDF8F9}"/>
              </a:ext>
            </a:extLst>
          </p:cNvPr>
          <p:cNvPicPr>
            <a:picLocks noGrp="1" noChangeAspect="1"/>
          </p:cNvPicPr>
          <p:nvPr>
            <p:ph idx="1"/>
          </p:nvPr>
        </p:nvPicPr>
        <p:blipFill>
          <a:blip r:embed="rId2"/>
          <a:stretch>
            <a:fillRect/>
          </a:stretch>
        </p:blipFill>
        <p:spPr>
          <a:xfrm>
            <a:off x="533400" y="2458"/>
            <a:ext cx="7391400" cy="2463800"/>
          </a:xfrm>
          <a:prstGeom prst="rect">
            <a:avLst/>
          </a:prstGeom>
        </p:spPr>
      </p:pic>
      <p:sp>
        <p:nvSpPr>
          <p:cNvPr id="7" name="TextBox 6">
            <a:extLst>
              <a:ext uri="{FF2B5EF4-FFF2-40B4-BE49-F238E27FC236}">
                <a16:creationId xmlns:a16="http://schemas.microsoft.com/office/drawing/2014/main" id="{2CB03A37-E077-034D-49D4-AEB6DC11B1D1}"/>
              </a:ext>
            </a:extLst>
          </p:cNvPr>
          <p:cNvSpPr txBox="1"/>
          <p:nvPr/>
        </p:nvSpPr>
        <p:spPr>
          <a:xfrm>
            <a:off x="38100" y="2466258"/>
            <a:ext cx="9067800" cy="4401205"/>
          </a:xfrm>
          <a:prstGeom prst="rect">
            <a:avLst/>
          </a:prstGeom>
          <a:noFill/>
        </p:spPr>
        <p:txBody>
          <a:bodyPr wrap="square">
            <a:spAutoFit/>
          </a:bodyPr>
          <a:lstStyle/>
          <a:p>
            <a:r>
              <a:rPr lang="en-US" sz="2000" b="1" i="0" u="none" strike="noStrike" baseline="0" dirty="0">
                <a:solidFill>
                  <a:srgbClr val="FF0000"/>
                </a:solidFill>
                <a:latin typeface="Cambria" panose="02040503050406030204" pitchFamily="18" charset="0"/>
              </a:rPr>
              <a:t>Program: Java Program to implement Relational Operators</a:t>
            </a:r>
            <a:endParaRPr lang="en-US" sz="2000" b="0" i="0" u="none" strike="noStrike" baseline="0" dirty="0">
              <a:solidFill>
                <a:srgbClr val="FF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class </a:t>
            </a:r>
            <a:r>
              <a:rPr lang="en-US" sz="2000" b="0" i="0" u="none" strike="noStrike" baseline="0" dirty="0" err="1">
                <a:solidFill>
                  <a:srgbClr val="000000"/>
                </a:solidFill>
                <a:latin typeface="Cambria" panose="02040503050406030204" pitchFamily="18" charset="0"/>
              </a:rPr>
              <a:t>RelationalOperator</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public static void main(String[] </a:t>
            </a:r>
            <a:r>
              <a:rPr lang="en-US" sz="2000" b="0" i="0" u="none" strike="noStrike" baseline="0" dirty="0" err="1">
                <a:solidFill>
                  <a:srgbClr val="000000"/>
                </a:solidFill>
                <a:latin typeface="Cambria" panose="02040503050406030204" pitchFamily="18" charset="0"/>
              </a:rPr>
              <a:t>args</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int a = 10;  int b = 3;  int c = 5;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a:solidFill>
                  <a:srgbClr val="000000"/>
                </a:solidFill>
                <a:latin typeface="Cambria" panose="02040503050406030204" pitchFamily="18" charset="0"/>
              </a:rPr>
              <a:t>} </a:t>
            </a:r>
          </a:p>
          <a:p>
            <a:r>
              <a:rPr lang="en-US" sz="2000" dirty="0">
                <a:solidFill>
                  <a:srgbClr val="000000"/>
                </a:solidFill>
                <a:latin typeface="Cambria" panose="02040503050406030204" pitchFamily="18" charset="0"/>
              </a:rPr>
              <a:t>}</a:t>
            </a:r>
            <a:endParaRPr lang="en-US" sz="5400" dirty="0"/>
          </a:p>
        </p:txBody>
      </p:sp>
    </p:spTree>
    <p:extLst>
      <p:ext uri="{BB962C8B-B14F-4D97-AF65-F5344CB8AC3E}">
        <p14:creationId xmlns:p14="http://schemas.microsoft.com/office/powerpoint/2010/main" val="394048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B6EE768-0A63-1EBE-706B-C18E88F1D8F1}"/>
              </a:ext>
            </a:extLst>
          </p:cNvPr>
          <p:cNvPicPr>
            <a:picLocks noGrp="1" noChangeAspect="1"/>
          </p:cNvPicPr>
          <p:nvPr>
            <p:ph idx="1"/>
          </p:nvPr>
        </p:nvPicPr>
        <p:blipFill>
          <a:blip r:embed="rId2"/>
          <a:stretch>
            <a:fillRect/>
          </a:stretch>
        </p:blipFill>
        <p:spPr>
          <a:xfrm>
            <a:off x="365773" y="3048000"/>
            <a:ext cx="8412453" cy="3392130"/>
          </a:xfrm>
          <a:prstGeom prst="rect">
            <a:avLst/>
          </a:prstGeom>
        </p:spPr>
      </p:pic>
      <p:pic>
        <p:nvPicPr>
          <p:cNvPr id="5" name="Picture 4">
            <a:extLst>
              <a:ext uri="{FF2B5EF4-FFF2-40B4-BE49-F238E27FC236}">
                <a16:creationId xmlns:a16="http://schemas.microsoft.com/office/drawing/2014/main" id="{AD95C808-DF46-77FF-E8DA-043C3525C2DE}"/>
              </a:ext>
            </a:extLst>
          </p:cNvPr>
          <p:cNvPicPr>
            <a:picLocks noChangeAspect="1"/>
          </p:cNvPicPr>
          <p:nvPr/>
        </p:nvPicPr>
        <p:blipFill>
          <a:blip r:embed="rId3"/>
          <a:stretch>
            <a:fillRect/>
          </a:stretch>
        </p:blipFill>
        <p:spPr>
          <a:xfrm>
            <a:off x="266700" y="24580"/>
            <a:ext cx="8610600" cy="3023420"/>
          </a:xfrm>
          <a:prstGeom prst="rect">
            <a:avLst/>
          </a:prstGeom>
        </p:spPr>
      </p:pic>
    </p:spTree>
    <p:extLst>
      <p:ext uri="{BB962C8B-B14F-4D97-AF65-F5344CB8AC3E}">
        <p14:creationId xmlns:p14="http://schemas.microsoft.com/office/powerpoint/2010/main" val="28658907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A4A551-D9DA-A023-EAB8-38D958EA28E5}"/>
              </a:ext>
            </a:extLst>
          </p:cNvPr>
          <p:cNvPicPr>
            <a:picLocks noGrp="1" noChangeAspect="1"/>
          </p:cNvPicPr>
          <p:nvPr>
            <p:ph idx="1"/>
          </p:nvPr>
        </p:nvPicPr>
        <p:blipFill>
          <a:blip r:embed="rId2"/>
          <a:stretch>
            <a:fillRect/>
          </a:stretch>
        </p:blipFill>
        <p:spPr>
          <a:xfrm>
            <a:off x="228600" y="228600"/>
            <a:ext cx="8686800" cy="6477000"/>
          </a:xfrm>
          <a:prstGeom prst="rect">
            <a:avLst/>
          </a:prstGeom>
        </p:spPr>
      </p:pic>
    </p:spTree>
    <p:extLst>
      <p:ext uri="{BB962C8B-B14F-4D97-AF65-F5344CB8AC3E}">
        <p14:creationId xmlns:p14="http://schemas.microsoft.com/office/powerpoint/2010/main" val="16053191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CB3C9-0486-F9AE-B51A-8A2A09BAC942}"/>
              </a:ext>
            </a:extLst>
          </p:cNvPr>
          <p:cNvSpPr>
            <a:spLocks noGrp="1"/>
          </p:cNvSpPr>
          <p:nvPr>
            <p:ph idx="1"/>
          </p:nvPr>
        </p:nvSpPr>
        <p:spPr>
          <a:xfrm>
            <a:off x="457200" y="152400"/>
            <a:ext cx="8229600" cy="5973763"/>
          </a:xfrm>
        </p:spPr>
        <p:txBody>
          <a:bodyPr>
            <a:normAutofit fontScale="92500" lnSpcReduction="1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Example of Logical Operators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LogicalOp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int x=10;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&amp;&amp;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 ( ! ( x==10 ));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715817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29D4549F-E47D-33C3-A6D0-A702670D5254}"/>
              </a:ext>
            </a:extLst>
          </p:cNvPr>
          <p:cNvSpPr>
            <a:spLocks noGrp="1"/>
          </p:cNvSpPr>
          <p:nvPr>
            <p:ph idx="1"/>
          </p:nvPr>
        </p:nvSpPr>
        <p:spPr>
          <a:xfrm>
            <a:off x="76200" y="228600"/>
            <a:ext cx="8610600" cy="5897563"/>
          </a:xfrm>
        </p:spPr>
        <p:txBody>
          <a:bodyPr/>
          <a:lstStyle/>
          <a:p>
            <a:r>
              <a:rPr lang="en-US" b="1" dirty="0">
                <a:solidFill>
                  <a:srgbClr val="FF0000"/>
                </a:solidFill>
                <a:latin typeface="Cambria" panose="02040503050406030204" pitchFamily="18" charset="0"/>
              </a:rPr>
              <a:t>4. Assignment Operator: </a:t>
            </a:r>
            <a:r>
              <a:rPr lang="en-US" dirty="0">
                <a:solidFill>
                  <a:srgbClr val="000000"/>
                </a:solidFill>
                <a:latin typeface="Cambria" panose="02040503050406030204" pitchFamily="18" charset="0"/>
              </a:rPr>
              <a:t>Assignment operators are used to assign a value (or) an expression (or) a </a:t>
            </a:r>
          </a:p>
          <a:p>
            <a:r>
              <a:rPr lang="en-US" dirty="0">
                <a:solidFill>
                  <a:srgbClr val="000000"/>
                </a:solidFill>
                <a:latin typeface="Cambria" panose="02040503050406030204" pitchFamily="18" charset="0"/>
              </a:rPr>
              <a:t>value of a variable to another variable. </a:t>
            </a:r>
          </a:p>
          <a:p>
            <a:pPr marL="0" indent="0">
              <a:buNone/>
            </a:pPr>
            <a:endParaRPr lang="en-US" b="1" dirty="0">
              <a:solidFill>
                <a:srgbClr val="FF0000"/>
              </a:solidFill>
              <a:latin typeface="Cambria" panose="02040503050406030204" pitchFamily="18" charset="0"/>
            </a:endParaRPr>
          </a:p>
          <a:p>
            <a:pPr marL="0" indent="0">
              <a:buNone/>
            </a:pPr>
            <a:r>
              <a:rPr lang="en-US" b="1" dirty="0">
                <a:solidFill>
                  <a:srgbClr val="FF0000"/>
                </a:solidFill>
                <a:latin typeface="Cambria" panose="02040503050406030204" pitchFamily="18" charset="0"/>
              </a:rPr>
              <a:t>Syntax : </a:t>
            </a:r>
            <a:r>
              <a:rPr lang="en-US" dirty="0">
                <a:solidFill>
                  <a:srgbClr val="000000"/>
                </a:solidFill>
                <a:latin typeface="Cambria" panose="02040503050406030204" pitchFamily="18" charset="0"/>
              </a:rPr>
              <a:t>variable name=expression (or) value </a:t>
            </a:r>
          </a:p>
          <a:p>
            <a:r>
              <a:rPr lang="en-US" b="1" dirty="0">
                <a:solidFill>
                  <a:srgbClr val="000000"/>
                </a:solidFill>
                <a:latin typeface="Cambria" panose="02040503050406030204" pitchFamily="18" charset="0"/>
              </a:rPr>
              <a:t>Example : </a:t>
            </a:r>
            <a:r>
              <a:rPr lang="en-US" dirty="0">
                <a:solidFill>
                  <a:srgbClr val="000000"/>
                </a:solidFill>
                <a:latin typeface="Cambria" panose="02040503050406030204" pitchFamily="18" charset="0"/>
              </a:rPr>
              <a:t>x=10; </a:t>
            </a:r>
          </a:p>
          <a:p>
            <a:r>
              <a:rPr lang="en-US" dirty="0">
                <a:solidFill>
                  <a:srgbClr val="000000"/>
                </a:solidFill>
                <a:latin typeface="Cambria" panose="02040503050406030204" pitchFamily="18" charset="0"/>
              </a:rPr>
              <a:t>y=20; </a:t>
            </a:r>
            <a:endParaRPr lang="en-US" dirty="0"/>
          </a:p>
          <a:p>
            <a:endParaRPr lang="en-US" dirty="0"/>
          </a:p>
        </p:txBody>
      </p:sp>
    </p:spTree>
    <p:extLst>
      <p:ext uri="{BB962C8B-B14F-4D97-AF65-F5344CB8AC3E}">
        <p14:creationId xmlns:p14="http://schemas.microsoft.com/office/powerpoint/2010/main" val="32029125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02F913-C6FC-3E52-D48A-F6A38DA34A29}"/>
              </a:ext>
            </a:extLst>
          </p:cNvPr>
          <p:cNvGraphicFramePr>
            <a:graphicFrameLocks noGrp="1"/>
          </p:cNvGraphicFramePr>
          <p:nvPr>
            <p:ph idx="1"/>
            <p:extLst>
              <p:ext uri="{D42A27DB-BD31-4B8C-83A1-F6EECF244321}">
                <p14:modId xmlns:p14="http://schemas.microsoft.com/office/powerpoint/2010/main" val="1876114289"/>
              </p:ext>
            </p:extLst>
          </p:nvPr>
        </p:nvGraphicFramePr>
        <p:xfrm>
          <a:off x="152400" y="0"/>
          <a:ext cx="8991600" cy="6858001"/>
        </p:xfrm>
        <a:graphic>
          <a:graphicData uri="http://schemas.openxmlformats.org/drawingml/2006/table">
            <a:tbl>
              <a:tblPr/>
              <a:tblGrid>
                <a:gridCol w="2247900">
                  <a:extLst>
                    <a:ext uri="{9D8B030D-6E8A-4147-A177-3AD203B41FA5}">
                      <a16:colId xmlns:a16="http://schemas.microsoft.com/office/drawing/2014/main" val="3469726394"/>
                    </a:ext>
                  </a:extLst>
                </a:gridCol>
                <a:gridCol w="2247900">
                  <a:extLst>
                    <a:ext uri="{9D8B030D-6E8A-4147-A177-3AD203B41FA5}">
                      <a16:colId xmlns:a16="http://schemas.microsoft.com/office/drawing/2014/main" val="339515416"/>
                    </a:ext>
                  </a:extLst>
                </a:gridCol>
                <a:gridCol w="2247900">
                  <a:extLst>
                    <a:ext uri="{9D8B030D-6E8A-4147-A177-3AD203B41FA5}">
                      <a16:colId xmlns:a16="http://schemas.microsoft.com/office/drawing/2014/main" val="4078771160"/>
                    </a:ext>
                  </a:extLst>
                </a:gridCol>
                <a:gridCol w="2247900">
                  <a:extLst>
                    <a:ext uri="{9D8B030D-6E8A-4147-A177-3AD203B41FA5}">
                      <a16:colId xmlns:a16="http://schemas.microsoft.com/office/drawing/2014/main" val="1656055295"/>
                    </a:ext>
                  </a:extLst>
                </a:gridCol>
              </a:tblGrid>
              <a:tr h="680187">
                <a:tc>
                  <a:txBody>
                    <a:bodyPr/>
                    <a:lstStyle/>
                    <a:p>
                      <a:pPr>
                        <a:buNone/>
                      </a:pPr>
                      <a:r>
                        <a:rPr lang="en-US" sz="1300"/>
                        <a:t>Operator</a:t>
                      </a:r>
                    </a:p>
                  </a:txBody>
                  <a:tcPr marL="64657" marR="64657" marT="32328" marB="32328" anchor="ctr">
                    <a:lnL>
                      <a:noFill/>
                    </a:lnL>
                    <a:lnR>
                      <a:noFill/>
                    </a:lnR>
                    <a:lnT>
                      <a:noFill/>
                    </a:lnT>
                    <a:lnB>
                      <a:noFill/>
                    </a:lnB>
                    <a:noFill/>
                  </a:tcPr>
                </a:tc>
                <a:tc>
                  <a:txBody>
                    <a:bodyPr/>
                    <a:lstStyle/>
                    <a:p>
                      <a:pPr>
                        <a:buNone/>
                      </a:pPr>
                      <a:r>
                        <a:rPr lang="en-US" sz="1300" dirty="0"/>
                        <a:t>Meaning</a:t>
                      </a:r>
                    </a:p>
                  </a:txBody>
                  <a:tcPr marL="64657" marR="64657" marT="32328" marB="32328" anchor="ctr">
                    <a:lnL>
                      <a:noFill/>
                    </a:lnL>
                    <a:lnR>
                      <a:noFill/>
                    </a:lnR>
                    <a:lnT>
                      <a:noFill/>
                    </a:lnT>
                    <a:lnB>
                      <a:noFill/>
                    </a:lnB>
                    <a:noFill/>
                  </a:tcPr>
                </a:tc>
                <a:tc>
                  <a:txBody>
                    <a:bodyPr/>
                    <a:lstStyle/>
                    <a:p>
                      <a:pPr>
                        <a:buNone/>
                      </a:pPr>
                      <a:r>
                        <a:rPr lang="en-US" sz="1300"/>
                        <a:t>Example</a:t>
                      </a:r>
                    </a:p>
                  </a:txBody>
                  <a:tcPr marL="64657" marR="64657" marT="32328" marB="32328" anchor="ctr">
                    <a:lnL>
                      <a:noFill/>
                    </a:lnL>
                    <a:lnR>
                      <a:noFill/>
                    </a:lnR>
                    <a:lnT>
                      <a:noFill/>
                    </a:lnT>
                    <a:lnB>
                      <a:noFill/>
                    </a:lnB>
                    <a:noFill/>
                  </a:tcPr>
                </a:tc>
                <a:tc>
                  <a:txBody>
                    <a:bodyPr/>
                    <a:lstStyle/>
                    <a:p>
                      <a:pPr>
                        <a:buNone/>
                      </a:pPr>
                      <a:r>
                        <a:rPr lang="en-US" sz="1300"/>
                        <a:t>Equivalent Expression</a:t>
                      </a:r>
                    </a:p>
                  </a:txBody>
                  <a:tcPr marL="64657" marR="64657" marT="32328" marB="32328" anchor="ctr">
                    <a:lnL>
                      <a:noFill/>
                    </a:lnL>
                    <a:lnR>
                      <a:noFill/>
                    </a:lnR>
                    <a:lnT>
                      <a:noFill/>
                    </a:lnT>
                    <a:lnB>
                      <a:noFill/>
                    </a:lnB>
                    <a:noFill/>
                  </a:tcPr>
                </a:tc>
                <a:extLst>
                  <a:ext uri="{0D108BD9-81ED-4DB2-BD59-A6C34878D82A}">
                    <a16:rowId xmlns:a16="http://schemas.microsoft.com/office/drawing/2014/main" val="529721463"/>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10</a:t>
                      </a:r>
                      <a:endParaRPr lang="en-US" sz="1300"/>
                    </a:p>
                  </a:txBody>
                  <a:tcPr marL="64657" marR="64657" marT="32328" marB="32328" anchor="ctr">
                    <a:lnL>
                      <a:noFill/>
                    </a:lnL>
                    <a:lnR>
                      <a:noFill/>
                    </a:lnR>
                    <a:lnT>
                      <a:noFill/>
                    </a:lnT>
                    <a:lnB>
                      <a:noFill/>
                    </a:lnB>
                    <a:noFill/>
                  </a:tcPr>
                </a:tc>
                <a:tc>
                  <a:txBody>
                    <a:bodyPr/>
                    <a:lstStyle/>
                    <a:p>
                      <a:pPr>
                        <a:buNone/>
                      </a:pPr>
                      <a:r>
                        <a:rPr lang="en-US" sz="1300"/>
                        <a:t>Assigns </a:t>
                      </a:r>
                      <a:r>
                        <a:rPr lang="en-US" sz="1300">
                          <a:latin typeface="Courier New" panose="02070309020205020404" pitchFamily="49" charset="0"/>
                        </a:rPr>
                        <a:t>10</a:t>
                      </a:r>
                      <a:r>
                        <a:rPr lang="en-US" sz="1300"/>
                        <a:t> to </a:t>
                      </a:r>
                      <a:r>
                        <a:rPr lang="en-US" sz="1300">
                          <a:latin typeface="Courier New" panose="02070309020205020404" pitchFamily="49" charset="0"/>
                        </a:rPr>
                        <a:t>a</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94480558"/>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Add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02543560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Subtract and assign</a:t>
                      </a:r>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5</a:t>
                      </a:r>
                      <a:endParaRPr lang="en-US" sz="1300" dirty="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45517037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Multiply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51420565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Divide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63678984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Modulus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688468709"/>
                  </a:ext>
                </a:extLst>
              </a:tr>
              <a:tr h="394915">
                <a:tc>
                  <a:txBody>
                    <a:bodyPr/>
                    <a:lstStyle/>
                    <a:p>
                      <a:pPr>
                        <a:buNone/>
                      </a:pPr>
                      <a:r>
                        <a:rPr lang="en-US" sz="1300">
                          <a:latin typeface="Courier New" panose="02070309020205020404" pitchFamily="49" charset="0"/>
                        </a:rPr>
                        <a:t>&lt;&lt;=</a:t>
                      </a:r>
                      <a:endParaRPr lang="en-US" sz="1300"/>
                    </a:p>
                  </a:txBody>
                  <a:tcPr marL="64657" marR="64657" marT="32328" marB="32328" anchor="ctr">
                    <a:lnL>
                      <a:noFill/>
                    </a:lnL>
                    <a:lnR>
                      <a:noFill/>
                    </a:lnR>
                    <a:lnT>
                      <a:noFill/>
                    </a:lnT>
                    <a:lnB>
                      <a:noFill/>
                    </a:lnB>
                    <a:noFill/>
                  </a:tcPr>
                </a:tc>
                <a:tc>
                  <a:txBody>
                    <a:bodyPr/>
                    <a:lstStyle/>
                    <a:p>
                      <a:pPr>
                        <a:buNone/>
                      </a:pPr>
                      <a:r>
                        <a:rPr lang="en-US" sz="1300"/>
                        <a:t>Left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&lt;&lt;=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&lt;&lt;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37493570"/>
                  </a:ext>
                </a:extLst>
              </a:tr>
              <a:tr h="680187">
                <a:tc>
                  <a:txBody>
                    <a:bodyPr/>
                    <a:lstStyle/>
                    <a:p>
                      <a:pPr>
                        <a:buNone/>
                      </a:pPr>
                      <a:r>
                        <a:rPr lang="en-US" sz="1300">
                          <a:latin typeface="Courier New" panose="02070309020205020404" pitchFamily="49" charset="0"/>
                        </a:rPr>
                        <a:t>&gt;&gt;=</a:t>
                      </a:r>
                      <a:endParaRPr lang="en-US" sz="1300"/>
                    </a:p>
                  </a:txBody>
                  <a:tcPr marL="64657" marR="64657" marT="32328" marB="32328" anchor="ctr">
                    <a:lnL>
                      <a:noFill/>
                    </a:lnL>
                    <a:lnR>
                      <a:noFill/>
                    </a:lnR>
                    <a:lnT>
                      <a:noFill/>
                    </a:lnT>
                    <a:lnB>
                      <a:noFill/>
                    </a:lnB>
                    <a:noFill/>
                  </a:tcPr>
                </a:tc>
                <a:tc>
                  <a:txBody>
                    <a:bodyPr/>
                    <a:lstStyle/>
                    <a:p>
                      <a:pPr>
                        <a:buNone/>
                      </a:pPr>
                      <a:r>
                        <a:rPr lang="en-US" sz="1300"/>
                        <a:t>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4019187402"/>
                  </a:ext>
                </a:extLst>
              </a:tr>
              <a:tr h="692661">
                <a:tc>
                  <a:txBody>
                    <a:bodyPr/>
                    <a:lstStyle/>
                    <a:p>
                      <a:pPr>
                        <a:buNone/>
                      </a:pPr>
                      <a:r>
                        <a:rPr lang="en-US" sz="1300">
                          <a:latin typeface="Courier New" panose="02070309020205020404" pitchFamily="49" charset="0"/>
                        </a:rPr>
                        <a:t>&gt;&gt;&gt;=</a:t>
                      </a:r>
                      <a:endParaRPr lang="en-US" sz="1300"/>
                    </a:p>
                  </a:txBody>
                  <a:tcPr marL="64657" marR="64657" marT="32328" marB="32328" anchor="ctr">
                    <a:lnL>
                      <a:noFill/>
                    </a:lnL>
                    <a:lnR>
                      <a:noFill/>
                    </a:lnR>
                    <a:lnT>
                      <a:noFill/>
                    </a:lnT>
                    <a:lnB>
                      <a:noFill/>
                    </a:lnB>
                    <a:noFill/>
                  </a:tcPr>
                </a:tc>
                <a:tc>
                  <a:txBody>
                    <a:bodyPr/>
                    <a:lstStyle/>
                    <a:p>
                      <a:pPr>
                        <a:buNone/>
                      </a:pPr>
                      <a:r>
                        <a:rPr lang="en-US" sz="1300"/>
                        <a:t>Unsigned 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952245423"/>
                  </a:ext>
                </a:extLst>
              </a:tr>
              <a:tr h="680187">
                <a:tc>
                  <a:txBody>
                    <a:bodyPr/>
                    <a:lstStyle/>
                    <a:p>
                      <a:pPr>
                        <a:buNone/>
                      </a:pPr>
                      <a:r>
                        <a:rPr lang="en-US" sz="1300">
                          <a:latin typeface="Courier New" panose="02070309020205020404" pitchFamily="49" charset="0"/>
                        </a:rPr>
                        <a:t>&amp;=</a:t>
                      </a:r>
                      <a:endParaRPr lang="en-US" sz="1300"/>
                    </a:p>
                  </a:txBody>
                  <a:tcPr marL="64657" marR="64657" marT="32328" marB="32328" anchor="ctr">
                    <a:lnL>
                      <a:noFill/>
                    </a:lnL>
                    <a:lnR>
                      <a:noFill/>
                    </a:lnR>
                    <a:lnT>
                      <a:noFill/>
                    </a:lnT>
                    <a:lnB>
                      <a:noFill/>
                    </a:lnB>
                    <a:noFill/>
                  </a:tcPr>
                </a:tc>
                <a:tc>
                  <a:txBody>
                    <a:bodyPr/>
                    <a:lstStyle/>
                    <a:p>
                      <a:pPr>
                        <a:buNone/>
                      </a:pPr>
                      <a:r>
                        <a:rPr lang="en-US" sz="1300"/>
                        <a:t>Bitwise AND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&amp;= b</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&amp; b</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432746746"/>
                  </a:ext>
                </a:extLst>
              </a:tr>
              <a:tr h="680187">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Bitwise OR and assign</a:t>
                      </a:r>
                    </a:p>
                  </a:txBody>
                  <a:tcPr marL="64657" marR="64657" marT="32328" marB="32328" anchor="ctr">
                    <a:lnL>
                      <a:noFill/>
                    </a:lnL>
                    <a:lnR>
                      <a:noFill/>
                    </a:lnR>
                    <a:lnT>
                      <a:noFill/>
                    </a:lnT>
                    <a:lnB>
                      <a:noFill/>
                    </a:lnB>
                    <a:noFill/>
                  </a:tcPr>
                </a:tc>
                <a:tc>
                  <a:txBody>
                    <a:bodyPr/>
                    <a:lstStyle/>
                    <a:p>
                      <a:pPr>
                        <a:buNone/>
                      </a:pPr>
                      <a:r>
                        <a:rPr lang="en-US" sz="1300"/>
                        <a:t>`a</a:t>
                      </a:r>
                    </a:p>
                  </a:txBody>
                  <a:tcPr marL="64657" marR="64657" marT="32328" marB="32328" anchor="ctr">
                    <a:lnL>
                      <a:noFill/>
                    </a:lnL>
                    <a:lnR>
                      <a:noFill/>
                    </a:lnR>
                    <a:lnT>
                      <a:noFill/>
                    </a:lnT>
                    <a:lnB>
                      <a:noFill/>
                    </a:lnB>
                    <a:noFill/>
                  </a:tcPr>
                </a:tc>
                <a:extLst>
                  <a:ext uri="{0D108BD9-81ED-4DB2-BD59-A6C34878D82A}">
                    <a16:rowId xmlns:a16="http://schemas.microsoft.com/office/drawing/2014/main" val="1440320976"/>
                  </a:ext>
                </a:extLst>
              </a:tr>
              <a:tr h="680187">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Bitwise XOR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b</a:t>
                      </a:r>
                      <a:endParaRPr lang="en-US" sz="1300"/>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a ^ b</a:t>
                      </a:r>
                      <a:endParaRPr lang="en-US" sz="1300" dirty="0"/>
                    </a:p>
                  </a:txBody>
                  <a:tcPr marL="64657" marR="64657" marT="32328" marB="32328" anchor="ctr">
                    <a:lnL>
                      <a:noFill/>
                    </a:lnL>
                    <a:lnR>
                      <a:noFill/>
                    </a:lnR>
                    <a:lnT>
                      <a:noFill/>
                    </a:lnT>
                    <a:lnB>
                      <a:noFill/>
                    </a:lnB>
                    <a:noFill/>
                  </a:tcPr>
                </a:tc>
                <a:extLst>
                  <a:ext uri="{0D108BD9-81ED-4DB2-BD59-A6C34878D82A}">
                    <a16:rowId xmlns:a16="http://schemas.microsoft.com/office/drawing/2014/main" val="2862912102"/>
                  </a:ext>
                </a:extLst>
              </a:tr>
            </a:tbl>
          </a:graphicData>
        </a:graphic>
      </p:graphicFrame>
    </p:spTree>
    <p:extLst>
      <p:ext uri="{BB962C8B-B14F-4D97-AF65-F5344CB8AC3E}">
        <p14:creationId xmlns:p14="http://schemas.microsoft.com/office/powerpoint/2010/main" val="20277504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BDA699-6677-4E38-8D8A-FEDC1ED6CE3C}"/>
              </a:ext>
            </a:extLst>
          </p:cNvPr>
          <p:cNvSpPr>
            <a:spLocks noGrp="1"/>
          </p:cNvSpPr>
          <p:nvPr>
            <p:ph idx="1"/>
          </p:nvPr>
        </p:nvSpPr>
        <p:spPr>
          <a:xfrm>
            <a:off x="457200" y="152400"/>
            <a:ext cx="8229600" cy="5973763"/>
          </a:xfrm>
        </p:spPr>
        <p:txBody>
          <a:bodyPr>
            <a:normAutofit fontScale="55000" lnSpcReduction="20000"/>
          </a:bodyPr>
          <a:lstStyle/>
          <a:p>
            <a:pPr marL="0" indent="0" algn="ctr">
              <a:buNone/>
            </a:pPr>
            <a:r>
              <a:rPr lang="en-US" b="1" dirty="0">
                <a:solidFill>
                  <a:srgbClr val="FF0000"/>
                </a:solidFill>
              </a:rPr>
              <a:t>Example of Assignment Operators</a:t>
            </a:r>
          </a:p>
          <a:p>
            <a:pPr marL="0" indent="0">
              <a:buNone/>
            </a:pPr>
            <a:r>
              <a:rPr lang="en-US" sz="3300" dirty="0">
                <a:latin typeface="Times New Roman" panose="02020603050405020304" pitchFamily="18" charset="0"/>
                <a:cs typeface="Times New Roman" panose="02020603050405020304" pitchFamily="18" charset="0"/>
              </a:rPr>
              <a:t>class </a:t>
            </a:r>
            <a:r>
              <a:rPr lang="en-US" sz="3300" dirty="0" err="1">
                <a:latin typeface="Times New Roman" panose="02020603050405020304" pitchFamily="18" charset="0"/>
                <a:cs typeface="Times New Roman" panose="02020603050405020304" pitchFamily="18" charset="0"/>
              </a:rPr>
              <a:t>AssignmentOperator</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public static void main(String[] </a:t>
            </a:r>
            <a:r>
              <a:rPr lang="en-US" sz="3300" dirty="0" err="1">
                <a:latin typeface="Times New Roman" panose="02020603050405020304" pitchFamily="18" charset="0"/>
                <a:cs typeface="Times New Roman" panose="02020603050405020304" pitchFamily="18" charset="0"/>
              </a:rPr>
              <a:t>args</a:t>
            </a: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a:t>
            </a:r>
            <a:r>
              <a:rPr lang="en-US" sz="3300" dirty="0" err="1">
                <a:latin typeface="Times New Roman" panose="02020603050405020304" pitchFamily="18" charset="0"/>
                <a:cs typeface="Times New Roman" panose="02020603050405020304" pitchFamily="18" charset="0"/>
              </a:rPr>
              <a:t>nAssignment</a:t>
            </a:r>
            <a:r>
              <a:rPr lang="en-US" sz="3300" dirty="0">
                <a:latin typeface="Times New Roman" panose="02020603050405020304" pitchFamily="18" charset="0"/>
                <a:cs typeface="Times New Roman" panose="02020603050405020304" pitchFamily="18" charset="0"/>
              </a:rPr>
              <a:t> Operators");</a:t>
            </a:r>
          </a:p>
          <a:p>
            <a:pPr marL="0" indent="0">
              <a:buNone/>
            </a:pPr>
            <a:r>
              <a:rPr lang="en-US" sz="3300" dirty="0">
                <a:latin typeface="Times New Roman" panose="02020603050405020304" pitchFamily="18" charset="0"/>
                <a:cs typeface="Times New Roman" panose="02020603050405020304" pitchFamily="18" charset="0"/>
              </a:rPr>
              <a:t>        int x = 10;</a:t>
            </a:r>
          </a:p>
          <a:p>
            <a:pPr marL="0" indent="0">
              <a:buNone/>
            </a:pPr>
            <a:r>
              <a:rPr lang="en-US" sz="3300" dirty="0">
                <a:latin typeface="Times New Roman" panose="02020603050405020304" pitchFamily="18" charset="0"/>
                <a:cs typeface="Times New Roman" panose="02020603050405020304" pitchFamily="18" charset="0"/>
              </a:rPr>
              <a:t>        x += 5;</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5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        x *= 2;</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2 : " + x);</a:t>
            </a:r>
          </a:p>
          <a:p>
            <a:pPr marL="0" indent="0">
              <a:buNone/>
            </a:pPr>
            <a:r>
              <a:rPr lang="en-US" sz="3300" dirty="0">
                <a:latin typeface="Times New Roman" panose="02020603050405020304" pitchFamily="18" charset="0"/>
                <a:cs typeface="Times New Roman" panose="02020603050405020304" pitchFamily="18" charset="0"/>
              </a:rPr>
              <a:t>        x /= 4;</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4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br>
              <a:rPr lang="en-US" dirty="0"/>
            </a:br>
            <a:endParaRPr lang="en-US" dirty="0"/>
          </a:p>
        </p:txBody>
      </p:sp>
    </p:spTree>
    <p:extLst>
      <p:ext uri="{BB962C8B-B14F-4D97-AF65-F5344CB8AC3E}">
        <p14:creationId xmlns:p14="http://schemas.microsoft.com/office/powerpoint/2010/main" val="25913038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53698-69EA-229C-B38B-8A4F4D29C0FD}"/>
              </a:ext>
            </a:extLst>
          </p:cNvPr>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5: </a:t>
            </a:r>
            <a:r>
              <a:rPr lang="en-US" sz="2000" b="1" dirty="0">
                <a:solidFill>
                  <a:srgbClr val="FF0000"/>
                </a:solidFill>
                <a:latin typeface="Times New Roman" panose="02020603050405020304" pitchFamily="18" charset="0"/>
                <a:cs typeface="Times New Roman" panose="02020603050405020304" pitchFamily="18" charset="0"/>
              </a:rPr>
              <a:t>Increment And Decrement Operators</a:t>
            </a:r>
            <a:r>
              <a:rPr lang="en-US" sz="2000" dirty="0">
                <a:latin typeface="Times New Roman" panose="02020603050405020304" pitchFamily="18" charset="0"/>
                <a:cs typeface="Times New Roman" panose="02020603050405020304" pitchFamily="18" charset="0"/>
              </a:rPr>
              <a:t>: The increment and decrement operators are very useful. ++ and == are called increment and decrement operators used to add or subtract. Both are unary operators. </a:t>
            </a:r>
          </a:p>
          <a:p>
            <a:pPr marL="0" indent="0" algn="just">
              <a:buNone/>
            </a:pPr>
            <a:r>
              <a:rPr lang="en-US" sz="2000" b="1" dirty="0">
                <a:latin typeface="Times New Roman" panose="02020603050405020304" pitchFamily="18" charset="0"/>
                <a:cs typeface="Times New Roman" panose="02020603050405020304" pitchFamily="18" charset="0"/>
              </a:rPr>
              <a:t>The syntax of the operators is given below.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These operators in two forms </a:t>
            </a:r>
            <a:r>
              <a:rPr lang="en-US" sz="2000" b="1" dirty="0">
                <a:solidFill>
                  <a:srgbClr val="FF0000"/>
                </a:solidFill>
                <a:latin typeface="Times New Roman" panose="02020603050405020304" pitchFamily="18" charset="0"/>
                <a:cs typeface="Times New Roman" panose="02020603050405020304" pitchFamily="18" charset="0"/>
              </a:rPr>
              <a:t>: prefix (++x) </a:t>
            </a:r>
            <a:r>
              <a:rPr lang="en-US" sz="2000" dirty="0">
                <a:latin typeface="Times New Roman" panose="02020603050405020304" pitchFamily="18" charset="0"/>
                <a:cs typeface="Times New Roman" panose="02020603050405020304" pitchFamily="18" charset="0"/>
              </a:rPr>
              <a:t>and </a:t>
            </a:r>
            <a:r>
              <a:rPr lang="en-US" sz="2000" b="1" dirty="0">
                <a:solidFill>
                  <a:srgbClr val="FF0000"/>
                </a:solidFill>
                <a:latin typeface="Times New Roman" panose="02020603050405020304" pitchFamily="18" charset="0"/>
                <a:cs typeface="Times New Roman" panose="02020603050405020304" pitchFamily="18" charset="0"/>
              </a:rPr>
              <a:t>postfix(x++).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9CC72A9-7111-7282-B23D-585845EBFC30}"/>
              </a:ext>
            </a:extLst>
          </p:cNvPr>
          <p:cNvPicPr>
            <a:picLocks noChangeAspect="1"/>
          </p:cNvPicPr>
          <p:nvPr/>
        </p:nvPicPr>
        <p:blipFill>
          <a:blip r:embed="rId2"/>
          <a:stretch>
            <a:fillRect/>
          </a:stretch>
        </p:blipFill>
        <p:spPr>
          <a:xfrm>
            <a:off x="0" y="3215481"/>
            <a:ext cx="5181600" cy="2282803"/>
          </a:xfrm>
          <a:prstGeom prst="rect">
            <a:avLst/>
          </a:prstGeom>
        </p:spPr>
      </p:pic>
      <p:sp>
        <p:nvSpPr>
          <p:cNvPr id="8" name="TextBox 7">
            <a:extLst>
              <a:ext uri="{FF2B5EF4-FFF2-40B4-BE49-F238E27FC236}">
                <a16:creationId xmlns:a16="http://schemas.microsoft.com/office/drawing/2014/main" id="{EB0A80F9-7569-4C47-C5C5-CF12008DDF43}"/>
              </a:ext>
            </a:extLst>
          </p:cNvPr>
          <p:cNvSpPr txBox="1"/>
          <p:nvPr/>
        </p:nvSpPr>
        <p:spPr>
          <a:xfrm>
            <a:off x="4522225" y="3183526"/>
            <a:ext cx="4572000" cy="3477875"/>
          </a:xfrm>
          <a:prstGeom prst="rect">
            <a:avLst/>
          </a:prstGeom>
          <a:noFill/>
        </p:spPr>
        <p:txBody>
          <a:bodyPr wrap="square">
            <a:spAutoFit/>
          </a:bodyPr>
          <a:lstStyle/>
          <a:p>
            <a:r>
              <a:rPr lang="en-US" sz="2000" b="1" dirty="0">
                <a:solidFill>
                  <a:srgbClr val="000000"/>
                </a:solidFill>
                <a:latin typeface="Cambria" panose="02040503050406030204" pitchFamily="18" charset="0"/>
              </a:rPr>
              <a:t>Where </a:t>
            </a:r>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1 : </a:t>
            </a:r>
            <a:r>
              <a:rPr lang="en-US" sz="2000" b="1" dirty="0">
                <a:solidFill>
                  <a:srgbClr val="000000"/>
                </a:solidFill>
                <a:latin typeface="Cambria" panose="02040503050406030204" pitchFamily="18" charset="0"/>
              </a:rPr>
              <a:t>++x : </a:t>
            </a:r>
            <a:r>
              <a:rPr lang="en-US" sz="2000" dirty="0">
                <a:solidFill>
                  <a:srgbClr val="000000"/>
                </a:solidFill>
                <a:latin typeface="Cambria" panose="02040503050406030204" pitchFamily="18" charset="0"/>
              </a:rPr>
              <a:t>Pre increment, first increment and then do the operation. </a:t>
            </a:r>
          </a:p>
          <a:p>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2 : </a:t>
            </a:r>
            <a:r>
              <a:rPr lang="en-US" sz="2000" b="1" dirty="0">
                <a:solidFill>
                  <a:srgbClr val="000000"/>
                </a:solidFill>
                <a:latin typeface="Cambria" panose="02040503050406030204" pitchFamily="18" charset="0"/>
              </a:rPr>
              <a:t>- -x : </a:t>
            </a:r>
            <a:r>
              <a:rPr lang="en-US" sz="2000" dirty="0">
                <a:solidFill>
                  <a:srgbClr val="000000"/>
                </a:solidFill>
                <a:latin typeface="Cambria" panose="02040503050406030204" pitchFamily="18" charset="0"/>
              </a:rPr>
              <a:t>Pre decrement, first decrements and then do the operation. </a:t>
            </a:r>
          </a:p>
          <a:p>
            <a:endParaRPr lang="en-US" sz="2000" b="0" i="0" u="none" strike="noStrike" baseline="0" dirty="0">
              <a:solidFill>
                <a:srgbClr val="00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3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Post increment, first do the operation and then increment. </a:t>
            </a:r>
          </a:p>
          <a:p>
            <a:r>
              <a:rPr lang="en-US" sz="2000" b="0" i="0" u="none" strike="noStrike" baseline="0" dirty="0">
                <a:solidFill>
                  <a:srgbClr val="000000"/>
                </a:solidFill>
                <a:latin typeface="Cambria" panose="02040503050406030204" pitchFamily="18" charset="0"/>
              </a:rPr>
              <a:t>4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 Post decrement, first do the operation and then decrement. </a:t>
            </a:r>
            <a:endParaRPr lang="en-US" sz="5400" dirty="0"/>
          </a:p>
        </p:txBody>
      </p:sp>
    </p:spTree>
    <p:extLst>
      <p:ext uri="{BB962C8B-B14F-4D97-AF65-F5344CB8AC3E}">
        <p14:creationId xmlns:p14="http://schemas.microsoft.com/office/powerpoint/2010/main" val="29989519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5C0D8A-1291-42F6-3B85-72416F8DA505}"/>
              </a:ext>
            </a:extLst>
          </p:cNvPr>
          <p:cNvSpPr>
            <a:spLocks noGrp="1"/>
          </p:cNvSpPr>
          <p:nvPr>
            <p:ph idx="1"/>
          </p:nvPr>
        </p:nvSpPr>
        <p:spPr>
          <a:xfrm>
            <a:off x="0" y="0"/>
            <a:ext cx="8686800" cy="6126163"/>
          </a:xfrm>
        </p:spPr>
        <p:txBody>
          <a:bodyPr>
            <a:normAutofit fontScale="85000" lnSpcReduction="20000"/>
          </a:bodyPr>
          <a:lstStyle/>
          <a:p>
            <a:pPr marL="0" indent="0">
              <a:buNone/>
            </a:pPr>
            <a:r>
              <a:rPr lang="en-US" b="1" dirty="0"/>
              <a:t>public</a:t>
            </a:r>
            <a:r>
              <a:rPr lang="en-US" dirty="0"/>
              <a:t> </a:t>
            </a:r>
            <a:r>
              <a:rPr lang="en-US" b="1" dirty="0"/>
              <a:t>class</a:t>
            </a:r>
            <a:r>
              <a:rPr lang="en-US" dirty="0"/>
              <a:t> Increment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 = 20;</a:t>
            </a:r>
          </a:p>
          <a:p>
            <a:pPr marL="0" indent="0">
              <a:buNone/>
            </a:pPr>
            <a:r>
              <a:rPr lang="en-US" b="1" dirty="0"/>
              <a:t>int</a:t>
            </a:r>
            <a:r>
              <a:rPr lang="en-US" dirty="0"/>
              <a:t> b = 10;</a:t>
            </a:r>
          </a:p>
          <a:p>
            <a:pPr marL="0" indent="0">
              <a:buNone/>
            </a:pPr>
            <a:r>
              <a:rPr lang="en-US" dirty="0" err="1"/>
              <a:t>System.</a:t>
            </a:r>
            <a:r>
              <a:rPr lang="en-US" b="1" i="1" dirty="0" err="1"/>
              <a:t>out</a:t>
            </a:r>
            <a:r>
              <a:rPr lang="en-US" dirty="0" err="1"/>
              <a:t>.println</a:t>
            </a:r>
            <a:r>
              <a:rPr lang="en-US" dirty="0"/>
              <a:t>("Unary Operators");</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("After a++ = " + a);</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("After b-- = " + b);</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2763244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2F3604-6930-CB9E-D39D-8E97C0ED0D36}"/>
              </a:ext>
            </a:extLst>
          </p:cNvPr>
          <p:cNvSpPr>
            <a:spLocks noGrp="1"/>
          </p:cNvSpPr>
          <p:nvPr>
            <p:ph idx="1"/>
          </p:nvPr>
        </p:nvSpPr>
        <p:spPr>
          <a:xfrm>
            <a:off x="457200" y="0"/>
            <a:ext cx="8229600" cy="6126163"/>
          </a:xfrm>
        </p:spPr>
        <p:txBody>
          <a:bodyPr>
            <a:normAutofit fontScale="62500" lnSpcReduction="2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6 : Conditional Operator</a:t>
            </a:r>
            <a:r>
              <a:rPr lang="en-US" dirty="0">
                <a:latin typeface="Times New Roman" panose="02020603050405020304" pitchFamily="18" charset="0"/>
                <a:cs typeface="Times New Roman" panose="02020603050405020304" pitchFamily="18" charset="0"/>
              </a:rPr>
              <a:t>: A conditional operator checks the condition and executes the statement depending on the condition. Conditional operator consists of two symbols.</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question mark (?).</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colon ( : ).</a:t>
            </a:r>
          </a:p>
          <a:p>
            <a:pPr marL="0" indent="0" algn="ctr">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condition ? exp1 : exp2;</a:t>
            </a:r>
          </a:p>
          <a:p>
            <a:pPr algn="just"/>
            <a:r>
              <a:rPr lang="en-US" dirty="0">
                <a:latin typeface="Times New Roman" panose="02020603050405020304" pitchFamily="18" charset="0"/>
                <a:cs typeface="Times New Roman" panose="02020603050405020304" pitchFamily="18" charset="0"/>
              </a:rPr>
              <a:t>It first evaluate the condition, </a:t>
            </a:r>
            <a:r>
              <a:rPr lang="en-US" i="1" dirty="0">
                <a:solidFill>
                  <a:srgbClr val="FF0000"/>
                </a:solidFill>
                <a:latin typeface="Times New Roman" panose="02020603050405020304" pitchFamily="18" charset="0"/>
                <a:cs typeface="Times New Roman" panose="02020603050405020304" pitchFamily="18" charset="0"/>
              </a:rPr>
              <a:t>if it is true (non-zero) then the “exp1” is evaluated, if the condition is false (zero) then the “exp2” is evaluated.</a:t>
            </a:r>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Example </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ConditionalOperator</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int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29; </a:t>
            </a:r>
          </a:p>
          <a:p>
            <a:pPr marL="0" indent="0" algn="just">
              <a:buNone/>
            </a:pPr>
            <a:r>
              <a:rPr lang="en-US" dirty="0">
                <a:latin typeface="Times New Roman" panose="02020603050405020304" pitchFamily="18" charset="0"/>
                <a:cs typeface="Times New Roman" panose="02020603050405020304" pitchFamily="18" charset="0"/>
              </a:rPr>
              <a:t>String result; </a:t>
            </a:r>
          </a:p>
          <a:p>
            <a:pPr marL="0" indent="0" algn="just">
              <a:buNone/>
            </a:pPr>
            <a:r>
              <a:rPr lang="en-US" dirty="0">
                <a:latin typeface="Times New Roman" panose="02020603050405020304" pitchFamily="18" charset="0"/>
                <a:cs typeface="Times New Roman" panose="02020603050405020304" pitchFamily="18" charset="0"/>
              </a:rPr>
              <a:t>result =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28) ? "Not a leap year" : "Leap year";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(result);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759164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B30E4A-7C88-919A-9EC5-1685B5BB1F3A}"/>
              </a:ext>
            </a:extLst>
          </p:cNvPr>
          <p:cNvSpPr>
            <a:spLocks noGrp="1"/>
          </p:cNvSpPr>
          <p:nvPr>
            <p:ph idx="1"/>
          </p:nvPr>
        </p:nvSpPr>
        <p:spPr>
          <a:xfrm>
            <a:off x="457200" y="304800"/>
            <a:ext cx="8229600" cy="5821363"/>
          </a:xfrm>
        </p:spPr>
        <p:txBody>
          <a:bodyPr>
            <a:normAutofit fontScale="47500" lnSpcReduction="20000"/>
          </a:bodyPr>
          <a:lstStyle/>
          <a:p>
            <a:pPr marL="0" indent="0">
              <a:buNone/>
            </a:pPr>
            <a:r>
              <a:rPr lang="en-US" sz="3500" dirty="0">
                <a:latin typeface="Times New Roman" panose="02020603050405020304" pitchFamily="18" charset="0"/>
                <a:cs typeface="Times New Roman" panose="02020603050405020304" pitchFamily="18" charset="0"/>
              </a:rPr>
              <a:t>import </a:t>
            </a:r>
            <a:r>
              <a:rPr lang="en-US" sz="3500" dirty="0" err="1">
                <a:latin typeface="Times New Roman" panose="02020603050405020304" pitchFamily="18" charset="0"/>
                <a:cs typeface="Times New Roman" panose="02020603050405020304" pitchFamily="18" charset="0"/>
              </a:rPr>
              <a:t>java.util.Scanner</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public class </a:t>
            </a:r>
            <a:r>
              <a:rPr lang="en-US" sz="3500" dirty="0" err="1">
                <a:latin typeface="Times New Roman" panose="02020603050405020304" pitchFamily="18" charset="0"/>
                <a:cs typeface="Times New Roman" panose="02020603050405020304" pitchFamily="18" charset="0"/>
              </a:rPr>
              <a:t>LeapYear</a:t>
            </a: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    public static void main(String[] </a:t>
            </a:r>
            <a:r>
              <a:rPr lang="en-US" sz="3500" dirty="0" err="1">
                <a:latin typeface="Times New Roman" panose="02020603050405020304" pitchFamily="18" charset="0"/>
                <a:cs typeface="Times New Roman" panose="02020603050405020304" pitchFamily="18" charset="0"/>
              </a:rPr>
              <a:t>args</a:t>
            </a: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Scanner </a:t>
            </a:r>
            <a:r>
              <a:rPr lang="en-US" sz="3500" dirty="0" err="1">
                <a:latin typeface="Times New Roman" panose="02020603050405020304" pitchFamily="18" charset="0"/>
                <a:cs typeface="Times New Roman" panose="02020603050405020304" pitchFamily="18" charset="0"/>
              </a:rPr>
              <a:t>sc</a:t>
            </a:r>
            <a:r>
              <a:rPr lang="en-US" sz="3500" dirty="0">
                <a:latin typeface="Times New Roman" panose="02020603050405020304" pitchFamily="18" charset="0"/>
                <a:cs typeface="Times New Roman" panose="02020603050405020304" pitchFamily="18" charset="0"/>
              </a:rPr>
              <a:t> = new Scanner(System.in);</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a:t>
            </a:r>
            <a:r>
              <a:rPr lang="en-US" sz="3500" dirty="0">
                <a:latin typeface="Times New Roman" panose="02020603050405020304" pitchFamily="18" charset="0"/>
                <a:cs typeface="Times New Roman" panose="02020603050405020304" pitchFamily="18" charset="0"/>
              </a:rPr>
              <a:t>("Enter a year: ");</a:t>
            </a:r>
          </a:p>
          <a:p>
            <a:pPr marL="0" indent="0">
              <a:buNone/>
            </a:pPr>
            <a:r>
              <a:rPr lang="en-US" sz="3500" dirty="0">
                <a:latin typeface="Times New Roman" panose="02020603050405020304" pitchFamily="18" charset="0"/>
                <a:cs typeface="Times New Roman" panose="02020603050405020304" pitchFamily="18" charset="0"/>
              </a:rPr>
              <a:t>        int year = </a:t>
            </a:r>
            <a:r>
              <a:rPr lang="en-US" sz="3500" dirty="0" err="1">
                <a:latin typeface="Times New Roman" panose="02020603050405020304" pitchFamily="18" charset="0"/>
                <a:cs typeface="Times New Roman" panose="02020603050405020304" pitchFamily="18" charset="0"/>
              </a:rPr>
              <a:t>sc.nextInt</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if ((year % 400 == 0) || (year % 4 == 0 &amp;&amp; year % 100 != 0))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a Leap Year.");</a:t>
            </a:r>
          </a:p>
          <a:p>
            <a:pPr marL="0" indent="0">
              <a:buNone/>
            </a:pPr>
            <a:r>
              <a:rPr lang="en-US" sz="3500" dirty="0">
                <a:latin typeface="Times New Roman" panose="02020603050405020304" pitchFamily="18" charset="0"/>
                <a:cs typeface="Times New Roman" panose="02020603050405020304" pitchFamily="18" charset="0"/>
              </a:rPr>
              <a:t>        } else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Not a Leap Year.");</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sc.close</a:t>
            </a:r>
            <a:r>
              <a:rPr lang="en-US" sz="3500" dirty="0">
                <a:latin typeface="Times New Roman" panose="02020603050405020304" pitchFamily="18" charset="0"/>
                <a:cs typeface="Times New Roman" panose="02020603050405020304" pitchFamily="18" charset="0"/>
              </a:rPr>
              <a:t>();</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a:t>
            </a:r>
          </a:p>
          <a:p>
            <a:pPr marL="0" indent="0">
              <a:buNone/>
            </a:pPr>
            <a:endParaRPr lang="en-US" dirty="0"/>
          </a:p>
          <a:p>
            <a:pPr marL="0" indent="0">
              <a:buNone/>
            </a:pPr>
            <a:r>
              <a:rPr lang="en-US" dirty="0"/>
              <a:t>// If the year is divisible by </a:t>
            </a:r>
            <a:r>
              <a:rPr lang="en-US" b="1" dirty="0"/>
              <a:t>400</a:t>
            </a:r>
            <a:r>
              <a:rPr lang="en-US" dirty="0"/>
              <a:t>, </a:t>
            </a:r>
            <a:r>
              <a:rPr lang="en-US" b="1" dirty="0"/>
              <a:t>or</a:t>
            </a:r>
            <a:r>
              <a:rPr lang="en-US" dirty="0"/>
              <a:t> It is divisible by </a:t>
            </a:r>
            <a:r>
              <a:rPr lang="en-US" b="1" dirty="0"/>
              <a:t>4</a:t>
            </a:r>
            <a:r>
              <a:rPr lang="en-US" dirty="0"/>
              <a:t> and </a:t>
            </a:r>
            <a:r>
              <a:rPr lang="en-US" b="1" dirty="0"/>
              <a:t>not divisible by 100</a:t>
            </a:r>
            <a:r>
              <a:rPr lang="en-US" dirty="0"/>
              <a:t>, then it is a </a:t>
            </a:r>
            <a:r>
              <a:rPr lang="en-US" b="1" dirty="0"/>
              <a:t>Leap Year</a:t>
            </a:r>
            <a:r>
              <a:rPr lang="en-US" dirty="0"/>
              <a:t>; otherwise, it is </a:t>
            </a:r>
            <a:r>
              <a:rPr lang="en-US" b="1" dirty="0"/>
              <a:t>Not a Leap Year</a:t>
            </a:r>
            <a:r>
              <a:rPr lang="en-US" dirty="0"/>
              <a:t>.</a:t>
            </a:r>
          </a:p>
        </p:txBody>
      </p:sp>
    </p:spTree>
    <p:extLst>
      <p:ext uri="{BB962C8B-B14F-4D97-AF65-F5344CB8AC3E}">
        <p14:creationId xmlns:p14="http://schemas.microsoft.com/office/powerpoint/2010/main" val="4112962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D83A3-D35C-2268-D181-DE1BD335E82D}"/>
              </a:ext>
            </a:extLst>
          </p:cNvPr>
          <p:cNvSpPr>
            <a:spLocks noGrp="1"/>
          </p:cNvSpPr>
          <p:nvPr>
            <p:ph idx="1"/>
          </p:nvPr>
        </p:nvSpPr>
        <p:spPr>
          <a:xfrm>
            <a:off x="457200" y="228600"/>
            <a:ext cx="8229600" cy="5897563"/>
          </a:xfrm>
        </p:spPr>
        <p:txBody>
          <a:bodyPr>
            <a:normAutofit fontScale="92500" lnSpcReduction="10000"/>
          </a:bodyPr>
          <a:lstStyle/>
          <a:p>
            <a:pPr marL="0" indent="0" algn="just">
              <a:buNone/>
            </a:pPr>
            <a:r>
              <a:rPr lang="en-US" b="1" dirty="0">
                <a:solidFill>
                  <a:srgbClr val="FF0000"/>
                </a:solidFill>
              </a:rPr>
              <a:t>7. Bitwise Operators: </a:t>
            </a:r>
            <a:endParaRPr lang="en-US" dirty="0">
              <a:solidFill>
                <a:srgbClr val="FF0000"/>
              </a:solidFill>
            </a:endParaRPr>
          </a:p>
          <a:p>
            <a:pPr algn="just"/>
            <a:r>
              <a:rPr lang="en-US" dirty="0"/>
              <a:t>Bitwise operators are used for manipulating a data at the bit level, also called as bit level programming. Bit-level programming mainly consists of 0 and 1. </a:t>
            </a:r>
          </a:p>
          <a:p>
            <a:pPr algn="just"/>
            <a:r>
              <a:rPr lang="en-US" dirty="0"/>
              <a:t>They are used in numerical Computations to make the calculation process faster. </a:t>
            </a:r>
          </a:p>
          <a:p>
            <a:pPr algn="just"/>
            <a:r>
              <a:rPr lang="en-US" dirty="0"/>
              <a:t>The bitwise logical operators work on the data bit by bit. </a:t>
            </a:r>
          </a:p>
          <a:p>
            <a:pPr algn="just"/>
            <a:r>
              <a:rPr lang="en-US" dirty="0"/>
              <a:t>Starting from the least significant bit, i.e. LSB bit which is the rightmost bit, working towards the MSB (Most Significant Bit) which is the leftmost bit. </a:t>
            </a:r>
          </a:p>
        </p:txBody>
      </p:sp>
    </p:spTree>
    <p:extLst>
      <p:ext uri="{BB962C8B-B14F-4D97-AF65-F5344CB8AC3E}">
        <p14:creationId xmlns:p14="http://schemas.microsoft.com/office/powerpoint/2010/main" val="8397736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11B673-7109-04FD-41E2-A0AF58C363F4}"/>
              </a:ext>
            </a:extLst>
          </p:cNvPr>
          <p:cNvPicPr>
            <a:picLocks noGrp="1" noChangeAspect="1"/>
          </p:cNvPicPr>
          <p:nvPr>
            <p:ph idx="1"/>
          </p:nvPr>
        </p:nvPicPr>
        <p:blipFill>
          <a:blip r:embed="rId2"/>
          <a:stretch>
            <a:fillRect/>
          </a:stretch>
        </p:blipFill>
        <p:spPr>
          <a:xfrm>
            <a:off x="2209800" y="228600"/>
            <a:ext cx="4572000" cy="2498454"/>
          </a:xfrm>
          <a:prstGeom prst="rect">
            <a:avLst/>
          </a:prstGeom>
        </p:spPr>
      </p:pic>
      <p:sp>
        <p:nvSpPr>
          <p:cNvPr id="7" name="TextBox 6">
            <a:extLst>
              <a:ext uri="{FF2B5EF4-FFF2-40B4-BE49-F238E27FC236}">
                <a16:creationId xmlns:a16="http://schemas.microsoft.com/office/drawing/2014/main" id="{BDDB57F4-58EB-71C6-7525-218D1D9864B8}"/>
              </a:ext>
            </a:extLst>
          </p:cNvPr>
          <p:cNvSpPr txBox="1"/>
          <p:nvPr/>
        </p:nvSpPr>
        <p:spPr>
          <a:xfrm>
            <a:off x="152400" y="2582615"/>
            <a:ext cx="8991600" cy="1938992"/>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1. Bitwise AND (&amp;): </a:t>
            </a:r>
            <a:endParaRPr lang="en-US" b="0" i="0" u="none" strike="noStrike" baseline="0" dirty="0">
              <a:solidFill>
                <a:srgbClr val="FF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Bitwise AND operator is represented by a single ampersand sign (&amp;).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Two integer expressions are written on each side of the (&amp;) operator.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if any one condition false ( 0 ) the complete condition becomes false ( 0 ). </a:t>
            </a:r>
          </a:p>
          <a:p>
            <a:endParaRPr lang="en-US" sz="4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E36EB2F-ACD7-086A-3865-287A6517FB9D}"/>
              </a:ext>
            </a:extLst>
          </p:cNvPr>
          <p:cNvPicPr>
            <a:picLocks noChangeAspect="1"/>
          </p:cNvPicPr>
          <p:nvPr/>
        </p:nvPicPr>
        <p:blipFill>
          <a:blip r:embed="rId3"/>
          <a:stretch>
            <a:fillRect/>
          </a:stretch>
        </p:blipFill>
        <p:spPr>
          <a:xfrm>
            <a:off x="3505200" y="3747569"/>
            <a:ext cx="4723478" cy="2667000"/>
          </a:xfrm>
          <a:prstGeom prst="rect">
            <a:avLst/>
          </a:prstGeom>
        </p:spPr>
      </p:pic>
      <p:sp>
        <p:nvSpPr>
          <p:cNvPr id="11" name="TextBox 10">
            <a:extLst>
              <a:ext uri="{FF2B5EF4-FFF2-40B4-BE49-F238E27FC236}">
                <a16:creationId xmlns:a16="http://schemas.microsoft.com/office/drawing/2014/main" id="{9F0D7917-AFE9-4E02-1578-0B20F75756F4}"/>
              </a:ext>
            </a:extLst>
          </p:cNvPr>
          <p:cNvSpPr txBox="1"/>
          <p:nvPr/>
        </p:nvSpPr>
        <p:spPr>
          <a:xfrm>
            <a:off x="304800" y="4254046"/>
            <a:ext cx="4572000" cy="1754326"/>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Example : </a:t>
            </a:r>
            <a:r>
              <a:rPr lang="en-US" b="0" i="0" u="none" strike="noStrike" baseline="0" dirty="0">
                <a:solidFill>
                  <a:srgbClr val="000000"/>
                </a:solidFill>
                <a:latin typeface="Times New Roman" panose="02020603050405020304" pitchFamily="18" charset="0"/>
                <a:cs typeface="Times New Roman" panose="02020603050405020304" pitchFamily="18" charset="0"/>
              </a:rPr>
              <a:t>int x = 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int y = 20;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&amp; y = ?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 0000 1010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y = 0000 1011 </a:t>
            </a:r>
          </a:p>
          <a:p>
            <a:r>
              <a:rPr lang="es-ES" b="0" i="0" u="none" strike="noStrike" baseline="0" dirty="0">
                <a:solidFill>
                  <a:srgbClr val="000000"/>
                </a:solidFill>
                <a:latin typeface="Times New Roman" panose="02020603050405020304" pitchFamily="18" charset="0"/>
                <a:cs typeface="Times New Roman" panose="02020603050405020304" pitchFamily="18" charset="0"/>
              </a:rPr>
              <a:t>x &amp; y = 0000 1010 = 10 </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60860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ABCD0-7931-FA0D-95D3-E0AE904D19FD}"/>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t>2. Bitwise OR: </a:t>
            </a:r>
            <a:endParaRPr lang="en-US" sz="2400" dirty="0"/>
          </a:p>
          <a:p>
            <a:pPr algn="just"/>
            <a:r>
              <a:rPr lang="en-US" sz="2400" dirty="0"/>
              <a:t>Bitwise OR operator is represented by a single vertical bar sign (|). </a:t>
            </a:r>
          </a:p>
          <a:p>
            <a:pPr algn="just"/>
            <a:r>
              <a:rPr lang="en-US" sz="2400" dirty="0"/>
              <a:t>Two integer expressions are written on each side of the (|) operator. </a:t>
            </a:r>
          </a:p>
          <a:p>
            <a:pPr algn="just"/>
            <a:r>
              <a:rPr lang="en-US" sz="2400" dirty="0"/>
              <a:t>if any one condition true ( 1 ) the complete condition becomes true ( 1 ) </a:t>
            </a:r>
          </a:p>
          <a:p>
            <a:pPr algn="just"/>
            <a:endParaRPr lang="en-US" sz="2400" dirty="0"/>
          </a:p>
        </p:txBody>
      </p:sp>
      <p:pic>
        <p:nvPicPr>
          <p:cNvPr id="5" name="Picture 4">
            <a:extLst>
              <a:ext uri="{FF2B5EF4-FFF2-40B4-BE49-F238E27FC236}">
                <a16:creationId xmlns:a16="http://schemas.microsoft.com/office/drawing/2014/main" id="{4471BBCB-6351-C824-9E26-887CD6A14500}"/>
              </a:ext>
            </a:extLst>
          </p:cNvPr>
          <p:cNvPicPr>
            <a:picLocks noChangeAspect="1"/>
          </p:cNvPicPr>
          <p:nvPr/>
        </p:nvPicPr>
        <p:blipFill>
          <a:blip r:embed="rId2"/>
          <a:stretch>
            <a:fillRect/>
          </a:stretch>
        </p:blipFill>
        <p:spPr>
          <a:xfrm>
            <a:off x="3505200" y="3163862"/>
            <a:ext cx="5191432" cy="2577066"/>
          </a:xfrm>
          <a:prstGeom prst="rect">
            <a:avLst/>
          </a:prstGeom>
        </p:spPr>
      </p:pic>
      <p:sp>
        <p:nvSpPr>
          <p:cNvPr id="7" name="TextBox 6">
            <a:extLst>
              <a:ext uri="{FF2B5EF4-FFF2-40B4-BE49-F238E27FC236}">
                <a16:creationId xmlns:a16="http://schemas.microsoft.com/office/drawing/2014/main" id="{56C3FC27-294C-04FA-C7B7-0B8D1BCCDED8}"/>
              </a:ext>
            </a:extLst>
          </p:cNvPr>
          <p:cNvSpPr txBox="1"/>
          <p:nvPr/>
        </p:nvSpPr>
        <p:spPr>
          <a:xfrm>
            <a:off x="467032" y="3432604"/>
            <a:ext cx="4572000" cy="2308324"/>
          </a:xfrm>
          <a:prstGeom prst="rect">
            <a:avLst/>
          </a:prstGeom>
          <a:noFill/>
        </p:spPr>
        <p:txBody>
          <a:bodyPr wrap="square">
            <a:spAutoFit/>
          </a:bodyPr>
          <a:lstStyle/>
          <a:p>
            <a:r>
              <a:rPr lang="en-US" sz="2400" b="1" i="0" u="none" strike="noStrike" baseline="0" dirty="0">
                <a:solidFill>
                  <a:srgbClr val="FF0000"/>
                </a:solidFill>
                <a:latin typeface="Cambria" panose="02040503050406030204" pitchFamily="18" charset="0"/>
              </a:rPr>
              <a:t>Example : </a:t>
            </a:r>
            <a:r>
              <a:rPr lang="en-US" sz="2400" b="0" i="0" u="none" strike="noStrike" baseline="0" dirty="0">
                <a:solidFill>
                  <a:srgbClr val="000000"/>
                </a:solidFill>
                <a:latin typeface="Cambria" panose="02040503050406030204" pitchFamily="18" charset="0"/>
              </a:rPr>
              <a:t>int x = 10; </a:t>
            </a:r>
          </a:p>
          <a:p>
            <a:r>
              <a:rPr lang="en-US" sz="2400" b="0" i="0" u="none" strike="noStrike" baseline="0" dirty="0">
                <a:solidFill>
                  <a:srgbClr val="000000"/>
                </a:solidFill>
                <a:latin typeface="Cambria" panose="02040503050406030204" pitchFamily="18" charset="0"/>
              </a:rPr>
              <a:t>int y = 20; </a:t>
            </a:r>
          </a:p>
          <a:p>
            <a:r>
              <a:rPr lang="en-US" sz="2400" b="0" i="0" u="none" strike="noStrike" baseline="0" dirty="0">
                <a:solidFill>
                  <a:srgbClr val="000000"/>
                </a:solidFill>
                <a:latin typeface="Cambria" panose="02040503050406030204" pitchFamily="18" charset="0"/>
              </a:rPr>
              <a:t>x | y = ? </a:t>
            </a:r>
          </a:p>
          <a:p>
            <a:r>
              <a:rPr lang="en-US" sz="2400" b="0" i="0" u="none" strike="noStrike" baseline="0" dirty="0">
                <a:solidFill>
                  <a:srgbClr val="000000"/>
                </a:solidFill>
                <a:latin typeface="Cambria" panose="02040503050406030204" pitchFamily="18" charset="0"/>
              </a:rPr>
              <a:t>x = 0000 1010 </a:t>
            </a:r>
          </a:p>
          <a:p>
            <a:r>
              <a:rPr lang="en-US" sz="2400" b="0" i="0" u="none" strike="noStrike" baseline="0" dirty="0">
                <a:solidFill>
                  <a:srgbClr val="000000"/>
                </a:solidFill>
                <a:latin typeface="Cambria" panose="02040503050406030204" pitchFamily="18" charset="0"/>
              </a:rPr>
              <a:t>y = 0000 1011 </a:t>
            </a:r>
          </a:p>
          <a:p>
            <a:r>
              <a:rPr lang="es-ES" sz="2400" b="0" i="0" u="none" strike="noStrike" baseline="0" dirty="0">
                <a:solidFill>
                  <a:srgbClr val="000000"/>
                </a:solidFill>
                <a:latin typeface="Cambria" panose="02040503050406030204" pitchFamily="18" charset="0"/>
              </a:rPr>
              <a:t>x | y = 0000 1011 = 11 </a:t>
            </a:r>
            <a:endParaRPr lang="en-US" sz="6000" dirty="0"/>
          </a:p>
        </p:txBody>
      </p:sp>
    </p:spTree>
    <p:extLst>
      <p:ext uri="{BB962C8B-B14F-4D97-AF65-F5344CB8AC3E}">
        <p14:creationId xmlns:p14="http://schemas.microsoft.com/office/powerpoint/2010/main" val="4951429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E9D7F-60E4-F759-3927-1B1A1318B7C8}"/>
              </a:ext>
            </a:extLst>
          </p:cNvPr>
          <p:cNvSpPr>
            <a:spLocks noGrp="1"/>
          </p:cNvSpPr>
          <p:nvPr>
            <p:ph idx="1"/>
          </p:nvPr>
        </p:nvSpPr>
        <p:spPr>
          <a:xfrm>
            <a:off x="457200" y="228600"/>
            <a:ext cx="8229600" cy="5897563"/>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3. Bitwise Exclusive OR : </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 The XOR operator is denoted by a carrot (^) symbol. </a:t>
            </a:r>
          </a:p>
          <a:p>
            <a:pPr algn="just"/>
            <a:r>
              <a:rPr lang="en-US" sz="1800" dirty="0">
                <a:latin typeface="Times New Roman" panose="02020603050405020304" pitchFamily="18" charset="0"/>
                <a:cs typeface="Times New Roman" panose="02020603050405020304" pitchFamily="18" charset="0"/>
              </a:rPr>
              <a:t>It takes two values and returns true if they are different; otherwise returns false. </a:t>
            </a:r>
          </a:p>
          <a:p>
            <a:pPr algn="just"/>
            <a:r>
              <a:rPr lang="en-US" sz="1800" dirty="0">
                <a:latin typeface="Times New Roman" panose="02020603050405020304" pitchFamily="18" charset="0"/>
                <a:cs typeface="Times New Roman" panose="02020603050405020304" pitchFamily="18" charset="0"/>
              </a:rPr>
              <a:t>In binary, the true is represented by 1 and false is represented by 0. </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solidFill>
                  <a:srgbClr val="FF0000"/>
                </a:solidFill>
                <a:latin typeface="Times New Roman" panose="02020603050405020304" pitchFamily="18" charset="0"/>
                <a:cs typeface="Times New Roman" panose="02020603050405020304" pitchFamily="18" charset="0"/>
              </a:rPr>
              <a:t>Example </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int x = 10; </a:t>
            </a:r>
          </a:p>
          <a:p>
            <a:pPr marL="0" indent="0" algn="just">
              <a:buNone/>
            </a:pPr>
            <a:r>
              <a:rPr lang="en-US" sz="2000" dirty="0">
                <a:latin typeface="Times New Roman" panose="02020603050405020304" pitchFamily="18" charset="0"/>
                <a:cs typeface="Times New Roman" panose="02020603050405020304" pitchFamily="18" charset="0"/>
              </a:rPr>
              <a:t>int y = 20; </a:t>
            </a:r>
          </a:p>
          <a:p>
            <a:pPr marL="0" indent="0" algn="just">
              <a:buNone/>
            </a:pPr>
            <a:r>
              <a:rPr lang="en-US" sz="2000" dirty="0">
                <a:latin typeface="Times New Roman" panose="02020603050405020304" pitchFamily="18" charset="0"/>
                <a:cs typeface="Times New Roman" panose="02020603050405020304" pitchFamily="18" charset="0"/>
              </a:rPr>
              <a:t>x ^ y = ? </a:t>
            </a:r>
          </a:p>
          <a:p>
            <a:pPr marL="0" indent="0" algn="just">
              <a:buNone/>
            </a:pPr>
            <a:r>
              <a:rPr lang="en-US" sz="2000" dirty="0">
                <a:latin typeface="Times New Roman" panose="02020603050405020304" pitchFamily="18" charset="0"/>
                <a:cs typeface="Times New Roman" panose="02020603050405020304" pitchFamily="18" charset="0"/>
              </a:rPr>
              <a:t>x = 0000 1010 </a:t>
            </a:r>
          </a:p>
          <a:p>
            <a:pPr marL="0" indent="0" algn="just">
              <a:buNone/>
            </a:pPr>
            <a:r>
              <a:rPr lang="en-US" sz="2000" dirty="0">
                <a:latin typeface="Times New Roman" panose="02020603050405020304" pitchFamily="18" charset="0"/>
                <a:cs typeface="Times New Roman" panose="02020603050405020304" pitchFamily="18" charset="0"/>
              </a:rPr>
              <a:t>y = 0000 1011 </a:t>
            </a:r>
          </a:p>
          <a:p>
            <a:pPr marL="0" indent="0" algn="just">
              <a:buNone/>
            </a:pPr>
            <a:r>
              <a:rPr lang="es-ES" sz="2000" dirty="0">
                <a:latin typeface="Times New Roman" panose="02020603050405020304" pitchFamily="18" charset="0"/>
                <a:cs typeface="Times New Roman" panose="02020603050405020304" pitchFamily="18" charset="0"/>
              </a:rPr>
              <a:t>x ^ y = 0000 0001 = 1 </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6AAE0F3-B417-1E9B-94F6-7754FE238CE3}"/>
              </a:ext>
            </a:extLst>
          </p:cNvPr>
          <p:cNvPicPr>
            <a:picLocks noChangeAspect="1"/>
          </p:cNvPicPr>
          <p:nvPr/>
        </p:nvPicPr>
        <p:blipFill>
          <a:blip r:embed="rId2"/>
          <a:stretch>
            <a:fillRect/>
          </a:stretch>
        </p:blipFill>
        <p:spPr>
          <a:xfrm>
            <a:off x="3581400" y="2209800"/>
            <a:ext cx="4800600" cy="3048000"/>
          </a:xfrm>
          <a:prstGeom prst="rect">
            <a:avLst/>
          </a:prstGeom>
        </p:spPr>
      </p:pic>
    </p:spTree>
    <p:extLst>
      <p:ext uri="{BB962C8B-B14F-4D97-AF65-F5344CB8AC3E}">
        <p14:creationId xmlns:p14="http://schemas.microsoft.com/office/powerpoint/2010/main" val="36124918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17769-236E-BBB1-6B43-D158794737E7}"/>
              </a:ext>
            </a:extLst>
          </p:cNvPr>
          <p:cNvSpPr>
            <a:spLocks noGrp="1"/>
          </p:cNvSpPr>
          <p:nvPr>
            <p:ph idx="1"/>
          </p:nvPr>
        </p:nvSpPr>
        <p:spPr>
          <a:xfrm>
            <a:off x="457200" y="228600"/>
            <a:ext cx="8229600" cy="5897563"/>
          </a:xfrm>
        </p:spPr>
        <p:txBody>
          <a:bodyPr>
            <a:normAutofit fontScale="92500" lnSpcReduction="20000"/>
          </a:bodyPr>
          <a:lstStyle/>
          <a:p>
            <a:pPr marL="0" indent="0" algn="just">
              <a:buNone/>
            </a:pPr>
            <a:r>
              <a:rPr lang="en-US" b="1" dirty="0"/>
              <a:t>4. Bitwise Complement (~): </a:t>
            </a:r>
            <a:endParaRPr lang="en-US" dirty="0"/>
          </a:p>
          <a:p>
            <a:pPr algn="just"/>
            <a:r>
              <a:rPr lang="en-US" dirty="0"/>
              <a:t>The bitwise complement operator is a </a:t>
            </a:r>
            <a:r>
              <a:rPr lang="en-US" i="1" dirty="0">
                <a:solidFill>
                  <a:srgbClr val="FF0000"/>
                </a:solidFill>
              </a:rPr>
              <a:t>unary operator. </a:t>
            </a:r>
          </a:p>
          <a:p>
            <a:pPr algn="just"/>
            <a:r>
              <a:rPr lang="en-US" dirty="0"/>
              <a:t>It is denoted by </a:t>
            </a:r>
            <a:r>
              <a:rPr lang="en-US" b="1" dirty="0">
                <a:solidFill>
                  <a:srgbClr val="FF0000"/>
                </a:solidFill>
              </a:rPr>
              <a:t>~</a:t>
            </a:r>
            <a:r>
              <a:rPr lang="en-US" dirty="0"/>
              <a:t>, which is pronounced as tilde. </a:t>
            </a:r>
          </a:p>
          <a:p>
            <a:pPr algn="just"/>
            <a:r>
              <a:rPr lang="en-US" dirty="0"/>
              <a:t>It changes binary digits 1 to 0 and 0 to 1.</a:t>
            </a:r>
          </a:p>
          <a:p>
            <a:pPr algn="just"/>
            <a:r>
              <a:rPr lang="en-US" dirty="0"/>
              <a:t>bitwise complement of any integer </a:t>
            </a:r>
          </a:p>
          <a:p>
            <a:pPr marL="0" indent="0" algn="ctr">
              <a:buNone/>
            </a:pPr>
            <a:r>
              <a:rPr lang="en-US" dirty="0">
                <a:solidFill>
                  <a:srgbClr val="FF0000"/>
                </a:solidFill>
              </a:rPr>
              <a:t>N is equal to - (N + 1). </a:t>
            </a:r>
          </a:p>
          <a:p>
            <a:pPr algn="just"/>
            <a:r>
              <a:rPr lang="en-US" dirty="0"/>
              <a:t>Consider an integer 35. As per the rule, the bitwise complement of 35 should be </a:t>
            </a:r>
          </a:p>
          <a:p>
            <a:pPr marL="0" indent="0" algn="ctr">
              <a:buNone/>
            </a:pPr>
            <a:r>
              <a:rPr lang="en-US" dirty="0"/>
              <a:t>	</a:t>
            </a:r>
            <a:r>
              <a:rPr lang="en-US" dirty="0">
                <a:solidFill>
                  <a:srgbClr val="FF0000"/>
                </a:solidFill>
              </a:rPr>
              <a:t>-(35 + 1) = -36. </a:t>
            </a:r>
          </a:p>
          <a:p>
            <a:pPr algn="just"/>
            <a:r>
              <a:rPr lang="en-US" b="1" dirty="0"/>
              <a:t>Example : </a:t>
            </a:r>
            <a:r>
              <a:rPr lang="en-US" dirty="0"/>
              <a:t>int x = 10; find the ~x value. </a:t>
            </a:r>
          </a:p>
          <a:p>
            <a:pPr marL="0" indent="0" algn="ctr">
              <a:buNone/>
            </a:pPr>
            <a:r>
              <a:rPr lang="en-US" dirty="0">
                <a:solidFill>
                  <a:srgbClr val="FF0000"/>
                </a:solidFill>
              </a:rPr>
              <a:t>x = 0000 1010 </a:t>
            </a:r>
          </a:p>
          <a:p>
            <a:pPr marL="0" indent="0" algn="ctr">
              <a:buNone/>
            </a:pPr>
            <a:r>
              <a:rPr lang="en-US" dirty="0">
                <a:solidFill>
                  <a:srgbClr val="FF0000"/>
                </a:solidFill>
              </a:rPr>
              <a:t>~x= 1111 0101 </a:t>
            </a:r>
          </a:p>
        </p:txBody>
      </p:sp>
    </p:spTree>
    <p:extLst>
      <p:ext uri="{BB962C8B-B14F-4D97-AF65-F5344CB8AC3E}">
        <p14:creationId xmlns:p14="http://schemas.microsoft.com/office/powerpoint/2010/main" val="41370620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804CF3-FE15-2BE2-F2D9-35B1055FEFC0}"/>
              </a:ext>
            </a:extLst>
          </p:cNvPr>
          <p:cNvSpPr>
            <a:spLocks noGrp="1"/>
          </p:cNvSpPr>
          <p:nvPr>
            <p:ph idx="1"/>
          </p:nvPr>
        </p:nvSpPr>
        <p:spPr>
          <a:xfrm>
            <a:off x="457200" y="0"/>
            <a:ext cx="8229600" cy="61261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5. Bitwise Left Shift Operator ( &lt;&lt;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Left shift operator (&lt;&lt;)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left a specified no. of times.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&lt;&lt;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1FB25E3-EC57-7256-7679-C859387F3BCE}"/>
              </a:ext>
            </a:extLst>
          </p:cNvPr>
          <p:cNvPicPr>
            <a:picLocks noChangeAspect="1"/>
          </p:cNvPicPr>
          <p:nvPr/>
        </p:nvPicPr>
        <p:blipFill>
          <a:blip r:embed="rId2"/>
          <a:stretch>
            <a:fillRect/>
          </a:stretch>
        </p:blipFill>
        <p:spPr>
          <a:xfrm>
            <a:off x="677598" y="3063081"/>
            <a:ext cx="7788804" cy="2343150"/>
          </a:xfrm>
          <a:prstGeom prst="rect">
            <a:avLst/>
          </a:prstGeom>
        </p:spPr>
      </p:pic>
    </p:spTree>
    <p:extLst>
      <p:ext uri="{BB962C8B-B14F-4D97-AF65-F5344CB8AC3E}">
        <p14:creationId xmlns:p14="http://schemas.microsoft.com/office/powerpoint/2010/main" val="39871636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68382-1C14-C9A4-192C-8682C1DF0633}"/>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6. Bitwise Right Shift Operator ( &gt;&gt;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Right shift operator (&gt;&gt;)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right a specified </a:t>
            </a:r>
            <a:r>
              <a:rPr lang="en-US" sz="2400" dirty="0" err="1">
                <a:latin typeface="Times New Roman" panose="02020603050405020304" pitchFamily="18" charset="0"/>
                <a:cs typeface="Times New Roman" panose="02020603050405020304" pitchFamily="18" charset="0"/>
              </a:rPr>
              <a:t>no.of</a:t>
            </a:r>
            <a:r>
              <a:rPr lang="en-US" sz="2400" dirty="0">
                <a:latin typeface="Times New Roman" panose="02020603050405020304" pitchFamily="18" charset="0"/>
                <a:cs typeface="Times New Roman" panose="02020603050405020304" pitchFamily="18" charset="0"/>
              </a:rPr>
              <a:t> times. </a:t>
            </a:r>
          </a:p>
          <a:p>
            <a:pPr marL="0" indent="0" algn="just">
              <a:buNone/>
            </a:pPr>
            <a:r>
              <a:rPr lang="en-US" sz="2400" b="1" dirty="0">
                <a:latin typeface="Times New Roman" panose="02020603050405020304" pitchFamily="18" charset="0"/>
                <a:cs typeface="Times New Roman" panose="02020603050405020304" pitchFamily="18" charset="0"/>
              </a:rPr>
              <a:t>Example: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&gt;&gt;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5B75DB-DEF6-E204-D976-5519C19CCF98}"/>
              </a:ext>
            </a:extLst>
          </p:cNvPr>
          <p:cNvPicPr>
            <a:picLocks noChangeAspect="1"/>
          </p:cNvPicPr>
          <p:nvPr/>
        </p:nvPicPr>
        <p:blipFill>
          <a:blip r:embed="rId2"/>
          <a:stretch>
            <a:fillRect/>
          </a:stretch>
        </p:blipFill>
        <p:spPr>
          <a:xfrm>
            <a:off x="800100" y="3429000"/>
            <a:ext cx="7543800" cy="2831826"/>
          </a:xfrm>
          <a:prstGeom prst="rect">
            <a:avLst/>
          </a:prstGeom>
        </p:spPr>
      </p:pic>
    </p:spTree>
    <p:extLst>
      <p:ext uri="{BB962C8B-B14F-4D97-AF65-F5344CB8AC3E}">
        <p14:creationId xmlns:p14="http://schemas.microsoft.com/office/powerpoint/2010/main" val="471165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C720F3-CDE5-68CF-D75B-7C57DCB5FB43}"/>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EXPRESSIONS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any programming language, if we want to perform any calculation or to frame any condition etc., we use a set of symbols to perform the task. These set of symbols makes an expression. </a:t>
            </a:r>
          </a:p>
          <a:p>
            <a:pPr algn="just"/>
            <a:r>
              <a:rPr lang="en-US" b="1" dirty="0">
                <a:latin typeface="Times New Roman" panose="02020603050405020304" pitchFamily="18" charset="0"/>
                <a:cs typeface="Times New Roman" panose="02020603050405020304" pitchFamily="18" charset="0"/>
              </a:rPr>
              <a:t>In the java programming language, an expression is de</a:t>
            </a:r>
            <a:r>
              <a:rPr lang="en-US" dirty="0">
                <a:latin typeface="Times New Roman" panose="02020603050405020304" pitchFamily="18" charset="0"/>
                <a:cs typeface="Times New Roman" panose="02020603050405020304" pitchFamily="18" charset="0"/>
              </a:rPr>
              <a:t>f</a:t>
            </a:r>
            <a:r>
              <a:rPr lang="en-US" b="1" dirty="0">
                <a:latin typeface="Times New Roman" panose="02020603050405020304" pitchFamily="18" charset="0"/>
                <a:cs typeface="Times New Roman" panose="02020603050405020304" pitchFamily="18" charset="0"/>
              </a:rPr>
              <a:t>ined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expression is a collection of operators and operands that represents a specific value. </a:t>
            </a:r>
          </a:p>
          <a:p>
            <a:pPr algn="just"/>
            <a:r>
              <a:rPr lang="en-US" dirty="0">
                <a:latin typeface="Times New Roman" panose="02020603050405020304" pitchFamily="18" charset="0"/>
                <a:cs typeface="Times New Roman" panose="02020603050405020304" pitchFamily="18" charset="0"/>
              </a:rPr>
              <a:t>In the above definition, an operator is a symbol that performs tasks like arithmetic operations, logical operations, and conditional operations, etc. </a:t>
            </a:r>
          </a:p>
          <a:p>
            <a:pPr marL="0" indent="0" algn="just">
              <a:buNone/>
            </a:pPr>
            <a:r>
              <a:rPr lang="en-US" b="1" dirty="0">
                <a:latin typeface="Times New Roman" panose="02020603050405020304" pitchFamily="18" charset="0"/>
                <a:cs typeface="Times New Roman" panose="02020603050405020304" pitchFamily="18" charset="0"/>
              </a:rPr>
              <a:t>Expression Types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 the java programming language, expressions are divided into THREE types. They are as follows. </a:t>
            </a:r>
          </a:p>
          <a:p>
            <a:pPr algn="just"/>
            <a:r>
              <a:rPr lang="en-US" b="1" dirty="0">
                <a:latin typeface="Times New Roman" panose="02020603050405020304" pitchFamily="18" charset="0"/>
                <a:cs typeface="Times New Roman" panose="02020603050405020304" pitchFamily="18" charset="0"/>
              </a:rPr>
              <a:t>Infix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Postfix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Prefix Expression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above classification is based on the operator position in the expression </a:t>
            </a:r>
          </a:p>
        </p:txBody>
      </p:sp>
    </p:spTree>
    <p:extLst>
      <p:ext uri="{BB962C8B-B14F-4D97-AF65-F5344CB8AC3E}">
        <p14:creationId xmlns:p14="http://schemas.microsoft.com/office/powerpoint/2010/main" val="23948805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CB38E-20AC-87B6-9099-8BAC808BA79A}"/>
              </a:ext>
            </a:extLst>
          </p:cNvPr>
          <p:cNvSpPr>
            <a:spLocks noGrp="1"/>
          </p:cNvSpPr>
          <p:nvPr>
            <p:ph idx="1"/>
          </p:nvPr>
        </p:nvSpPr>
        <p:spPr>
          <a:xfrm>
            <a:off x="457200" y="76200"/>
            <a:ext cx="8229600" cy="6049963"/>
          </a:xfrm>
        </p:spPr>
        <p:txBody>
          <a:bodyPr>
            <a:normAutofit fontScale="85000" lnSpcReduction="10000"/>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Infix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between operands is called infix expression. The infix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err="1">
                <a:latin typeface="Times New Roman" panose="02020603050405020304" pitchFamily="18" charset="0"/>
                <a:cs typeface="Times New Roman" panose="02020603050405020304" pitchFamily="18" charset="0"/>
              </a:rPr>
              <a:t>a+b</a:t>
            </a:r>
            <a:r>
              <a:rPr lang="en-US" sz="2400" dirty="0">
                <a:latin typeface="Times New Roman" panose="02020603050405020304" pitchFamily="18" charset="0"/>
                <a:cs typeface="Times New Roman" panose="02020603050405020304" pitchFamily="18" charset="0"/>
              </a:rPr>
              <a:t>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Postfix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after operands is called postfix expression. The postfix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Prefix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before operands is called a prefix expression. The prefix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p:txBody>
      </p:sp>
    </p:spTree>
    <p:extLst>
      <p:ext uri="{BB962C8B-B14F-4D97-AF65-F5344CB8AC3E}">
        <p14:creationId xmlns:p14="http://schemas.microsoft.com/office/powerpoint/2010/main" val="24144694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84DB5-08BA-AA8E-2B68-EE325D03FD91}"/>
              </a:ext>
            </a:extLst>
          </p:cNvPr>
          <p:cNvSpPr>
            <a:spLocks noGrp="1"/>
          </p:cNvSpPr>
          <p:nvPr>
            <p:ph idx="1"/>
          </p:nvPr>
        </p:nvSpPr>
        <p:spPr>
          <a:xfrm>
            <a:off x="457200" y="152400"/>
            <a:ext cx="8229600" cy="5973763"/>
          </a:xfrm>
        </p:spPr>
        <p:txBody>
          <a:bodyPr>
            <a:normAutofit/>
          </a:bodyPr>
          <a:lstStyle/>
          <a:p>
            <a:pPr marL="0" indent="0" algn="ctr">
              <a:buNone/>
            </a:pPr>
            <a:r>
              <a:rPr lang="en-US" b="1" dirty="0">
                <a:solidFill>
                  <a:srgbClr val="FF0000"/>
                </a:solidFill>
              </a:rPr>
              <a:t>CONTROL STATEMENTS </a:t>
            </a:r>
          </a:p>
          <a:p>
            <a:pPr algn="just"/>
            <a:r>
              <a:rPr lang="en-US" sz="2400" dirty="0"/>
              <a:t>In java, the default execution flow of a program is a sequential order, But the sequential order of execution flow may not be suitable for all situations. </a:t>
            </a:r>
          </a:p>
          <a:p>
            <a:pPr algn="just"/>
            <a:r>
              <a:rPr lang="en-US" sz="2400" dirty="0"/>
              <a:t>Sometimes, we may want to jump from line to another line, we may want to skip a part of the program, or sometimes we may want to execute a part of the program again and again. </a:t>
            </a:r>
          </a:p>
          <a:p>
            <a:pPr algn="just"/>
            <a:r>
              <a:rPr lang="en-US" sz="2400" dirty="0"/>
              <a:t>To solve this problem, java provides control statements. </a:t>
            </a:r>
          </a:p>
          <a:p>
            <a:pPr algn="just"/>
            <a:endParaRPr lang="en-US" sz="2400" dirty="0"/>
          </a:p>
        </p:txBody>
      </p:sp>
      <p:pic>
        <p:nvPicPr>
          <p:cNvPr id="5" name="Picture 4">
            <a:extLst>
              <a:ext uri="{FF2B5EF4-FFF2-40B4-BE49-F238E27FC236}">
                <a16:creationId xmlns:a16="http://schemas.microsoft.com/office/drawing/2014/main" id="{03280930-1D22-39E5-6A63-97478D2449E6}"/>
              </a:ext>
            </a:extLst>
          </p:cNvPr>
          <p:cNvPicPr>
            <a:picLocks noChangeAspect="1"/>
          </p:cNvPicPr>
          <p:nvPr/>
        </p:nvPicPr>
        <p:blipFill>
          <a:blip r:embed="rId2"/>
          <a:stretch>
            <a:fillRect/>
          </a:stretch>
        </p:blipFill>
        <p:spPr>
          <a:xfrm>
            <a:off x="1342131" y="3532904"/>
            <a:ext cx="6459737" cy="3143199"/>
          </a:xfrm>
          <a:prstGeom prst="rect">
            <a:avLst/>
          </a:prstGeom>
        </p:spPr>
      </p:pic>
    </p:spTree>
    <p:extLst>
      <p:ext uri="{BB962C8B-B14F-4D97-AF65-F5344CB8AC3E}">
        <p14:creationId xmlns:p14="http://schemas.microsoft.com/office/powerpoint/2010/main" val="1704890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E87B14-B9F3-99DC-32C3-D9E09C808FB2}"/>
              </a:ext>
            </a:extLst>
          </p:cNvPr>
          <p:cNvSpPr>
            <a:spLocks noGrp="1"/>
          </p:cNvSpPr>
          <p:nvPr>
            <p:ph idx="1"/>
          </p:nvPr>
        </p:nvSpPr>
        <p:spPr>
          <a:xfrm>
            <a:off x="457200" y="152400"/>
            <a:ext cx="8229600" cy="5973763"/>
          </a:xfrm>
        </p:spPr>
        <p:txBody>
          <a:bodyPr>
            <a:normAutofit fontScale="92500"/>
          </a:bodyPr>
          <a:lstStyle/>
          <a:p>
            <a:pPr marL="285115" indent="-272415" algn="just">
              <a:lnSpc>
                <a:spcPct val="100000"/>
              </a:lnSpc>
              <a:spcBef>
                <a:spcPts val="1775"/>
              </a:spcBef>
              <a:buClr>
                <a:srgbClr val="D24717"/>
              </a:buClr>
              <a:buSzPct val="83928"/>
              <a:buFont typeface="Segoe UI Symbol"/>
              <a:buChar char="⚫"/>
              <a:tabLst>
                <a:tab pos="285115" algn="l"/>
              </a:tabLst>
            </a:pPr>
            <a:r>
              <a:rPr lang="en-US" sz="2800" dirty="0">
                <a:latin typeface="Arial MT"/>
                <a:cs typeface="Arial MT"/>
              </a:rPr>
              <a:t>The</a:t>
            </a:r>
            <a:r>
              <a:rPr lang="en-US" sz="2800" spc="-5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statements</a:t>
            </a:r>
            <a:r>
              <a:rPr lang="en-US" sz="2800" spc="-60" dirty="0">
                <a:latin typeface="Arial MT"/>
                <a:cs typeface="Arial MT"/>
              </a:rPr>
              <a:t> </a:t>
            </a:r>
            <a:r>
              <a:rPr lang="en-US" sz="2800" dirty="0">
                <a:latin typeface="Arial MT"/>
                <a:cs typeface="Arial MT"/>
              </a:rPr>
              <a:t>are</a:t>
            </a:r>
            <a:r>
              <a:rPr lang="en-US" sz="2800" spc="-65" dirty="0">
                <a:latin typeface="Arial MT"/>
                <a:cs typeface="Arial MT"/>
              </a:rPr>
              <a:t> </a:t>
            </a:r>
            <a:r>
              <a:rPr lang="en-US" sz="2800" dirty="0">
                <a:latin typeface="Arial MT"/>
                <a:cs typeface="Arial MT"/>
              </a:rPr>
              <a:t>used</a:t>
            </a:r>
            <a:r>
              <a:rPr lang="en-US" sz="2800" spc="-65" dirty="0">
                <a:latin typeface="Arial MT"/>
                <a:cs typeface="Arial MT"/>
              </a:rPr>
              <a:t> </a:t>
            </a:r>
            <a:r>
              <a:rPr lang="en-US" sz="2800" dirty="0">
                <a:latin typeface="Arial MT"/>
                <a:cs typeface="Arial MT"/>
              </a:rPr>
              <a:t>to</a:t>
            </a:r>
            <a:r>
              <a:rPr lang="en-US" sz="2800" spc="-65"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over</a:t>
            </a:r>
            <a:r>
              <a:rPr lang="en-US" sz="2800" spc="-65" dirty="0">
                <a:latin typeface="Arial MT"/>
                <a:cs typeface="Arial MT"/>
              </a:rPr>
              <a:t> </a:t>
            </a:r>
            <a:r>
              <a:rPr lang="en-US" sz="2800" spc="-25" dirty="0">
                <a:latin typeface="Arial MT"/>
                <a:cs typeface="Arial MT"/>
              </a:rPr>
              <a:t>the</a:t>
            </a:r>
            <a:endParaRPr lang="en-US" sz="2800" dirty="0">
              <a:latin typeface="Arial MT"/>
              <a:cs typeface="Arial MT"/>
            </a:endParaRPr>
          </a:p>
          <a:p>
            <a:pPr marL="0" indent="0" algn="just">
              <a:lnSpc>
                <a:spcPct val="100000"/>
              </a:lnSpc>
              <a:spcBef>
                <a:spcPts val="1680"/>
              </a:spcBef>
              <a:buNone/>
            </a:pPr>
            <a:r>
              <a:rPr lang="en-US" sz="2800" b="1" dirty="0">
                <a:latin typeface="Arial"/>
                <a:cs typeface="Arial"/>
              </a:rPr>
              <a:t>order</a:t>
            </a:r>
            <a:r>
              <a:rPr lang="en-US" sz="2800" b="1" spc="-75" dirty="0">
                <a:latin typeface="Arial"/>
                <a:cs typeface="Arial"/>
              </a:rPr>
              <a:t> </a:t>
            </a:r>
            <a:r>
              <a:rPr lang="en-US" sz="2800" b="1" dirty="0">
                <a:latin typeface="Arial"/>
                <a:cs typeface="Arial"/>
              </a:rPr>
              <a:t>of</a:t>
            </a:r>
            <a:r>
              <a:rPr lang="en-US" sz="2800" b="1" spc="-55" dirty="0">
                <a:latin typeface="Arial"/>
                <a:cs typeface="Arial"/>
              </a:rPr>
              <a:t> </a:t>
            </a:r>
            <a:r>
              <a:rPr lang="en-US" sz="2800" b="1" dirty="0">
                <a:latin typeface="Arial"/>
                <a:cs typeface="Arial"/>
              </a:rPr>
              <a:t>execution</a:t>
            </a:r>
            <a:r>
              <a:rPr lang="en-US" sz="2800" b="1" spc="-55" dirty="0">
                <a:latin typeface="Arial"/>
                <a:cs typeface="Arial"/>
              </a:rPr>
              <a:t> </a:t>
            </a:r>
            <a:r>
              <a:rPr lang="en-US" sz="2800" b="1" dirty="0">
                <a:latin typeface="Arial"/>
                <a:cs typeface="Arial"/>
              </a:rPr>
              <a:t>of</a:t>
            </a:r>
            <a:r>
              <a:rPr lang="en-US" sz="2800" b="1" spc="-60" dirty="0">
                <a:latin typeface="Arial"/>
                <a:cs typeface="Arial"/>
              </a:rPr>
              <a:t> </a:t>
            </a:r>
            <a:r>
              <a:rPr lang="en-US" sz="2800" b="1" dirty="0">
                <a:latin typeface="Arial"/>
                <a:cs typeface="Arial"/>
              </a:rPr>
              <a:t>the</a:t>
            </a:r>
            <a:r>
              <a:rPr lang="en-US" sz="2800" b="1" spc="-70" dirty="0">
                <a:latin typeface="Arial"/>
                <a:cs typeface="Arial"/>
              </a:rPr>
              <a:t> </a:t>
            </a:r>
            <a:r>
              <a:rPr lang="en-US" sz="2800" b="1" spc="-10" dirty="0">
                <a:latin typeface="Arial"/>
                <a:cs typeface="Arial"/>
              </a:rPr>
              <a:t>statements.</a:t>
            </a:r>
            <a:endParaRPr lang="en-US" sz="2800" dirty="0">
              <a:latin typeface="Arial"/>
              <a:cs typeface="Arial"/>
            </a:endParaRPr>
          </a:p>
          <a:p>
            <a:pPr marL="284480" marR="1125855" indent="-272415" algn="just">
              <a:lnSpc>
                <a:spcPct val="150000"/>
              </a:lnSpc>
              <a:spcBef>
                <a:spcPts val="605"/>
              </a:spcBef>
              <a:buClr>
                <a:srgbClr val="D24717"/>
              </a:buClr>
              <a:buSzPct val="83928"/>
              <a:buFont typeface="Segoe UI Symbol"/>
              <a:buChar char="⚫"/>
              <a:tabLst>
                <a:tab pos="286385" algn="l"/>
              </a:tabLst>
            </a:pPr>
            <a:r>
              <a:rPr lang="en-US" sz="2800" dirty="0">
                <a:latin typeface="Arial MT"/>
                <a:cs typeface="Arial MT"/>
              </a:rPr>
              <a:t>The</a:t>
            </a:r>
            <a:r>
              <a:rPr lang="en-US" sz="2800" spc="-45" dirty="0">
                <a:latin typeface="Arial MT"/>
                <a:cs typeface="Arial MT"/>
              </a:rPr>
              <a:t> </a:t>
            </a:r>
            <a:r>
              <a:rPr lang="en-US" sz="2800" dirty="0">
                <a:latin typeface="Arial MT"/>
                <a:cs typeface="Arial MT"/>
              </a:rPr>
              <a:t>two</a:t>
            </a:r>
            <a:r>
              <a:rPr lang="en-US" sz="2800" spc="-60" dirty="0">
                <a:latin typeface="Arial MT"/>
                <a:cs typeface="Arial MT"/>
              </a:rPr>
              <a:t> </a:t>
            </a:r>
            <a:r>
              <a:rPr lang="en-US" sz="2800" dirty="0">
                <a:latin typeface="Arial MT"/>
                <a:cs typeface="Arial MT"/>
              </a:rPr>
              <a:t>major</a:t>
            </a:r>
            <a:r>
              <a:rPr lang="en-US" sz="2800" spc="-40" dirty="0">
                <a:latin typeface="Arial MT"/>
                <a:cs typeface="Arial MT"/>
              </a:rPr>
              <a:t> </a:t>
            </a:r>
            <a:r>
              <a:rPr lang="en-US" sz="2800" dirty="0">
                <a:latin typeface="Arial MT"/>
                <a:cs typeface="Arial MT"/>
              </a:rPr>
              <a:t>types</a:t>
            </a:r>
            <a:r>
              <a:rPr lang="en-US" sz="2800" spc="-60" dirty="0">
                <a:latin typeface="Arial MT"/>
                <a:cs typeface="Arial MT"/>
              </a:rPr>
              <a:t> </a:t>
            </a:r>
            <a:r>
              <a:rPr lang="en-US" sz="2800" dirty="0">
                <a:latin typeface="Arial MT"/>
                <a:cs typeface="Arial MT"/>
              </a:rPr>
              <a:t>of</a:t>
            </a:r>
            <a:r>
              <a:rPr lang="en-US" sz="2800" spc="-6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spc="-10" dirty="0">
                <a:latin typeface="Arial MT"/>
                <a:cs typeface="Arial MT"/>
              </a:rPr>
              <a:t>statements 	</a:t>
            </a:r>
            <a:r>
              <a:rPr lang="en-US" sz="2800" dirty="0">
                <a:latin typeface="Arial MT"/>
                <a:cs typeface="Arial MT"/>
              </a:rPr>
              <a:t>available</a:t>
            </a:r>
            <a:r>
              <a:rPr lang="en-US" sz="2800" spc="-25" dirty="0">
                <a:latin typeface="Arial MT"/>
                <a:cs typeface="Arial MT"/>
              </a:rPr>
              <a:t> </a:t>
            </a:r>
            <a:r>
              <a:rPr lang="en-US" sz="2800" dirty="0">
                <a:latin typeface="Arial MT"/>
                <a:cs typeface="Arial MT"/>
              </a:rPr>
              <a:t>in</a:t>
            </a:r>
            <a:r>
              <a:rPr lang="en-US" sz="2800" spc="-45" dirty="0">
                <a:latin typeface="Arial MT"/>
                <a:cs typeface="Arial MT"/>
              </a:rPr>
              <a:t> </a:t>
            </a:r>
            <a:r>
              <a:rPr lang="en-US" sz="2800" dirty="0">
                <a:latin typeface="Arial MT"/>
                <a:cs typeface="Arial MT"/>
              </a:rPr>
              <a:t>Java</a:t>
            </a:r>
            <a:r>
              <a:rPr lang="en-US" sz="2800" spc="-35" dirty="0">
                <a:latin typeface="Arial MT"/>
                <a:cs typeface="Arial MT"/>
              </a:rPr>
              <a:t> </a:t>
            </a:r>
            <a:r>
              <a:rPr lang="en-US" sz="2800" dirty="0">
                <a:latin typeface="Arial MT"/>
                <a:cs typeface="Arial MT"/>
              </a:rPr>
              <a:t>are</a:t>
            </a:r>
            <a:r>
              <a:rPr lang="en-US" sz="2800" spc="-45" dirty="0">
                <a:latin typeface="Arial MT"/>
                <a:cs typeface="Arial MT"/>
              </a:rPr>
              <a:t> </a:t>
            </a:r>
            <a:r>
              <a:rPr lang="en-US" sz="2800" dirty="0">
                <a:latin typeface="Arial MT"/>
                <a:cs typeface="Arial MT"/>
              </a:rPr>
              <a:t>the</a:t>
            </a:r>
            <a:r>
              <a:rPr lang="en-US" sz="2800" spc="-10" dirty="0">
                <a:latin typeface="Arial MT"/>
                <a:cs typeface="Arial MT"/>
              </a:rPr>
              <a:t> </a:t>
            </a:r>
            <a:r>
              <a:rPr lang="en-US" sz="2800" b="1" spc="-20" dirty="0">
                <a:latin typeface="Arial"/>
                <a:cs typeface="Arial"/>
              </a:rPr>
              <a:t>decision-</a:t>
            </a:r>
            <a:r>
              <a:rPr lang="en-US" sz="2800" b="1" spc="-10" dirty="0">
                <a:latin typeface="Arial"/>
                <a:cs typeface="Arial"/>
              </a:rPr>
              <a:t>making 	</a:t>
            </a:r>
            <a:r>
              <a:rPr lang="en-US" sz="2800" b="1" dirty="0">
                <a:latin typeface="Arial"/>
                <a:cs typeface="Arial"/>
              </a:rPr>
              <a:t>statements</a:t>
            </a:r>
            <a:r>
              <a:rPr lang="en-US" sz="2800" b="1" spc="-55" dirty="0">
                <a:latin typeface="Arial"/>
                <a:cs typeface="Arial"/>
              </a:rPr>
              <a:t> </a:t>
            </a:r>
            <a:r>
              <a:rPr lang="en-US" sz="2800" dirty="0">
                <a:latin typeface="Arial MT"/>
                <a:cs typeface="Arial MT"/>
              </a:rPr>
              <a:t>and</a:t>
            </a:r>
            <a:r>
              <a:rPr lang="en-US" sz="2800" spc="-90" dirty="0">
                <a:latin typeface="Arial MT"/>
                <a:cs typeface="Arial MT"/>
              </a:rPr>
              <a:t> </a:t>
            </a:r>
            <a:r>
              <a:rPr lang="en-US" sz="2800" dirty="0">
                <a:latin typeface="Arial MT"/>
                <a:cs typeface="Arial MT"/>
              </a:rPr>
              <a:t>the</a:t>
            </a:r>
            <a:r>
              <a:rPr lang="en-US" sz="2800" spc="-70" dirty="0">
                <a:latin typeface="Arial MT"/>
                <a:cs typeface="Arial MT"/>
              </a:rPr>
              <a:t> </a:t>
            </a:r>
            <a:r>
              <a:rPr lang="en-US" sz="2800" b="1" dirty="0">
                <a:latin typeface="Arial"/>
                <a:cs typeface="Arial"/>
              </a:rPr>
              <a:t>repetitive</a:t>
            </a:r>
            <a:r>
              <a:rPr lang="en-US" sz="2800" b="1" spc="-90" dirty="0">
                <a:latin typeface="Arial"/>
                <a:cs typeface="Arial"/>
              </a:rPr>
              <a:t> </a:t>
            </a:r>
            <a:r>
              <a:rPr lang="en-US" sz="2800" b="1" spc="-10" dirty="0">
                <a:latin typeface="Arial"/>
                <a:cs typeface="Arial"/>
              </a:rPr>
              <a:t>statements</a:t>
            </a:r>
            <a:r>
              <a:rPr lang="en-US" sz="2800" spc="-10" dirty="0">
                <a:latin typeface="Arial MT"/>
                <a:cs typeface="Arial MT"/>
              </a:rPr>
              <a:t>.</a:t>
            </a:r>
            <a:endParaRPr lang="en-US" sz="2800" dirty="0">
              <a:latin typeface="Arial MT"/>
              <a:cs typeface="Arial MT"/>
            </a:endParaRPr>
          </a:p>
          <a:p>
            <a:pPr marL="561340" marR="156210" lvl="1" indent="-302260" algn="just">
              <a:lnSpc>
                <a:spcPct val="150100"/>
              </a:lnSpc>
              <a:spcBef>
                <a:spcPts val="290"/>
              </a:spcBef>
              <a:buClr>
                <a:srgbClr val="9B2C1F"/>
              </a:buClr>
              <a:buSzPct val="84375"/>
              <a:buFont typeface="Segoe UI Symbol"/>
              <a:buChar char="⚫"/>
              <a:tabLst>
                <a:tab pos="561340" algn="l"/>
              </a:tabLst>
            </a:pPr>
            <a:r>
              <a:rPr lang="en-US" sz="3200" b="1" spc="-10" dirty="0">
                <a:latin typeface="Arial"/>
                <a:cs typeface="Arial"/>
              </a:rPr>
              <a:t>Decision-</a:t>
            </a:r>
            <a:r>
              <a:rPr lang="en-US" sz="3200" b="1" dirty="0">
                <a:latin typeface="Arial"/>
                <a:cs typeface="Arial"/>
              </a:rPr>
              <a:t>making</a:t>
            </a:r>
            <a:r>
              <a:rPr lang="en-US" sz="3200" b="1" spc="-55" dirty="0">
                <a:latin typeface="Arial"/>
                <a:cs typeface="Arial"/>
              </a:rPr>
              <a:t> </a:t>
            </a:r>
            <a:r>
              <a:rPr lang="en-US" sz="3200" b="1" dirty="0">
                <a:latin typeface="Arial"/>
                <a:cs typeface="Arial"/>
              </a:rPr>
              <a:t>Statements</a:t>
            </a:r>
            <a:r>
              <a:rPr lang="en-US" sz="3200" b="1" spc="-20" dirty="0">
                <a:latin typeface="Arial"/>
                <a:cs typeface="Arial"/>
              </a:rPr>
              <a:t> </a:t>
            </a:r>
            <a:r>
              <a:rPr lang="en-US" sz="3200" dirty="0">
                <a:latin typeface="Arial MT"/>
                <a:cs typeface="Arial MT"/>
              </a:rPr>
              <a:t>–</a:t>
            </a:r>
            <a:r>
              <a:rPr lang="en-US" sz="3200" spc="-20" dirty="0">
                <a:latin typeface="Arial MT"/>
                <a:cs typeface="Arial MT"/>
              </a:rPr>
              <a:t> </a:t>
            </a:r>
            <a:r>
              <a:rPr lang="en-US" sz="3200" dirty="0">
                <a:latin typeface="Arial MT"/>
                <a:cs typeface="Arial MT"/>
              </a:rPr>
              <a:t>if,</a:t>
            </a:r>
            <a:r>
              <a:rPr lang="en-US" sz="3200" spc="5" dirty="0">
                <a:latin typeface="Arial MT"/>
                <a:cs typeface="Arial MT"/>
              </a:rPr>
              <a:t> </a:t>
            </a:r>
            <a:r>
              <a:rPr lang="en-US" sz="3200" spc="-10" dirty="0">
                <a:latin typeface="Arial MT"/>
                <a:cs typeface="Arial MT"/>
              </a:rPr>
              <a:t>if-else, switch</a:t>
            </a:r>
            <a:endParaRPr lang="en-US" sz="3200" dirty="0">
              <a:latin typeface="Arial MT"/>
              <a:cs typeface="Arial MT"/>
            </a:endParaRPr>
          </a:p>
          <a:p>
            <a:pPr marL="560705" lvl="1" indent="-301625" algn="just">
              <a:lnSpc>
                <a:spcPct val="100000"/>
              </a:lnSpc>
              <a:spcBef>
                <a:spcPts val="2330"/>
              </a:spcBef>
              <a:buClr>
                <a:srgbClr val="9B2C1F"/>
              </a:buClr>
              <a:buSzPct val="84375"/>
              <a:buFont typeface="Segoe UI Symbol"/>
              <a:buChar char="⚫"/>
              <a:tabLst>
                <a:tab pos="560705" algn="l"/>
              </a:tabLst>
            </a:pPr>
            <a:r>
              <a:rPr lang="en-US" sz="3200" b="1" dirty="0">
                <a:latin typeface="Arial"/>
                <a:cs typeface="Arial"/>
              </a:rPr>
              <a:t>Repetitive</a:t>
            </a:r>
            <a:r>
              <a:rPr lang="en-US" sz="3200" b="1" spc="-100" dirty="0">
                <a:latin typeface="Arial"/>
                <a:cs typeface="Arial"/>
              </a:rPr>
              <a:t> </a:t>
            </a:r>
            <a:r>
              <a:rPr lang="en-US" sz="3200" b="1" dirty="0">
                <a:latin typeface="Arial"/>
                <a:cs typeface="Arial"/>
              </a:rPr>
              <a:t>statements</a:t>
            </a:r>
            <a:r>
              <a:rPr lang="en-US" sz="3200" b="1" spc="-120" dirty="0">
                <a:latin typeface="Arial"/>
                <a:cs typeface="Arial"/>
              </a:rPr>
              <a:t> </a:t>
            </a:r>
            <a:r>
              <a:rPr lang="en-US" sz="3200" dirty="0">
                <a:latin typeface="Arial MT"/>
                <a:cs typeface="Arial MT"/>
              </a:rPr>
              <a:t>–</a:t>
            </a:r>
            <a:r>
              <a:rPr lang="en-US" sz="3200" spc="-75" dirty="0">
                <a:latin typeface="Arial MT"/>
                <a:cs typeface="Arial MT"/>
              </a:rPr>
              <a:t> </a:t>
            </a:r>
            <a:r>
              <a:rPr lang="en-US" sz="3200" dirty="0">
                <a:latin typeface="Arial MT"/>
                <a:cs typeface="Arial MT"/>
              </a:rPr>
              <a:t>for,</a:t>
            </a:r>
            <a:r>
              <a:rPr lang="en-US" sz="3200" spc="-60" dirty="0">
                <a:latin typeface="Arial MT"/>
                <a:cs typeface="Arial MT"/>
              </a:rPr>
              <a:t> </a:t>
            </a:r>
            <a:r>
              <a:rPr lang="en-US" sz="3200" dirty="0">
                <a:latin typeface="Arial MT"/>
                <a:cs typeface="Arial MT"/>
              </a:rPr>
              <a:t>while,</a:t>
            </a:r>
            <a:r>
              <a:rPr lang="en-US" sz="3200" spc="-75" dirty="0">
                <a:latin typeface="Arial MT"/>
                <a:cs typeface="Arial MT"/>
              </a:rPr>
              <a:t> </a:t>
            </a:r>
            <a:r>
              <a:rPr lang="en-US" sz="3200" spc="-25" dirty="0">
                <a:latin typeface="Arial MT"/>
                <a:cs typeface="Arial MT"/>
              </a:rPr>
              <a:t>do-</a:t>
            </a:r>
            <a:endParaRPr lang="en-US" sz="3200" dirty="0">
              <a:latin typeface="Arial MT"/>
              <a:cs typeface="Arial MT"/>
            </a:endParaRPr>
          </a:p>
          <a:p>
            <a:pPr algn="just"/>
            <a:endParaRPr lang="en-US" dirty="0"/>
          </a:p>
        </p:txBody>
      </p:sp>
    </p:spTree>
    <p:extLst>
      <p:ext uri="{BB962C8B-B14F-4D97-AF65-F5344CB8AC3E}">
        <p14:creationId xmlns:p14="http://schemas.microsoft.com/office/powerpoint/2010/main" val="36784071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B52DA2-2716-BFF2-FFB0-6C814409BC07}"/>
              </a:ext>
            </a:extLst>
          </p:cNvPr>
          <p:cNvSpPr>
            <a:spLocks noGrp="1"/>
          </p:cNvSpPr>
          <p:nvPr>
            <p:ph idx="1"/>
          </p:nvPr>
        </p:nvSpPr>
        <p:spPr>
          <a:xfrm>
            <a:off x="457200" y="304800"/>
            <a:ext cx="8229600" cy="5821363"/>
          </a:xfrm>
        </p:spPr>
        <p:txBody>
          <a:bodyPr>
            <a:normAutofit fontScale="85000" lnSpcReduction="1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1. Selection Control Statements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selection statements are also known as decision making statements or branching </a:t>
            </a:r>
          </a:p>
          <a:p>
            <a:pPr algn="just"/>
            <a:r>
              <a:rPr lang="en-US" dirty="0">
                <a:latin typeface="Times New Roman" panose="02020603050405020304" pitchFamily="18" charset="0"/>
                <a:cs typeface="Times New Roman" panose="02020603050405020304" pitchFamily="18" charset="0"/>
              </a:rPr>
              <a:t>statements. The selection statements are used to select a part of the program to be executed based on a </a:t>
            </a:r>
          </a:p>
          <a:p>
            <a:pPr algn="just"/>
            <a:r>
              <a:rPr lang="en-US" dirty="0">
                <a:latin typeface="Times New Roman" panose="02020603050405020304" pitchFamily="18" charset="0"/>
                <a:cs typeface="Times New Roman" panose="02020603050405020304" pitchFamily="18" charset="0"/>
              </a:rPr>
              <a:t>condition. </a:t>
            </a:r>
          </a:p>
          <a:p>
            <a:pPr algn="just"/>
            <a:r>
              <a:rPr lang="en-US" b="1" dirty="0">
                <a:latin typeface="Times New Roman" panose="02020603050405020304" pitchFamily="18" charset="0"/>
                <a:cs typeface="Times New Roman" panose="02020603050405020304" pitchFamily="18" charset="0"/>
              </a:rPr>
              <a:t>Java provides the following selection statements.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if-else statement </a:t>
            </a:r>
          </a:p>
          <a:p>
            <a:pPr algn="just"/>
            <a:r>
              <a:rPr lang="en-US" spc="-10" dirty="0">
                <a:latin typeface="Times New Roman" panose="02020603050405020304" pitchFamily="18" charset="0"/>
                <a:cs typeface="Times New Roman" panose="02020603050405020304" pitchFamily="18" charset="0"/>
              </a:rPr>
              <a:t>if-else-</a:t>
            </a:r>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nested if statement </a:t>
            </a:r>
          </a:p>
          <a:p>
            <a:pPr algn="just"/>
            <a:r>
              <a:rPr lang="en-US" dirty="0">
                <a:latin typeface="Times New Roman" panose="02020603050405020304" pitchFamily="18" charset="0"/>
                <a:cs typeface="Times New Roman" panose="02020603050405020304" pitchFamily="18" charset="0"/>
              </a:rPr>
              <a:t>switch statement </a:t>
            </a:r>
          </a:p>
        </p:txBody>
      </p:sp>
    </p:spTree>
    <p:extLst>
      <p:ext uri="{BB962C8B-B14F-4D97-AF65-F5344CB8AC3E}">
        <p14:creationId xmlns:p14="http://schemas.microsoft.com/office/powerpoint/2010/main" val="4228146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0"/>
            <a:ext cx="8229600" cy="1121076"/>
          </a:xfrm>
          <a:prstGeom prst="rect">
            <a:avLst/>
          </a:prstGeom>
        </p:spPr>
        <p:txBody>
          <a:bodyPr vert="horz" wrap="square" lIns="0" tIns="500634"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Control</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50" dirty="0">
                <a:solidFill>
                  <a:srgbClr val="696363"/>
                </a:solidFill>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if</a:t>
            </a:r>
            <a:r>
              <a:rPr sz="4000" spc="-4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statement</a:t>
            </a:r>
          </a:p>
        </p:txBody>
      </p:sp>
      <p:sp>
        <p:nvSpPr>
          <p:cNvPr id="3" name="object 3"/>
          <p:cNvSpPr txBox="1"/>
          <p:nvPr/>
        </p:nvSpPr>
        <p:spPr>
          <a:xfrm>
            <a:off x="494071" y="1920876"/>
            <a:ext cx="8013700" cy="4251960"/>
          </a:xfrm>
          <a:prstGeom prst="rect">
            <a:avLst/>
          </a:prstGeom>
        </p:spPr>
        <p:txBody>
          <a:bodyPr vert="horz" wrap="square" lIns="0" tIns="12065" rIns="0" bIns="0" rtlCol="0">
            <a:spAutoFit/>
          </a:bodyPr>
          <a:lstStyle/>
          <a:p>
            <a:pPr marL="286385" marR="5080" indent="-286385" algn="just">
              <a:lnSpc>
                <a:spcPct val="150100"/>
              </a:lnSpc>
              <a:spcBef>
                <a:spcPts val="95"/>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Java</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statement</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tests</a:t>
            </a:r>
            <a:r>
              <a:rPr sz="3200" spc="-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30" dirty="0">
                <a:latin typeface="Times New Roman" panose="02020603050405020304" pitchFamily="18" charset="0"/>
                <a:cs typeface="Times New Roman" panose="02020603050405020304" pitchFamily="18" charset="0"/>
              </a:rPr>
              <a:t> </a:t>
            </a:r>
            <a:r>
              <a:rPr sz="3200" spc="-25" dirty="0">
                <a:latin typeface="Times New Roman" panose="02020603050405020304" pitchFamily="18" charset="0"/>
                <a:cs typeface="Times New Roman" panose="02020603050405020304" pitchFamily="18" charset="0"/>
              </a:rPr>
              <a:t>It </a:t>
            </a:r>
            <a:r>
              <a:rPr sz="3200" dirty="0">
                <a:latin typeface="Times New Roman" panose="02020603050405020304" pitchFamily="18" charset="0"/>
                <a:cs typeface="Times New Roman" panose="02020603050405020304" pitchFamily="18" charset="0"/>
              </a:rPr>
              <a:t>executes</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5"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if</a:t>
            </a:r>
            <a:r>
              <a:rPr sz="3200" i="1" spc="-20"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block</a:t>
            </a:r>
            <a:r>
              <a:rPr sz="3200" i="1"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is</a:t>
            </a:r>
            <a:r>
              <a:rPr sz="3200" spc="-20"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true.</a:t>
            </a:r>
            <a:endParaRPr sz="3200" dirty="0">
              <a:latin typeface="Times New Roman" panose="02020603050405020304" pitchFamily="18" charset="0"/>
              <a:cs typeface="Times New Roman" panose="02020603050405020304" pitchFamily="18" charset="0"/>
            </a:endParaRPr>
          </a:p>
          <a:p>
            <a:pPr marL="286385" indent="-285750" algn="just">
              <a:lnSpc>
                <a:spcPct val="100000"/>
              </a:lnSpc>
              <a:spcBef>
                <a:spcPts val="2520"/>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syntax</a:t>
            </a:r>
            <a:r>
              <a:rPr sz="3200" spc="-3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a:t>
            </a:r>
            <a:r>
              <a:rPr sz="3200" spc="-25"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follows</a:t>
            </a:r>
            <a:endParaRPr sz="3200" dirty="0">
              <a:latin typeface="Times New Roman" panose="02020603050405020304" pitchFamily="18" charset="0"/>
              <a:cs typeface="Times New Roman" panose="02020603050405020304" pitchFamily="18" charset="0"/>
            </a:endParaRPr>
          </a:p>
          <a:p>
            <a:pPr marL="927100" algn="just">
              <a:lnSpc>
                <a:spcPct val="100000"/>
              </a:lnSpc>
              <a:spcBef>
                <a:spcPts val="208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59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b="1" i="1" dirty="0">
                <a:latin typeface="Times New Roman" panose="02020603050405020304" pitchFamily="18" charset="0"/>
                <a:cs typeface="Times New Roman" panose="02020603050405020304" pitchFamily="18" charset="0"/>
              </a:rPr>
              <a:t>//code</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to</a:t>
            </a:r>
            <a:r>
              <a:rPr sz="2400" b="1" i="1" spc="-2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be</a:t>
            </a:r>
            <a:r>
              <a:rPr sz="2400" b="1" i="1" spc="-2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678" y="0"/>
            <a:ext cx="7596505" cy="574040"/>
          </a:xfrm>
          <a:prstGeom prst="rect">
            <a:avLst/>
          </a:prstGeom>
        </p:spPr>
        <p:txBody>
          <a:bodyPr vert="horz" wrap="square" lIns="0" tIns="12700" rIns="0" bIns="0" rtlCol="0">
            <a:normAutofit fontScale="90000"/>
          </a:bodyPr>
          <a:lstStyle/>
          <a:p>
            <a:pPr marL="12700">
              <a:lnSpc>
                <a:spcPct val="100000"/>
              </a:lnSpc>
              <a:spcBef>
                <a:spcPts val="100"/>
              </a:spcBef>
            </a:pPr>
            <a:r>
              <a:rPr dirty="0">
                <a:solidFill>
                  <a:srgbClr val="696363"/>
                </a:solidFill>
              </a:rPr>
              <a:t>Control</a:t>
            </a:r>
            <a:r>
              <a:rPr spc="-45"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0" dirty="0">
                <a:solidFill>
                  <a:srgbClr val="696363"/>
                </a:solidFill>
              </a:rPr>
              <a:t> </a:t>
            </a:r>
            <a:r>
              <a:rPr dirty="0"/>
              <a:t>if</a:t>
            </a:r>
            <a:r>
              <a:rPr spc="-45" dirty="0"/>
              <a:t> </a:t>
            </a:r>
            <a:r>
              <a:rPr dirty="0"/>
              <a:t>statement</a:t>
            </a:r>
            <a:r>
              <a:rPr spc="-60" dirty="0"/>
              <a:t> </a:t>
            </a:r>
            <a:r>
              <a:rPr spc="-50" dirty="0"/>
              <a:t>-</a:t>
            </a:r>
          </a:p>
        </p:txBody>
      </p:sp>
      <p:sp>
        <p:nvSpPr>
          <p:cNvPr id="3" name="object 3"/>
          <p:cNvSpPr txBox="1"/>
          <p:nvPr/>
        </p:nvSpPr>
        <p:spPr>
          <a:xfrm>
            <a:off x="198290" y="679366"/>
            <a:ext cx="7955280" cy="4492255"/>
          </a:xfrm>
          <a:prstGeom prst="rect">
            <a:avLst/>
          </a:prstGeom>
        </p:spPr>
        <p:txBody>
          <a:bodyPr vert="horz" wrap="square" lIns="0" tIns="181610" rIns="0" bIns="0" rtlCol="0">
            <a:spAutoFit/>
          </a:bodyPr>
          <a:lstStyle/>
          <a:p>
            <a:pPr marL="88900">
              <a:lnSpc>
                <a:spcPct val="100000"/>
              </a:lnSpc>
              <a:spcBef>
                <a:spcPts val="89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IfExample</a:t>
            </a:r>
            <a:endParaRPr sz="2400" dirty="0">
              <a:latin typeface="Courier New"/>
              <a:cs typeface="Courier New"/>
            </a:endParaRPr>
          </a:p>
          <a:p>
            <a:pPr marL="88900">
              <a:lnSpc>
                <a:spcPct val="100000"/>
              </a:lnSpc>
              <a:spcBef>
                <a:spcPts val="600"/>
              </a:spcBef>
            </a:pPr>
            <a:r>
              <a:rPr sz="2400" spc="-50" dirty="0">
                <a:latin typeface="Courier New"/>
                <a:cs typeface="Courier New"/>
              </a:rPr>
              <a:t>{</a:t>
            </a:r>
            <a:endParaRPr sz="2400" dirty="0">
              <a:latin typeface="Courier New"/>
              <a:cs typeface="Courier New"/>
            </a:endParaRPr>
          </a:p>
          <a:p>
            <a:pPr marL="10033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a:p>
            <a:pPr marL="1003300">
              <a:lnSpc>
                <a:spcPct val="100000"/>
              </a:lnSpc>
              <a:spcBef>
                <a:spcPts val="600"/>
              </a:spcBef>
            </a:pPr>
            <a:r>
              <a:rPr sz="2400" spc="-50" dirty="0">
                <a:latin typeface="Courier New"/>
                <a:cs typeface="Courier New"/>
              </a:rPr>
              <a:t>{</a:t>
            </a:r>
            <a:endParaRPr sz="2400" dirty="0">
              <a:latin typeface="Courier New"/>
              <a:cs typeface="Courier New"/>
            </a:endParaRPr>
          </a:p>
          <a:p>
            <a:pPr marL="1917700">
              <a:lnSpc>
                <a:spcPct val="100000"/>
              </a:lnSpc>
              <a:spcBef>
                <a:spcPts val="600"/>
              </a:spcBef>
            </a:pPr>
            <a:r>
              <a:rPr sz="2400" b="1" dirty="0">
                <a:latin typeface="Courier New"/>
                <a:cs typeface="Courier New"/>
              </a:rPr>
              <a:t>int</a:t>
            </a:r>
            <a:r>
              <a:rPr sz="2400" b="1" spc="-15" dirty="0">
                <a:latin typeface="Courier New"/>
                <a:cs typeface="Courier New"/>
              </a:rPr>
              <a:t> </a:t>
            </a:r>
            <a:r>
              <a:rPr sz="2400" spc="-10" dirty="0">
                <a:latin typeface="Courier New"/>
                <a:cs typeface="Courier New"/>
              </a:rPr>
              <a:t>age=20;</a:t>
            </a:r>
            <a:endParaRPr sz="2400" dirty="0">
              <a:latin typeface="Courier New"/>
              <a:cs typeface="Courier New"/>
            </a:endParaRPr>
          </a:p>
          <a:p>
            <a:pPr marL="1917700">
              <a:lnSpc>
                <a:spcPct val="100000"/>
              </a:lnSpc>
              <a:spcBef>
                <a:spcPts val="600"/>
              </a:spcBef>
            </a:pPr>
            <a:r>
              <a:rPr sz="2400" b="1" spc="-10" dirty="0">
                <a:latin typeface="Courier New"/>
                <a:cs typeface="Courier New"/>
              </a:rPr>
              <a:t>if</a:t>
            </a:r>
            <a:r>
              <a:rPr sz="2400" spc="-10" dirty="0">
                <a:latin typeface="Courier New"/>
                <a:cs typeface="Courier New"/>
              </a:rPr>
              <a:t>(age&gt;18)</a:t>
            </a:r>
            <a:endParaRPr sz="2400" dirty="0">
              <a:latin typeface="Courier New"/>
              <a:cs typeface="Courier New"/>
            </a:endParaRPr>
          </a:p>
          <a:p>
            <a:pPr marL="1917700">
              <a:lnSpc>
                <a:spcPct val="100000"/>
              </a:lnSpc>
              <a:spcBef>
                <a:spcPts val="605"/>
              </a:spcBef>
            </a:pPr>
            <a:r>
              <a:rPr sz="2400" spc="-50" dirty="0">
                <a:latin typeface="Courier New"/>
                <a:cs typeface="Courier New"/>
              </a:rPr>
              <a:t>{</a:t>
            </a:r>
            <a:endParaRPr sz="2400" dirty="0">
              <a:latin typeface="Courier New"/>
              <a:cs typeface="Courier New"/>
            </a:endParaRPr>
          </a:p>
          <a:p>
            <a:pPr marL="88900" marR="732155" indent="2743835">
              <a:lnSpc>
                <a:spcPct val="100000"/>
              </a:lnSpc>
              <a:spcBef>
                <a:spcPts val="600"/>
              </a:spcBef>
            </a:pPr>
            <a:r>
              <a:rPr sz="2400" dirty="0">
                <a:latin typeface="Courier New"/>
                <a:cs typeface="Courier New"/>
              </a:rPr>
              <a:t>System.out.print("Age</a:t>
            </a:r>
            <a:r>
              <a:rPr sz="2400" spc="-145" dirty="0">
                <a:latin typeface="Courier New"/>
                <a:cs typeface="Courier New"/>
              </a:rPr>
              <a:t> </a:t>
            </a:r>
            <a:r>
              <a:rPr sz="2400" spc="-25" dirty="0">
                <a:latin typeface="Courier New"/>
                <a:cs typeface="Courier New"/>
              </a:rPr>
              <a:t>is </a:t>
            </a:r>
            <a:r>
              <a:rPr sz="2400" dirty="0">
                <a:latin typeface="Courier New"/>
                <a:cs typeface="Courier New"/>
              </a:rPr>
              <a:t>greater</a:t>
            </a:r>
            <a:r>
              <a:rPr sz="2400" spc="-50" dirty="0">
                <a:latin typeface="Courier New"/>
                <a:cs typeface="Courier New"/>
              </a:rPr>
              <a:t> </a:t>
            </a:r>
            <a:r>
              <a:rPr sz="2400" dirty="0">
                <a:latin typeface="Courier New"/>
                <a:cs typeface="Courier New"/>
              </a:rPr>
              <a:t>than</a:t>
            </a:r>
            <a:r>
              <a:rPr sz="2400" spc="-25" dirty="0">
                <a:latin typeface="Courier New"/>
                <a:cs typeface="Courier New"/>
              </a:rPr>
              <a:t> </a:t>
            </a:r>
            <a:r>
              <a:rPr sz="2400" spc="-10" dirty="0">
                <a:latin typeface="Courier New"/>
                <a:cs typeface="Courier New"/>
              </a:rPr>
              <a:t>18");</a:t>
            </a:r>
            <a:endParaRPr sz="2400" dirty="0">
              <a:latin typeface="Courier New"/>
              <a:cs typeface="Courier New"/>
            </a:endParaRPr>
          </a:p>
          <a:p>
            <a:pPr marL="1917700">
              <a:lnSpc>
                <a:spcPct val="100000"/>
              </a:lnSpc>
              <a:spcBef>
                <a:spcPts val="600"/>
              </a:spcBef>
            </a:pPr>
            <a:r>
              <a:rPr sz="2400" spc="-50" dirty="0">
                <a:latin typeface="Courier New"/>
                <a:cs typeface="Courier New"/>
              </a:rPr>
              <a:t>}</a:t>
            </a:r>
            <a:endParaRPr sz="2400" dirty="0">
              <a:latin typeface="Courier New"/>
              <a:cs typeface="Courier New"/>
            </a:endParaRPr>
          </a:p>
        </p:txBody>
      </p:sp>
      <p:sp>
        <p:nvSpPr>
          <p:cNvPr id="4" name="object 4"/>
          <p:cNvSpPr txBox="1"/>
          <p:nvPr/>
        </p:nvSpPr>
        <p:spPr>
          <a:xfrm>
            <a:off x="1298194" y="53316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dirty="0">
              <a:latin typeface="Courier New"/>
              <a:cs typeface="Courier New"/>
            </a:endParaRPr>
          </a:p>
        </p:txBody>
      </p:sp>
      <p:sp>
        <p:nvSpPr>
          <p:cNvPr id="5" name="object 5"/>
          <p:cNvSpPr txBox="1"/>
          <p:nvPr/>
        </p:nvSpPr>
        <p:spPr>
          <a:xfrm>
            <a:off x="383540" y="57736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6" name="object 6"/>
          <p:cNvSpPr txBox="1"/>
          <p:nvPr/>
        </p:nvSpPr>
        <p:spPr>
          <a:xfrm>
            <a:off x="3965575" y="5366715"/>
            <a:ext cx="122174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0000"/>
                </a:solidFill>
                <a:latin typeface="Verdana"/>
                <a:cs typeface="Verdana"/>
              </a:rPr>
              <a:t>Output:</a:t>
            </a:r>
            <a:endParaRPr sz="2400">
              <a:latin typeface="Verdana"/>
              <a:cs typeface="Verdana"/>
            </a:endParaRPr>
          </a:p>
        </p:txBody>
      </p:sp>
      <p:sp>
        <p:nvSpPr>
          <p:cNvPr id="7" name="object 7"/>
          <p:cNvSpPr txBox="1"/>
          <p:nvPr/>
        </p:nvSpPr>
        <p:spPr>
          <a:xfrm>
            <a:off x="3965575" y="6063183"/>
            <a:ext cx="404304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Courier New"/>
                <a:cs typeface="Courier New"/>
              </a:rPr>
              <a:t>Age</a:t>
            </a:r>
            <a:r>
              <a:rPr sz="2400" spc="-40" dirty="0">
                <a:solidFill>
                  <a:srgbClr val="FF0000"/>
                </a:solidFill>
                <a:latin typeface="Courier New"/>
                <a:cs typeface="Courier New"/>
              </a:rPr>
              <a:t> </a:t>
            </a:r>
            <a:r>
              <a:rPr sz="2400" dirty="0">
                <a:solidFill>
                  <a:srgbClr val="FF0000"/>
                </a:solidFill>
                <a:latin typeface="Courier New"/>
                <a:cs typeface="Courier New"/>
              </a:rPr>
              <a:t>is</a:t>
            </a:r>
            <a:r>
              <a:rPr sz="2400" spc="-30" dirty="0">
                <a:solidFill>
                  <a:srgbClr val="FF0000"/>
                </a:solidFill>
                <a:latin typeface="Courier New"/>
                <a:cs typeface="Courier New"/>
              </a:rPr>
              <a:t> </a:t>
            </a:r>
            <a:r>
              <a:rPr sz="2400" dirty="0">
                <a:solidFill>
                  <a:srgbClr val="FF0000"/>
                </a:solidFill>
                <a:latin typeface="Courier New"/>
                <a:cs typeface="Courier New"/>
              </a:rPr>
              <a:t>greater</a:t>
            </a:r>
            <a:r>
              <a:rPr sz="2400" spc="-35" dirty="0">
                <a:solidFill>
                  <a:srgbClr val="FF0000"/>
                </a:solidFill>
                <a:latin typeface="Courier New"/>
                <a:cs typeface="Courier New"/>
              </a:rPr>
              <a:t> </a:t>
            </a:r>
            <a:r>
              <a:rPr sz="2400" dirty="0">
                <a:solidFill>
                  <a:srgbClr val="FF0000"/>
                </a:solidFill>
                <a:latin typeface="Courier New"/>
                <a:cs typeface="Courier New"/>
              </a:rPr>
              <a:t>than</a:t>
            </a:r>
            <a:r>
              <a:rPr sz="2400" spc="-25" dirty="0">
                <a:solidFill>
                  <a:srgbClr val="FF0000"/>
                </a:solidFill>
                <a:latin typeface="Courier New"/>
                <a:cs typeface="Courier New"/>
              </a:rPr>
              <a:t> 18</a:t>
            </a:r>
            <a:endParaRPr sz="2400">
              <a:latin typeface="Courier New"/>
              <a:cs typeface="Courier New"/>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080" y="-61556"/>
            <a:ext cx="761492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50"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5" dirty="0">
                <a:solidFill>
                  <a:srgbClr val="696363"/>
                </a:solidFill>
              </a:rPr>
              <a:t> </a:t>
            </a:r>
            <a:r>
              <a:rPr spc="-20" dirty="0"/>
              <a:t>if-else</a:t>
            </a:r>
          </a:p>
        </p:txBody>
      </p:sp>
      <p:sp>
        <p:nvSpPr>
          <p:cNvPr id="3" name="object 3"/>
          <p:cNvSpPr txBox="1"/>
          <p:nvPr/>
        </p:nvSpPr>
        <p:spPr>
          <a:xfrm>
            <a:off x="307340" y="145357"/>
            <a:ext cx="8450580" cy="5983689"/>
          </a:xfrm>
          <a:prstGeom prst="rect">
            <a:avLst/>
          </a:prstGeom>
        </p:spPr>
        <p:txBody>
          <a:bodyPr vert="horz" wrap="square" lIns="0" tIns="193040" rIns="0" bIns="0" rtlCol="0">
            <a:spAutoFit/>
          </a:bodyPr>
          <a:lstStyle/>
          <a:p>
            <a:pPr marL="361315" indent="-272415" algn="ctr">
              <a:lnSpc>
                <a:spcPct val="100000"/>
              </a:lnSpc>
              <a:spcBef>
                <a:spcPts val="1100"/>
              </a:spcBef>
              <a:buClr>
                <a:srgbClr val="D24717"/>
              </a:buClr>
              <a:buSzPct val="83928"/>
              <a:buFont typeface="Segoe UI Symbol"/>
              <a:buChar char="⚫"/>
              <a:tabLst>
                <a:tab pos="361315" algn="l"/>
              </a:tabLst>
            </a:pPr>
            <a:endParaRPr lang="en-US"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1100"/>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Java</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if-</a:t>
            </a:r>
            <a:r>
              <a:rPr sz="2800" dirty="0">
                <a:latin typeface="Times New Roman" panose="02020603050405020304" pitchFamily="18" charset="0"/>
                <a:cs typeface="Times New Roman" panose="02020603050405020304" pitchFamily="18" charset="0"/>
              </a:rPr>
              <a:t>else</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statement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also</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tests</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condition.</a:t>
            </a:r>
            <a:endParaRPr sz="2800" dirty="0">
              <a:latin typeface="Times New Roman" panose="02020603050405020304" pitchFamily="18" charset="0"/>
              <a:cs typeface="Times New Roman" panose="02020603050405020304" pitchFamily="18" charset="0"/>
            </a:endParaRPr>
          </a:p>
          <a:p>
            <a:pPr marL="360680" marR="5080" indent="-272415" algn="just">
              <a:lnSpc>
                <a:spcPct val="100000"/>
              </a:lnSpc>
              <a:spcBef>
                <a:spcPts val="600"/>
              </a:spcBef>
              <a:buClr>
                <a:srgbClr val="D24717"/>
              </a:buClr>
              <a:buSzPct val="83928"/>
              <a:buFont typeface="Segoe UI Symbol"/>
              <a:buChar char="⚫"/>
              <a:tabLst>
                <a:tab pos="362585" algn="l"/>
              </a:tabLst>
            </a:pPr>
            <a:r>
              <a:rPr sz="2800" dirty="0">
                <a:latin typeface="Times New Roman" panose="02020603050405020304" pitchFamily="18" charset="0"/>
                <a:cs typeface="Times New Roman" panose="02020603050405020304" pitchFamily="18" charset="0"/>
              </a:rPr>
              <a:t>It</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executes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 condition</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true</a:t>
            </a:r>
            <a:r>
              <a:rPr sz="2800" spc="1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otherwise 	</a:t>
            </a:r>
            <a:r>
              <a:rPr sz="2800" dirty="0">
                <a:latin typeface="Times New Roman" panose="02020603050405020304" pitchFamily="18" charset="0"/>
                <a:cs typeface="Times New Roman" panose="02020603050405020304" pitchFamily="18" charset="0"/>
              </a:rPr>
              <a:t>else</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executed.</a:t>
            </a:r>
            <a:endParaRPr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605"/>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Syntax</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a:t>
            </a:r>
            <a:endParaRPr sz="2800" dirty="0">
              <a:latin typeface="Times New Roman" panose="02020603050405020304" pitchFamily="18" charset="0"/>
              <a:cs typeface="Times New Roman" panose="02020603050405020304" pitchFamily="18" charset="0"/>
            </a:endParaRPr>
          </a:p>
          <a:p>
            <a:pPr marL="637540" algn="just">
              <a:lnSpc>
                <a:spcPct val="100000"/>
              </a:lnSpc>
              <a:spcBef>
                <a:spcPts val="19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0"/>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20" dirty="0">
                <a:latin typeface="Times New Roman" panose="02020603050405020304" pitchFamily="18" charset="0"/>
                <a:cs typeface="Times New Roman" panose="02020603050405020304" pitchFamily="18" charset="0"/>
              </a:rPr>
              <a:t>true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20" dirty="0">
                <a:latin typeface="Times New Roman" panose="02020603050405020304" pitchFamily="18" charset="0"/>
                <a:cs typeface="Times New Roman" panose="02020603050405020304" pitchFamily="18" charset="0"/>
              </a:rPr>
              <a:t>else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9"/>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false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4245"/>
            <a:ext cx="6351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dirty="0"/>
              <a:t>else</a:t>
            </a:r>
            <a:r>
              <a:rPr sz="4000" spc="-45" dirty="0"/>
              <a:t> </a:t>
            </a:r>
            <a:r>
              <a:rPr sz="4000" spc="-50" dirty="0"/>
              <a:t>-</a:t>
            </a:r>
          </a:p>
        </p:txBody>
      </p:sp>
      <p:sp>
        <p:nvSpPr>
          <p:cNvPr id="3" name="object 3"/>
          <p:cNvSpPr txBox="1"/>
          <p:nvPr/>
        </p:nvSpPr>
        <p:spPr>
          <a:xfrm>
            <a:off x="228600" y="603759"/>
            <a:ext cx="8396605" cy="4955844"/>
          </a:xfrm>
          <a:prstGeom prst="rect">
            <a:avLst/>
          </a:prstGeom>
        </p:spPr>
        <p:txBody>
          <a:bodyPr vert="horz" wrap="square" lIns="0" tIns="122555" rIns="0" bIns="0" rtlCol="0">
            <a:spAutoFit/>
          </a:bodyPr>
          <a:lstStyle/>
          <a:p>
            <a:pPr marL="88900">
              <a:lnSpc>
                <a:spcPct val="100000"/>
              </a:lnSpc>
              <a:spcBef>
                <a:spcPts val="52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IfElseExample</a:t>
            </a:r>
            <a:endParaRPr sz="2200" dirty="0">
              <a:latin typeface="Courier New"/>
              <a:cs typeface="Courier New"/>
            </a:endParaRPr>
          </a:p>
          <a:p>
            <a:pPr marL="88900">
              <a:lnSpc>
                <a:spcPct val="100000"/>
              </a:lnSpc>
              <a:spcBef>
                <a:spcPts val="70"/>
              </a:spcBef>
            </a:pPr>
            <a:r>
              <a:rPr sz="2200" spc="-50" dirty="0">
                <a:latin typeface="Courier New"/>
                <a:cs typeface="Courier New"/>
              </a:rPr>
              <a:t>{</a:t>
            </a:r>
            <a:endParaRPr sz="2200" dirty="0">
              <a:latin typeface="Courier New"/>
              <a:cs typeface="Courier New"/>
            </a:endParaRPr>
          </a:p>
          <a:p>
            <a:pPr marL="1003300">
              <a:lnSpc>
                <a:spcPct val="100000"/>
              </a:lnSpc>
              <a:spcBef>
                <a:spcPts val="7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75"/>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number=13;</a:t>
            </a:r>
            <a:endParaRPr sz="2200" dirty="0">
              <a:latin typeface="Courier New"/>
              <a:cs typeface="Courier New"/>
            </a:endParaRPr>
          </a:p>
          <a:p>
            <a:pPr marL="1917700">
              <a:lnSpc>
                <a:spcPct val="100000"/>
              </a:lnSpc>
              <a:spcBef>
                <a:spcPts val="70"/>
              </a:spcBef>
            </a:pPr>
            <a:r>
              <a:rPr sz="2200" b="1" spc="-10" dirty="0">
                <a:latin typeface="Courier New"/>
                <a:cs typeface="Courier New"/>
              </a:rPr>
              <a:t>if</a:t>
            </a:r>
            <a:r>
              <a:rPr sz="2200" spc="-10" dirty="0">
                <a:latin typeface="Courier New"/>
                <a:cs typeface="Courier New"/>
              </a:rPr>
              <a:t>(number%2==0)</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a:p>
            <a:pPr marL="2832735">
              <a:lnSpc>
                <a:spcPts val="2375"/>
              </a:lnSpc>
              <a:spcBef>
                <a:spcPts val="70"/>
              </a:spcBef>
            </a:pPr>
            <a:r>
              <a:rPr sz="2200" spc="-10" dirty="0">
                <a:latin typeface="Courier New"/>
                <a:cs typeface="Courier New"/>
              </a:rPr>
              <a:t>System.out.println("even</a:t>
            </a:r>
            <a:endParaRPr sz="2200" dirty="0">
              <a:latin typeface="Courier New"/>
              <a:cs typeface="Courier New"/>
            </a:endParaRPr>
          </a:p>
          <a:p>
            <a:pPr marL="88900">
              <a:lnSpc>
                <a:spcPts val="2375"/>
              </a:lnSpc>
            </a:pPr>
            <a:r>
              <a:rPr sz="2200" spc="-10" dirty="0">
                <a:latin typeface="Courier New"/>
                <a:cs typeface="Courier New"/>
              </a:rPr>
              <a:t>number");</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spc="-20" dirty="0">
                <a:latin typeface="Courier New"/>
                <a:cs typeface="Courier New"/>
              </a:rPr>
              <a:t>else</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2832735">
              <a:lnSpc>
                <a:spcPct val="100000"/>
              </a:lnSpc>
              <a:spcBef>
                <a:spcPts val="75"/>
              </a:spcBef>
            </a:pPr>
            <a:r>
              <a:rPr sz="2200" dirty="0">
                <a:latin typeface="Courier New"/>
                <a:cs typeface="Courier New"/>
              </a:rPr>
              <a:t>System.out.println("odd</a:t>
            </a:r>
            <a:r>
              <a:rPr sz="2200" spc="-254" dirty="0">
                <a:latin typeface="Courier New"/>
                <a:cs typeface="Courier New"/>
              </a:rPr>
              <a:t> </a:t>
            </a:r>
            <a:r>
              <a:rPr sz="2200" spc="-10" dirty="0">
                <a:latin typeface="Courier New"/>
                <a:cs typeface="Courier New"/>
              </a:rPr>
              <a:t>number");</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688279"/>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0327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934" y="-32004"/>
            <a:ext cx="7543800" cy="997966"/>
          </a:xfrm>
          <a:prstGeom prst="rect">
            <a:avLst/>
          </a:prstGeom>
        </p:spPr>
        <p:txBody>
          <a:bodyPr vert="horz" wrap="square" lIns="0" tIns="500634" rIns="0" bIns="0" rtlCol="0">
            <a:spAutoFit/>
          </a:bodyPr>
          <a:lstStyle/>
          <a:p>
            <a:pPr marL="12700">
              <a:lnSpc>
                <a:spcPct val="100000"/>
              </a:lnSpc>
              <a:spcBef>
                <a:spcPts val="100"/>
              </a:spcBef>
            </a:pPr>
            <a:r>
              <a:rPr sz="3200" dirty="0">
                <a:solidFill>
                  <a:srgbClr val="696363"/>
                </a:solidFill>
              </a:rPr>
              <a:t>Control</a:t>
            </a:r>
            <a:r>
              <a:rPr sz="3200" spc="-40" dirty="0">
                <a:solidFill>
                  <a:srgbClr val="696363"/>
                </a:solidFill>
              </a:rPr>
              <a:t> </a:t>
            </a:r>
            <a:r>
              <a:rPr sz="3200" dirty="0">
                <a:solidFill>
                  <a:srgbClr val="696363"/>
                </a:solidFill>
              </a:rPr>
              <a:t>Statements</a:t>
            </a:r>
            <a:r>
              <a:rPr sz="3200" spc="-40" dirty="0">
                <a:solidFill>
                  <a:srgbClr val="696363"/>
                </a:solidFill>
              </a:rPr>
              <a:t> </a:t>
            </a:r>
            <a:r>
              <a:rPr sz="3200" dirty="0">
                <a:solidFill>
                  <a:srgbClr val="696363"/>
                </a:solidFill>
              </a:rPr>
              <a:t>–</a:t>
            </a:r>
            <a:r>
              <a:rPr sz="3200" spc="-40" dirty="0">
                <a:solidFill>
                  <a:srgbClr val="696363"/>
                </a:solidFill>
              </a:rPr>
              <a:t> </a:t>
            </a:r>
            <a:r>
              <a:rPr sz="3200" spc="-20" dirty="0"/>
              <a:t>if-</a:t>
            </a:r>
            <a:r>
              <a:rPr sz="3200" spc="-10" dirty="0"/>
              <a:t>else-</a:t>
            </a:r>
            <a:r>
              <a:rPr sz="3200" dirty="0"/>
              <a:t>if</a:t>
            </a:r>
            <a:r>
              <a:rPr sz="3200" spc="-35" dirty="0"/>
              <a:t> </a:t>
            </a:r>
            <a:endParaRPr sz="3200" spc="-10" dirty="0"/>
          </a:p>
        </p:txBody>
      </p:sp>
      <p:sp>
        <p:nvSpPr>
          <p:cNvPr id="3" name="object 3"/>
          <p:cNvSpPr txBox="1"/>
          <p:nvPr/>
        </p:nvSpPr>
        <p:spPr>
          <a:xfrm>
            <a:off x="383540" y="965962"/>
            <a:ext cx="8232775" cy="5577840"/>
          </a:xfrm>
          <a:prstGeom prst="rect">
            <a:avLst/>
          </a:prstGeom>
        </p:spPr>
        <p:txBody>
          <a:bodyPr vert="horz" wrap="square" lIns="0" tIns="27940" rIns="0" bIns="0" rtlCol="0">
            <a:spAutoFit/>
          </a:bodyPr>
          <a:lstStyle/>
          <a:p>
            <a:pPr marL="286385" marR="5080" indent="-274320">
              <a:lnSpc>
                <a:spcPct val="125699"/>
              </a:lnSpc>
              <a:spcBef>
                <a:spcPts val="220"/>
              </a:spcBef>
              <a:buClr>
                <a:srgbClr val="D24717"/>
              </a:buClr>
              <a:buSzPct val="85416"/>
              <a:buFont typeface="Segoe UI Symbol"/>
              <a:buChar char="⚫"/>
              <a:tabLst>
                <a:tab pos="286385" algn="l"/>
              </a:tabLst>
            </a:pPr>
            <a:r>
              <a:rPr sz="2400" dirty="0">
                <a:latin typeface="Arial MT"/>
                <a:cs typeface="Arial MT"/>
              </a:rPr>
              <a:t>The</a:t>
            </a:r>
            <a:r>
              <a:rPr sz="2400" spc="-75" dirty="0">
                <a:latin typeface="Arial MT"/>
                <a:cs typeface="Arial MT"/>
              </a:rPr>
              <a:t> </a:t>
            </a:r>
            <a:r>
              <a:rPr sz="2400" spc="-10" dirty="0">
                <a:latin typeface="Arial MT"/>
                <a:cs typeface="Arial MT"/>
              </a:rPr>
              <a:t>if-</a:t>
            </a:r>
            <a:r>
              <a:rPr sz="2400" spc="-25" dirty="0">
                <a:latin typeface="Arial MT"/>
                <a:cs typeface="Arial MT"/>
              </a:rPr>
              <a:t>else-</a:t>
            </a:r>
            <a:r>
              <a:rPr sz="2400" dirty="0">
                <a:latin typeface="Arial MT"/>
                <a:cs typeface="Arial MT"/>
              </a:rPr>
              <a:t>if</a:t>
            </a:r>
            <a:r>
              <a:rPr sz="2400" spc="-60" dirty="0">
                <a:latin typeface="Arial MT"/>
                <a:cs typeface="Arial MT"/>
              </a:rPr>
              <a:t> </a:t>
            </a:r>
            <a:r>
              <a:rPr sz="2400" spc="-40" dirty="0">
                <a:latin typeface="Arial MT"/>
                <a:cs typeface="Arial MT"/>
              </a:rPr>
              <a:t> </a:t>
            </a:r>
            <a:r>
              <a:rPr sz="2400" dirty="0">
                <a:latin typeface="Arial MT"/>
                <a:cs typeface="Arial MT"/>
              </a:rPr>
              <a:t>statement</a:t>
            </a:r>
            <a:r>
              <a:rPr sz="2400" spc="-80" dirty="0">
                <a:latin typeface="Arial MT"/>
                <a:cs typeface="Arial MT"/>
              </a:rPr>
              <a:t> </a:t>
            </a:r>
            <a:r>
              <a:rPr sz="2400" dirty="0">
                <a:latin typeface="Arial MT"/>
                <a:cs typeface="Arial MT"/>
              </a:rPr>
              <a:t>executes</a:t>
            </a:r>
            <a:r>
              <a:rPr sz="2400" spc="-55" dirty="0">
                <a:latin typeface="Arial MT"/>
                <a:cs typeface="Arial MT"/>
              </a:rPr>
              <a:t> </a:t>
            </a:r>
            <a:r>
              <a:rPr sz="2400" dirty="0">
                <a:latin typeface="Arial MT"/>
                <a:cs typeface="Arial MT"/>
              </a:rPr>
              <a:t>one</a:t>
            </a:r>
            <a:r>
              <a:rPr sz="2400" spc="-55" dirty="0">
                <a:latin typeface="Arial MT"/>
                <a:cs typeface="Arial MT"/>
              </a:rPr>
              <a:t> </a:t>
            </a:r>
            <a:r>
              <a:rPr sz="2400" dirty="0">
                <a:latin typeface="Arial MT"/>
                <a:cs typeface="Arial MT"/>
              </a:rPr>
              <a:t>condition</a:t>
            </a:r>
            <a:r>
              <a:rPr sz="2400" spc="-45" dirty="0">
                <a:latin typeface="Arial MT"/>
                <a:cs typeface="Arial MT"/>
              </a:rPr>
              <a:t> </a:t>
            </a:r>
            <a:r>
              <a:rPr sz="2400" spc="-20" dirty="0">
                <a:latin typeface="Arial MT"/>
                <a:cs typeface="Arial MT"/>
              </a:rPr>
              <a:t>from </a:t>
            </a:r>
            <a:r>
              <a:rPr sz="2400" dirty="0">
                <a:latin typeface="Arial MT"/>
                <a:cs typeface="Arial MT"/>
              </a:rPr>
              <a:t>multiple</a:t>
            </a:r>
            <a:r>
              <a:rPr sz="2400" spc="-25" dirty="0">
                <a:latin typeface="Arial MT"/>
                <a:cs typeface="Arial MT"/>
              </a:rPr>
              <a:t> </a:t>
            </a:r>
            <a:r>
              <a:rPr sz="2400" dirty="0">
                <a:latin typeface="Arial MT"/>
                <a:cs typeface="Arial MT"/>
              </a:rPr>
              <a:t>statements.</a:t>
            </a:r>
            <a:r>
              <a:rPr sz="2400" spc="-10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syntax</a:t>
            </a:r>
            <a:r>
              <a:rPr sz="2400" spc="-60" dirty="0">
                <a:latin typeface="Arial MT"/>
                <a:cs typeface="Arial MT"/>
              </a:rPr>
              <a:t> </a:t>
            </a:r>
            <a:r>
              <a:rPr sz="2400" dirty="0">
                <a:latin typeface="Arial MT"/>
                <a:cs typeface="Arial MT"/>
              </a:rPr>
              <a:t>as</a:t>
            </a:r>
            <a:r>
              <a:rPr sz="2400" spc="-35" dirty="0">
                <a:latin typeface="Arial MT"/>
                <a:cs typeface="Arial MT"/>
              </a:rPr>
              <a:t> </a:t>
            </a:r>
            <a:r>
              <a:rPr sz="2400" spc="-10" dirty="0">
                <a:latin typeface="Arial MT"/>
                <a:cs typeface="Arial MT"/>
              </a:rPr>
              <a:t>follows: </a:t>
            </a:r>
            <a:r>
              <a:rPr sz="2000" b="1" spc="-10" dirty="0">
                <a:latin typeface="Courier New"/>
                <a:cs typeface="Courier New"/>
              </a:rPr>
              <a:t>if</a:t>
            </a:r>
            <a:r>
              <a:rPr sz="2000" spc="-10" dirty="0">
                <a:latin typeface="Courier New"/>
                <a:cs typeface="Courier New"/>
              </a:rPr>
              <a:t>(condition1){</a:t>
            </a:r>
            <a:endParaRPr sz="2000" dirty="0">
              <a:latin typeface="Courier New"/>
              <a:cs typeface="Courier New"/>
            </a:endParaRPr>
          </a:p>
          <a:p>
            <a:pPr marL="927100">
              <a:lnSpc>
                <a:spcPct val="100000"/>
              </a:lnSpc>
              <a:spcBef>
                <a:spcPts val="414"/>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condition1</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395"/>
              </a:spcBef>
            </a:pPr>
            <a:r>
              <a:rPr sz="2000" dirty="0">
                <a:latin typeface="Courier New"/>
                <a:cs typeface="Courier New"/>
              </a:rPr>
              <a:t>}</a:t>
            </a:r>
            <a:r>
              <a:rPr sz="2000" b="1" dirty="0">
                <a:latin typeface="Courier New"/>
                <a:cs typeface="Courier New"/>
              </a:rPr>
              <a:t>else</a:t>
            </a:r>
            <a:r>
              <a:rPr sz="2000" b="1" spc="-25" dirty="0">
                <a:latin typeface="Courier New"/>
                <a:cs typeface="Courier New"/>
              </a:rPr>
              <a:t> </a:t>
            </a:r>
            <a:r>
              <a:rPr sz="2000" b="1" spc="-10" dirty="0">
                <a:latin typeface="Courier New"/>
                <a:cs typeface="Courier New"/>
              </a:rPr>
              <a:t>if</a:t>
            </a:r>
            <a:r>
              <a:rPr sz="2000" spc="-10" dirty="0">
                <a:latin typeface="Courier New"/>
                <a:cs typeface="Courier New"/>
              </a:rPr>
              <a:t>(condition2){</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condition2</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b="1" dirty="0">
                <a:latin typeface="Courier New"/>
                <a:cs typeface="Courier New"/>
              </a:rPr>
              <a:t>else</a:t>
            </a:r>
            <a:r>
              <a:rPr sz="2000" b="1" spc="-20" dirty="0">
                <a:latin typeface="Courier New"/>
                <a:cs typeface="Courier New"/>
              </a:rPr>
              <a:t> </a:t>
            </a:r>
            <a:r>
              <a:rPr sz="2000" b="1" spc="-10" dirty="0">
                <a:latin typeface="Courier New"/>
                <a:cs typeface="Courier New"/>
              </a:rPr>
              <a:t>if</a:t>
            </a:r>
            <a:r>
              <a:rPr sz="2000" spc="-10" dirty="0">
                <a:latin typeface="Courier New"/>
                <a:cs typeface="Courier New"/>
              </a:rPr>
              <a:t>(condition3){</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condition3</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spc="-25" dirty="0">
                <a:latin typeface="Courier New"/>
                <a:cs typeface="Courier New"/>
              </a:rPr>
              <a:t>...</a:t>
            </a:r>
            <a:endParaRPr sz="2000" dirty="0">
              <a:latin typeface="Courier New"/>
              <a:cs typeface="Courier New"/>
            </a:endParaRPr>
          </a:p>
          <a:p>
            <a:pPr marL="286385">
              <a:lnSpc>
                <a:spcPct val="100000"/>
              </a:lnSpc>
              <a:spcBef>
                <a:spcPts val="400"/>
              </a:spcBef>
            </a:pPr>
            <a:r>
              <a:rPr sz="2000" b="1" spc="-10" dirty="0">
                <a:latin typeface="Courier New"/>
                <a:cs typeface="Courier New"/>
              </a:rPr>
              <a:t>else</a:t>
            </a:r>
            <a:r>
              <a:rPr sz="2000" spc="-10" dirty="0">
                <a:latin typeface="Courier New"/>
                <a:cs typeface="Courier New"/>
              </a:rPr>
              <a:t>{</a:t>
            </a:r>
            <a:endParaRPr sz="2000" dirty="0">
              <a:latin typeface="Courier New"/>
              <a:cs typeface="Courier New"/>
            </a:endParaRPr>
          </a:p>
          <a:p>
            <a:pPr marL="286385" marR="134620" indent="640080">
              <a:lnSpc>
                <a:spcPct val="100000"/>
              </a:lnSpc>
              <a:spcBef>
                <a:spcPts val="409"/>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0" dirty="0">
                <a:latin typeface="Courier New"/>
                <a:cs typeface="Courier New"/>
              </a:rPr>
              <a:t> </a:t>
            </a:r>
            <a:r>
              <a:rPr sz="2000" dirty="0">
                <a:latin typeface="Courier New"/>
                <a:cs typeface="Courier New"/>
              </a:rPr>
              <a:t>be</a:t>
            </a:r>
            <a:r>
              <a:rPr sz="2000" spc="-25" dirty="0">
                <a:latin typeface="Courier New"/>
                <a:cs typeface="Courier New"/>
              </a:rPr>
              <a:t> </a:t>
            </a:r>
            <a:r>
              <a:rPr sz="2000" dirty="0">
                <a:latin typeface="Courier New"/>
                <a:cs typeface="Courier New"/>
              </a:rPr>
              <a:t>executed</a:t>
            </a:r>
            <a:r>
              <a:rPr sz="2000" spc="-20" dirty="0">
                <a:latin typeface="Courier New"/>
                <a:cs typeface="Courier New"/>
              </a:rPr>
              <a:t> </a:t>
            </a:r>
            <a:r>
              <a:rPr sz="2000" dirty="0">
                <a:latin typeface="Courier New"/>
                <a:cs typeface="Courier New"/>
              </a:rPr>
              <a:t>if</a:t>
            </a:r>
            <a:r>
              <a:rPr sz="2000" spc="-25" dirty="0">
                <a:latin typeface="Courier New"/>
                <a:cs typeface="Courier New"/>
              </a:rPr>
              <a:t> </a:t>
            </a:r>
            <a:r>
              <a:rPr sz="2000" dirty="0">
                <a:latin typeface="Courier New"/>
                <a:cs typeface="Courier New"/>
              </a:rPr>
              <a:t>all</a:t>
            </a:r>
            <a:r>
              <a:rPr sz="2000" spc="-20" dirty="0">
                <a:latin typeface="Courier New"/>
                <a:cs typeface="Courier New"/>
              </a:rPr>
              <a:t> </a:t>
            </a:r>
            <a:r>
              <a:rPr sz="2000" dirty="0">
                <a:latin typeface="Courier New"/>
                <a:cs typeface="Courier New"/>
              </a:rPr>
              <a:t>the</a:t>
            </a:r>
            <a:r>
              <a:rPr sz="2000" spc="-25" dirty="0">
                <a:latin typeface="Courier New"/>
                <a:cs typeface="Courier New"/>
              </a:rPr>
              <a:t> </a:t>
            </a:r>
            <a:r>
              <a:rPr sz="2000" dirty="0">
                <a:latin typeface="Courier New"/>
                <a:cs typeface="Courier New"/>
              </a:rPr>
              <a:t>conditions</a:t>
            </a:r>
            <a:r>
              <a:rPr sz="2000" spc="-20" dirty="0">
                <a:latin typeface="Courier New"/>
                <a:cs typeface="Courier New"/>
              </a:rPr>
              <a:t> </a:t>
            </a:r>
            <a:r>
              <a:rPr sz="2000" spc="-25" dirty="0">
                <a:latin typeface="Courier New"/>
                <a:cs typeface="Courier New"/>
              </a:rPr>
              <a:t>are </a:t>
            </a:r>
            <a:r>
              <a:rPr sz="2000" spc="-10" dirty="0">
                <a:latin typeface="Courier New"/>
                <a:cs typeface="Courier New"/>
              </a:rPr>
              <a:t>false</a:t>
            </a:r>
            <a:endParaRPr sz="2000" dirty="0">
              <a:latin typeface="Courier New"/>
              <a:cs typeface="Courier New"/>
            </a:endParaRPr>
          </a:p>
          <a:p>
            <a:pPr marL="286385">
              <a:lnSpc>
                <a:spcPct val="100000"/>
              </a:lnSpc>
              <a:spcBef>
                <a:spcPts val="395"/>
              </a:spcBef>
            </a:pPr>
            <a:r>
              <a:rPr sz="2000" spc="-50" dirty="0">
                <a:latin typeface="Courier New"/>
                <a:cs typeface="Courier New"/>
              </a:rPr>
              <a:t>}</a:t>
            </a:r>
            <a:endParaRPr sz="2000" dirty="0">
              <a:latin typeface="Courier New"/>
              <a:cs typeface="Courier New"/>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08543"/>
            <a:ext cx="800100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3" name="object 3"/>
          <p:cNvSpPr txBox="1"/>
          <p:nvPr/>
        </p:nvSpPr>
        <p:spPr>
          <a:xfrm>
            <a:off x="228600" y="663178"/>
            <a:ext cx="8686800" cy="5531643"/>
          </a:xfrm>
          <a:prstGeom prst="rect">
            <a:avLst/>
          </a:prstGeom>
        </p:spPr>
        <p:txBody>
          <a:bodyPr vert="horz" wrap="square" lIns="0" tIns="205105" rIns="0" bIns="0" rtlCol="0">
            <a:spAutoFit/>
          </a:bodyPr>
          <a:lstStyle/>
          <a:p>
            <a:pPr marL="88900">
              <a:lnSpc>
                <a:spcPct val="100000"/>
              </a:lnSpc>
              <a:spcBef>
                <a:spcPts val="92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IfElseIfExample</a:t>
            </a:r>
            <a:endParaRPr sz="2200" dirty="0">
              <a:latin typeface="Courier New"/>
              <a:cs typeface="Courier New"/>
            </a:endParaRPr>
          </a:p>
          <a:p>
            <a:pPr marL="88900">
              <a:lnSpc>
                <a:spcPct val="100000"/>
              </a:lnSpc>
              <a:spcBef>
                <a:spcPts val="600"/>
              </a:spcBef>
            </a:pPr>
            <a:r>
              <a:rPr sz="2200" spc="-50" dirty="0">
                <a:latin typeface="Courier New"/>
                <a:cs typeface="Courier New"/>
              </a:rPr>
              <a:t>{</a:t>
            </a:r>
            <a:endParaRPr sz="2200" dirty="0">
              <a:latin typeface="Courier New"/>
              <a:cs typeface="Courier New"/>
            </a:endParaRPr>
          </a:p>
          <a:p>
            <a:pPr marL="1003300">
              <a:lnSpc>
                <a:spcPct val="100000"/>
              </a:lnSpc>
              <a:spcBef>
                <a:spcPts val="600"/>
              </a:spcBef>
            </a:pPr>
            <a:r>
              <a:rPr sz="2200" b="1" dirty="0">
                <a:latin typeface="Courier New"/>
                <a:cs typeface="Courier New"/>
              </a:rPr>
              <a:t>public</a:t>
            </a:r>
            <a:r>
              <a:rPr sz="2200" b="1" spc="-75" dirty="0">
                <a:latin typeface="Courier New"/>
                <a:cs typeface="Courier New"/>
              </a:rPr>
              <a:t> </a:t>
            </a:r>
            <a:r>
              <a:rPr sz="2200" b="1" dirty="0">
                <a:latin typeface="Courier New"/>
                <a:cs typeface="Courier New"/>
              </a:rPr>
              <a:t>static</a:t>
            </a:r>
            <a:r>
              <a:rPr sz="2200" b="1" spc="-90" dirty="0">
                <a:latin typeface="Courier New"/>
                <a:cs typeface="Courier New"/>
              </a:rPr>
              <a:t> </a:t>
            </a:r>
            <a:r>
              <a:rPr sz="2200" b="1" dirty="0">
                <a:latin typeface="Courier New"/>
                <a:cs typeface="Courier New"/>
              </a:rPr>
              <a:t>void</a:t>
            </a:r>
            <a:r>
              <a:rPr sz="2200" b="1" spc="-60" dirty="0">
                <a:latin typeface="Courier New"/>
                <a:cs typeface="Courier New"/>
              </a:rPr>
              <a:t> </a:t>
            </a:r>
            <a:r>
              <a:rPr sz="2200" dirty="0">
                <a:latin typeface="Courier New"/>
                <a:cs typeface="Courier New"/>
              </a:rPr>
              <a:t>main(String[]</a:t>
            </a:r>
            <a:r>
              <a:rPr sz="2200" spc="-6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marks=65;</a:t>
            </a:r>
            <a:endParaRPr sz="2200" dirty="0">
              <a:latin typeface="Courier New"/>
              <a:cs typeface="Courier New"/>
            </a:endParaRPr>
          </a:p>
          <a:p>
            <a:pPr marL="1917700">
              <a:lnSpc>
                <a:spcPct val="100000"/>
              </a:lnSpc>
              <a:spcBef>
                <a:spcPts val="600"/>
              </a:spcBef>
            </a:pPr>
            <a:r>
              <a:rPr sz="2200" b="1" spc="-10" dirty="0">
                <a:latin typeface="Courier New"/>
                <a:cs typeface="Courier New"/>
              </a:rPr>
              <a:t>if</a:t>
            </a:r>
            <a:r>
              <a:rPr sz="2200" spc="-10" dirty="0">
                <a:latin typeface="Courier New"/>
                <a:cs typeface="Courier New"/>
              </a:rPr>
              <a:t>(marks&lt;50)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5"/>
              </a:spcBef>
            </a:pPr>
            <a:r>
              <a:rPr sz="2200" spc="-10" dirty="0">
                <a:latin typeface="Courier New"/>
                <a:cs typeface="Courier New"/>
              </a:rPr>
              <a:t>System.out.println("fail");</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else</a:t>
            </a:r>
            <a:r>
              <a:rPr sz="2200" b="1" spc="-70" dirty="0">
                <a:latin typeface="Courier New"/>
                <a:cs typeface="Courier New"/>
              </a:rPr>
              <a:t> </a:t>
            </a:r>
            <a:r>
              <a:rPr sz="2200" b="1" dirty="0">
                <a:latin typeface="Courier New"/>
                <a:cs typeface="Courier New"/>
              </a:rPr>
              <a:t>if</a:t>
            </a:r>
            <a:r>
              <a:rPr sz="2200" dirty="0">
                <a:latin typeface="Courier New"/>
                <a:cs typeface="Courier New"/>
              </a:rPr>
              <a:t>(marks&gt;=50</a:t>
            </a:r>
            <a:r>
              <a:rPr sz="2200" spc="-40"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marks&lt;60)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0"/>
              </a:spcBef>
            </a:pPr>
            <a:r>
              <a:rPr sz="2200" dirty="0">
                <a:latin typeface="Courier New"/>
                <a:cs typeface="Courier New"/>
              </a:rPr>
              <a:t>System.out.println("D</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52400"/>
            <a:ext cx="7818374"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spc="-10" dirty="0"/>
              <a:t>else-</a:t>
            </a:r>
            <a:r>
              <a:rPr sz="4000" spc="-25" dirty="0"/>
              <a:t>if</a:t>
            </a:r>
          </a:p>
        </p:txBody>
      </p:sp>
      <p:sp>
        <p:nvSpPr>
          <p:cNvPr id="4" name="object 4"/>
          <p:cNvSpPr txBox="1"/>
          <p:nvPr/>
        </p:nvSpPr>
        <p:spPr>
          <a:xfrm>
            <a:off x="457200" y="915060"/>
            <a:ext cx="8001000" cy="4998804"/>
          </a:xfrm>
          <a:prstGeom prst="rect">
            <a:avLst/>
          </a:prstGeom>
        </p:spPr>
        <p:txBody>
          <a:bodyPr vert="horz" wrap="square" lIns="0" tIns="88900" rIns="0" bIns="0" rtlCol="0">
            <a:spAutoFit/>
          </a:bodyPr>
          <a:lstStyle/>
          <a:p>
            <a:pPr marL="127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(marks&gt;=60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marks&lt;70)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System.out.println("C</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(marks&gt;=70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marks&lt;80)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System.out.println("B</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5"/>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(marks&gt;=80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marks&lt;90)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System.out.println("A</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8124" y="14748"/>
            <a:ext cx="7633335"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4" name="object 4"/>
          <p:cNvSpPr txBox="1"/>
          <p:nvPr/>
        </p:nvSpPr>
        <p:spPr>
          <a:xfrm>
            <a:off x="383540" y="915060"/>
            <a:ext cx="7985125" cy="4140835"/>
          </a:xfrm>
          <a:prstGeom prst="rect">
            <a:avLst/>
          </a:prstGeom>
        </p:spPr>
        <p:txBody>
          <a:bodyPr vert="horz" wrap="square" lIns="0" tIns="88900" rIns="0" bIns="0" rtlCol="0">
            <a:spAutoFit/>
          </a:bodyPr>
          <a:lstStyle/>
          <a:p>
            <a:pPr marL="18415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(marks&gt;=90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marks&lt;100)</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dirty="0">
                <a:latin typeface="Courier New"/>
                <a:cs typeface="Courier New"/>
              </a:rPr>
              <a:t>System.out.println("A+</a:t>
            </a:r>
            <a:r>
              <a:rPr sz="2200" spc="-254" dirty="0">
                <a:latin typeface="Courier New"/>
                <a:cs typeface="Courier New"/>
              </a:rPr>
              <a:t> </a:t>
            </a:r>
            <a:r>
              <a:rPr sz="2200" spc="-10" dirty="0">
                <a:latin typeface="Courier New"/>
                <a:cs typeface="Courier New"/>
              </a:rPr>
              <a:t>grade");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1841500">
              <a:lnSpc>
                <a:spcPct val="100000"/>
              </a:lnSpc>
              <a:spcBef>
                <a:spcPts val="600"/>
              </a:spcBef>
            </a:pPr>
            <a:r>
              <a:rPr sz="2200" b="1" spc="-20" dirty="0">
                <a:latin typeface="Courier New"/>
                <a:cs typeface="Courier New"/>
              </a:rPr>
              <a:t>else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spc="-10" dirty="0">
                <a:latin typeface="Courier New"/>
                <a:cs typeface="Courier New"/>
              </a:rPr>
              <a:t>System.out.println("Invalid!");</a:t>
            </a:r>
            <a:endParaRPr sz="2200" dirty="0">
              <a:latin typeface="Courier New"/>
              <a:cs typeface="Courier New"/>
            </a:endParaRPr>
          </a:p>
          <a:p>
            <a:pPr marL="1841500">
              <a:lnSpc>
                <a:spcPct val="100000"/>
              </a:lnSpc>
              <a:spcBef>
                <a:spcPts val="605"/>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4112"/>
            <a:ext cx="716280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5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60" dirty="0">
                <a:solidFill>
                  <a:srgbClr val="696363"/>
                </a:solidFill>
              </a:rPr>
              <a:t> </a:t>
            </a:r>
            <a:r>
              <a:rPr sz="4000" b="1" spc="-10" dirty="0">
                <a:solidFill>
                  <a:srgbClr val="FF0000"/>
                </a:solidFill>
              </a:rPr>
              <a:t>switch</a:t>
            </a:r>
          </a:p>
        </p:txBody>
      </p:sp>
      <p:sp>
        <p:nvSpPr>
          <p:cNvPr id="3" name="object 3"/>
          <p:cNvSpPr txBox="1"/>
          <p:nvPr/>
        </p:nvSpPr>
        <p:spPr>
          <a:xfrm>
            <a:off x="346075" y="549684"/>
            <a:ext cx="8451850" cy="5736186"/>
          </a:xfrm>
          <a:prstGeom prst="rect">
            <a:avLst/>
          </a:prstGeom>
        </p:spPr>
        <p:txBody>
          <a:bodyPr vert="horz" wrap="square" lIns="0" tIns="137795" rIns="0" bIns="0" rtlCol="0">
            <a:spAutoFit/>
          </a:bodyPr>
          <a:lstStyle/>
          <a:p>
            <a:pPr marL="360680" marR="5080" indent="-272415" algn="just">
              <a:lnSpc>
                <a:spcPts val="3020"/>
              </a:lnSpc>
              <a:spcBef>
                <a:spcPts val="1150"/>
              </a:spcBef>
              <a:buClr>
                <a:srgbClr val="D24717"/>
              </a:buClr>
              <a:buSzPct val="83928"/>
              <a:buFont typeface="Segoe UI Symbol"/>
              <a:buChar char="⚫"/>
              <a:tabLst>
                <a:tab pos="362585" algn="l"/>
              </a:tabLst>
            </a:pPr>
            <a:r>
              <a:rPr sz="2800" dirty="0">
                <a:latin typeface="Arial MT"/>
                <a:cs typeface="Arial MT"/>
              </a:rPr>
              <a:t>The</a:t>
            </a:r>
            <a:r>
              <a:rPr sz="2800" spc="315" dirty="0">
                <a:latin typeface="Arial MT"/>
                <a:cs typeface="Arial MT"/>
              </a:rPr>
              <a:t>   </a:t>
            </a:r>
            <a:r>
              <a:rPr sz="2800" dirty="0">
                <a:latin typeface="Arial MT"/>
                <a:cs typeface="Arial MT"/>
              </a:rPr>
              <a:t>Java</a:t>
            </a:r>
            <a:r>
              <a:rPr sz="2800" spc="320" dirty="0">
                <a:latin typeface="Arial MT"/>
                <a:cs typeface="Arial MT"/>
              </a:rPr>
              <a:t>   </a:t>
            </a:r>
            <a:r>
              <a:rPr sz="2800" i="1" dirty="0">
                <a:latin typeface="Arial"/>
                <a:cs typeface="Arial"/>
              </a:rPr>
              <a:t>switch</a:t>
            </a:r>
            <a:r>
              <a:rPr sz="2800" i="1" spc="320" dirty="0">
                <a:latin typeface="Arial"/>
                <a:cs typeface="Arial"/>
              </a:rPr>
              <a:t>   </a:t>
            </a:r>
            <a:r>
              <a:rPr sz="2800" i="1" dirty="0">
                <a:latin typeface="Arial"/>
                <a:cs typeface="Arial"/>
              </a:rPr>
              <a:t>statement</a:t>
            </a:r>
            <a:r>
              <a:rPr sz="2800" i="1" spc="315" dirty="0">
                <a:latin typeface="Arial"/>
                <a:cs typeface="Arial"/>
              </a:rPr>
              <a:t>   </a:t>
            </a:r>
            <a:r>
              <a:rPr sz="2800" dirty="0">
                <a:latin typeface="Arial MT"/>
                <a:cs typeface="Arial MT"/>
              </a:rPr>
              <a:t>executes</a:t>
            </a:r>
            <a:r>
              <a:rPr sz="2800" spc="320" dirty="0">
                <a:latin typeface="Arial MT"/>
                <a:cs typeface="Arial MT"/>
              </a:rPr>
              <a:t>   </a:t>
            </a:r>
            <a:r>
              <a:rPr sz="2800" spc="-25" dirty="0">
                <a:solidFill>
                  <a:srgbClr val="FF0000"/>
                </a:solidFill>
                <a:latin typeface="Arial MT"/>
                <a:cs typeface="Arial MT"/>
              </a:rPr>
              <a:t>one 	</a:t>
            </a:r>
            <a:r>
              <a:rPr sz="2800" dirty="0">
                <a:solidFill>
                  <a:srgbClr val="FF0000"/>
                </a:solidFill>
                <a:latin typeface="Arial MT"/>
                <a:cs typeface="Arial MT"/>
              </a:rPr>
              <a:t>statement</a:t>
            </a:r>
            <a:r>
              <a:rPr sz="2800" spc="80" dirty="0">
                <a:solidFill>
                  <a:srgbClr val="FF0000"/>
                </a:solidFill>
                <a:latin typeface="Arial MT"/>
                <a:cs typeface="Arial MT"/>
              </a:rPr>
              <a:t> </a:t>
            </a:r>
            <a:r>
              <a:rPr sz="2800" dirty="0">
                <a:solidFill>
                  <a:srgbClr val="FF0000"/>
                </a:solidFill>
                <a:latin typeface="Arial MT"/>
                <a:cs typeface="Arial MT"/>
              </a:rPr>
              <a:t>from</a:t>
            </a:r>
            <a:r>
              <a:rPr sz="2800" spc="75" dirty="0">
                <a:solidFill>
                  <a:srgbClr val="FF0000"/>
                </a:solidFill>
                <a:latin typeface="Arial MT"/>
                <a:cs typeface="Arial MT"/>
              </a:rPr>
              <a:t> </a:t>
            </a:r>
            <a:r>
              <a:rPr sz="2800" dirty="0">
                <a:solidFill>
                  <a:srgbClr val="FF0000"/>
                </a:solidFill>
                <a:latin typeface="Arial MT"/>
                <a:cs typeface="Arial MT"/>
              </a:rPr>
              <a:t>multiple</a:t>
            </a:r>
            <a:r>
              <a:rPr sz="2800" spc="85" dirty="0">
                <a:solidFill>
                  <a:srgbClr val="FF0000"/>
                </a:solidFill>
                <a:latin typeface="Arial MT"/>
                <a:cs typeface="Arial MT"/>
              </a:rPr>
              <a:t> </a:t>
            </a:r>
            <a:r>
              <a:rPr sz="2800" dirty="0">
                <a:solidFill>
                  <a:srgbClr val="FF0000"/>
                </a:solidFill>
                <a:latin typeface="Arial MT"/>
                <a:cs typeface="Arial MT"/>
              </a:rPr>
              <a:t>conditions</a:t>
            </a:r>
            <a:r>
              <a:rPr sz="2800" dirty="0">
                <a:latin typeface="Arial MT"/>
                <a:cs typeface="Arial MT"/>
              </a:rPr>
              <a:t>.</a:t>
            </a:r>
            <a:r>
              <a:rPr sz="2800" spc="75" dirty="0">
                <a:latin typeface="Arial MT"/>
                <a:cs typeface="Arial MT"/>
              </a:rPr>
              <a:t> </a:t>
            </a:r>
            <a:r>
              <a:rPr sz="2800" dirty="0">
                <a:latin typeface="Arial MT"/>
                <a:cs typeface="Arial MT"/>
              </a:rPr>
              <a:t>It</a:t>
            </a:r>
            <a:r>
              <a:rPr sz="2800" spc="50" dirty="0">
                <a:latin typeface="Arial MT"/>
                <a:cs typeface="Arial MT"/>
              </a:rPr>
              <a:t> </a:t>
            </a:r>
            <a:r>
              <a:rPr sz="2800" dirty="0">
                <a:latin typeface="Arial MT"/>
                <a:cs typeface="Arial MT"/>
              </a:rPr>
              <a:t>is</a:t>
            </a:r>
            <a:r>
              <a:rPr sz="2800" spc="75" dirty="0">
                <a:latin typeface="Arial MT"/>
                <a:cs typeface="Arial MT"/>
              </a:rPr>
              <a:t> </a:t>
            </a:r>
            <a:r>
              <a:rPr sz="2800" dirty="0">
                <a:latin typeface="Arial MT"/>
                <a:cs typeface="Arial MT"/>
              </a:rPr>
              <a:t>like</a:t>
            </a:r>
            <a:r>
              <a:rPr sz="2800" spc="75" dirty="0">
                <a:latin typeface="Arial MT"/>
                <a:cs typeface="Arial MT"/>
              </a:rPr>
              <a:t> </a:t>
            </a:r>
            <a:r>
              <a:rPr sz="2800" spc="-10" dirty="0">
                <a:latin typeface="Arial MT"/>
                <a:cs typeface="Arial MT"/>
              </a:rPr>
              <a:t>if-else- 	</a:t>
            </a:r>
            <a:r>
              <a:rPr sz="2800" dirty="0">
                <a:latin typeface="Arial MT"/>
                <a:cs typeface="Arial MT"/>
              </a:rPr>
              <a:t>if</a:t>
            </a:r>
            <a:r>
              <a:rPr sz="2800" spc="-75" dirty="0">
                <a:latin typeface="Arial MT"/>
                <a:cs typeface="Arial MT"/>
              </a:rPr>
              <a:t> </a:t>
            </a:r>
            <a:r>
              <a:rPr sz="2800" dirty="0">
                <a:latin typeface="Arial MT"/>
                <a:cs typeface="Arial MT"/>
              </a:rPr>
              <a:t>ladder</a:t>
            </a:r>
            <a:r>
              <a:rPr sz="2800" spc="-45" dirty="0">
                <a:latin typeface="Arial MT"/>
                <a:cs typeface="Arial MT"/>
              </a:rPr>
              <a:t> </a:t>
            </a:r>
            <a:r>
              <a:rPr sz="2800" dirty="0">
                <a:latin typeface="Arial MT"/>
                <a:cs typeface="Arial MT"/>
              </a:rPr>
              <a:t>statement.</a:t>
            </a:r>
            <a:r>
              <a:rPr sz="2800" spc="-120" dirty="0">
                <a:latin typeface="Arial MT"/>
                <a:cs typeface="Arial MT"/>
              </a:rPr>
              <a:t> </a:t>
            </a:r>
            <a:r>
              <a:rPr sz="2800" dirty="0">
                <a:latin typeface="Arial MT"/>
                <a:cs typeface="Arial MT"/>
              </a:rPr>
              <a:t>The</a:t>
            </a:r>
            <a:r>
              <a:rPr sz="2800" spc="-50" dirty="0">
                <a:latin typeface="Arial MT"/>
                <a:cs typeface="Arial MT"/>
              </a:rPr>
              <a:t> </a:t>
            </a:r>
            <a:r>
              <a:rPr sz="2800" dirty="0">
                <a:latin typeface="Arial MT"/>
                <a:cs typeface="Arial MT"/>
              </a:rPr>
              <a:t>syntax</a:t>
            </a:r>
            <a:r>
              <a:rPr sz="2800" spc="-75" dirty="0">
                <a:latin typeface="Arial MT"/>
                <a:cs typeface="Arial MT"/>
              </a:rPr>
              <a:t> </a:t>
            </a:r>
            <a:r>
              <a:rPr sz="2800" dirty="0">
                <a:latin typeface="Arial MT"/>
                <a:cs typeface="Arial MT"/>
              </a:rPr>
              <a:t>as</a:t>
            </a:r>
            <a:r>
              <a:rPr sz="2800" spc="-60" dirty="0">
                <a:latin typeface="Arial MT"/>
                <a:cs typeface="Arial MT"/>
              </a:rPr>
              <a:t> </a:t>
            </a:r>
            <a:r>
              <a:rPr sz="2800" spc="-10" dirty="0">
                <a:latin typeface="Arial MT"/>
                <a:cs typeface="Arial MT"/>
              </a:rPr>
              <a:t>follows:</a:t>
            </a:r>
            <a:endParaRPr sz="2800" dirty="0">
              <a:latin typeface="Arial MT"/>
              <a:cs typeface="Arial MT"/>
            </a:endParaRPr>
          </a:p>
          <a:p>
            <a:pPr marL="637540">
              <a:lnSpc>
                <a:spcPts val="2520"/>
              </a:lnSpc>
            </a:pPr>
            <a:r>
              <a:rPr sz="2400" b="1" i="1" spc="-10" dirty="0">
                <a:latin typeface="Courier New"/>
                <a:cs typeface="Courier New"/>
              </a:rPr>
              <a:t>switch</a:t>
            </a:r>
            <a:r>
              <a:rPr sz="2400" i="1" spc="-10" dirty="0">
                <a:latin typeface="Courier New"/>
                <a:cs typeface="Courier New"/>
              </a:rPr>
              <a:t>(expression)</a:t>
            </a:r>
            <a:endParaRPr sz="2400" dirty="0">
              <a:latin typeface="Courier New"/>
              <a:cs typeface="Courier New"/>
            </a:endParaRPr>
          </a:p>
          <a:p>
            <a:pPr marL="637540">
              <a:lnSpc>
                <a:spcPts val="2700"/>
              </a:lnSpc>
            </a:pPr>
            <a:r>
              <a:rPr sz="2400" i="1" spc="-50" dirty="0">
                <a:latin typeface="Courier New"/>
                <a:cs typeface="Courier New"/>
              </a:rPr>
              <a:t>{</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value1:</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value2:</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2832735">
              <a:lnSpc>
                <a:spcPts val="2710"/>
              </a:lnSpc>
            </a:pPr>
            <a:r>
              <a:rPr sz="2400" i="1" spc="-10" dirty="0">
                <a:latin typeface="Courier New"/>
                <a:cs typeface="Courier New"/>
              </a:rPr>
              <a:t>......</a:t>
            </a:r>
            <a:endParaRPr sz="2400" dirty="0">
              <a:latin typeface="Courier New"/>
              <a:cs typeface="Courier New"/>
            </a:endParaRPr>
          </a:p>
          <a:p>
            <a:pPr marL="1003300">
              <a:lnSpc>
                <a:spcPts val="2705"/>
              </a:lnSpc>
            </a:pPr>
            <a:r>
              <a:rPr sz="2400" b="1" i="1" spc="-10" dirty="0">
                <a:latin typeface="Courier New"/>
                <a:cs typeface="Courier New"/>
              </a:rPr>
              <a:t>default</a:t>
            </a:r>
            <a:r>
              <a:rPr sz="2400" i="1" spc="-10" dirty="0">
                <a:latin typeface="Courier New"/>
                <a:cs typeface="Courier New"/>
              </a:rPr>
              <a:t>:</a:t>
            </a:r>
            <a:endParaRPr sz="2400" dirty="0">
              <a:latin typeface="Courier New"/>
              <a:cs typeface="Courier New"/>
            </a:endParaRPr>
          </a:p>
          <a:p>
            <a:pPr marL="637540" marR="864235" indent="2195195">
              <a:lnSpc>
                <a:spcPts val="2300"/>
              </a:lnSpc>
              <a:spcBef>
                <a:spcPts val="470"/>
              </a:spcBef>
            </a:pPr>
            <a:r>
              <a:rPr sz="2400" i="1" dirty="0">
                <a:latin typeface="Courier New"/>
                <a:cs typeface="Courier New"/>
              </a:rPr>
              <a:t>code</a:t>
            </a:r>
            <a:r>
              <a:rPr sz="2400" i="1" spc="-35" dirty="0">
                <a:latin typeface="Courier New"/>
                <a:cs typeface="Courier New"/>
              </a:rPr>
              <a:t> </a:t>
            </a:r>
            <a:r>
              <a:rPr sz="2400" i="1" dirty="0">
                <a:latin typeface="Courier New"/>
                <a:cs typeface="Courier New"/>
              </a:rPr>
              <a:t>to</a:t>
            </a:r>
            <a:r>
              <a:rPr sz="2400" i="1" spc="-40" dirty="0">
                <a:latin typeface="Courier New"/>
                <a:cs typeface="Courier New"/>
              </a:rPr>
              <a:t> </a:t>
            </a:r>
            <a:r>
              <a:rPr sz="2400" i="1" dirty="0">
                <a:latin typeface="Courier New"/>
                <a:cs typeface="Courier New"/>
              </a:rPr>
              <a:t>be</a:t>
            </a:r>
            <a:r>
              <a:rPr sz="2400" i="1" spc="-25" dirty="0">
                <a:latin typeface="Courier New"/>
                <a:cs typeface="Courier New"/>
              </a:rPr>
              <a:t> </a:t>
            </a:r>
            <a:r>
              <a:rPr sz="2400" i="1" dirty="0">
                <a:latin typeface="Courier New"/>
                <a:cs typeface="Courier New"/>
              </a:rPr>
              <a:t>executed</a:t>
            </a:r>
            <a:r>
              <a:rPr sz="2400" i="1" spc="-15" dirty="0">
                <a:latin typeface="Courier New"/>
                <a:cs typeface="Courier New"/>
              </a:rPr>
              <a:t> </a:t>
            </a:r>
            <a:r>
              <a:rPr sz="2400" b="1" i="1" dirty="0">
                <a:latin typeface="Courier New"/>
                <a:cs typeface="Courier New"/>
              </a:rPr>
              <a:t>if</a:t>
            </a:r>
            <a:r>
              <a:rPr sz="2400" b="1" i="1" spc="-25" dirty="0">
                <a:latin typeface="Courier New"/>
                <a:cs typeface="Courier New"/>
              </a:rPr>
              <a:t> </a:t>
            </a:r>
            <a:r>
              <a:rPr sz="2400" i="1" spc="-25" dirty="0">
                <a:latin typeface="Courier New"/>
                <a:cs typeface="Courier New"/>
              </a:rPr>
              <a:t>all </a:t>
            </a:r>
            <a:r>
              <a:rPr sz="2400" i="1" dirty="0">
                <a:latin typeface="Courier New"/>
                <a:cs typeface="Courier New"/>
              </a:rPr>
              <a:t>cases</a:t>
            </a:r>
            <a:r>
              <a:rPr sz="2400" i="1" spc="-25" dirty="0">
                <a:latin typeface="Courier New"/>
                <a:cs typeface="Courier New"/>
              </a:rPr>
              <a:t> </a:t>
            </a:r>
            <a:r>
              <a:rPr sz="2400" i="1" dirty="0">
                <a:latin typeface="Courier New"/>
                <a:cs typeface="Courier New"/>
              </a:rPr>
              <a:t>are</a:t>
            </a:r>
            <a:r>
              <a:rPr sz="2400" i="1" spc="-15" dirty="0">
                <a:latin typeface="Courier New"/>
                <a:cs typeface="Courier New"/>
              </a:rPr>
              <a:t> </a:t>
            </a:r>
            <a:r>
              <a:rPr sz="2400" i="1" dirty="0">
                <a:latin typeface="Courier New"/>
                <a:cs typeface="Courier New"/>
              </a:rPr>
              <a:t>not</a:t>
            </a:r>
            <a:r>
              <a:rPr sz="2400" i="1" spc="-15" dirty="0">
                <a:latin typeface="Courier New"/>
                <a:cs typeface="Courier New"/>
              </a:rPr>
              <a:t> </a:t>
            </a:r>
            <a:r>
              <a:rPr sz="2400" i="1" spc="-10" dirty="0">
                <a:latin typeface="Courier New"/>
                <a:cs typeface="Courier New"/>
              </a:rPr>
              <a:t>matched;</a:t>
            </a:r>
            <a:endParaRPr sz="2400" dirty="0">
              <a:latin typeface="Courier New"/>
              <a:cs typeface="Courier New"/>
            </a:endParaRPr>
          </a:p>
          <a:p>
            <a:pPr marL="637540">
              <a:lnSpc>
                <a:spcPts val="2725"/>
              </a:lnSpc>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7340" y="175980"/>
            <a:ext cx="7675880" cy="5408147"/>
          </a:xfrm>
          <a:prstGeom prst="rect">
            <a:avLst/>
          </a:prstGeom>
        </p:spPr>
        <p:txBody>
          <a:bodyPr vert="horz" wrap="square" lIns="0" tIns="162560" rIns="0" bIns="0" rtlCol="0">
            <a:spAutoFit/>
          </a:bodyPr>
          <a:lstStyle/>
          <a:p>
            <a:pPr marL="88900">
              <a:lnSpc>
                <a:spcPct val="100000"/>
              </a:lnSpc>
              <a:spcBef>
                <a:spcPts val="715"/>
              </a:spcBef>
            </a:pPr>
            <a:endParaRPr lang="en-US" sz="2200" b="1" dirty="0">
              <a:latin typeface="Courier New"/>
              <a:cs typeface="Courier New"/>
            </a:endParaRPr>
          </a:p>
          <a:p>
            <a:pPr marL="88900">
              <a:lnSpc>
                <a:spcPct val="100000"/>
              </a:lnSpc>
              <a:spcBef>
                <a:spcPts val="71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SwitchExample</a:t>
            </a:r>
            <a:endParaRPr sz="2200" dirty="0">
              <a:latin typeface="Courier New"/>
              <a:cs typeface="Courier New"/>
            </a:endParaRPr>
          </a:p>
          <a:p>
            <a:pPr marL="88900">
              <a:lnSpc>
                <a:spcPct val="100000"/>
              </a:lnSpc>
              <a:spcBef>
                <a:spcPts val="335"/>
              </a:spcBef>
            </a:pPr>
            <a:r>
              <a:rPr sz="2200" spc="-50" dirty="0">
                <a:latin typeface="Courier New"/>
                <a:cs typeface="Courier New"/>
              </a:rPr>
              <a:t>{</a:t>
            </a:r>
            <a:endParaRPr sz="2200" dirty="0">
              <a:latin typeface="Courier New"/>
              <a:cs typeface="Courier New"/>
            </a:endParaRPr>
          </a:p>
          <a:p>
            <a:pPr marL="1003300">
              <a:lnSpc>
                <a:spcPct val="100000"/>
              </a:lnSpc>
              <a:spcBef>
                <a:spcPts val="33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340"/>
              </a:spcBef>
            </a:pPr>
            <a:r>
              <a:rPr sz="2200" spc="-50" dirty="0">
                <a:latin typeface="Courier New"/>
                <a:cs typeface="Courier New"/>
              </a:rPr>
              <a:t>{</a:t>
            </a:r>
            <a:endParaRPr sz="2200" dirty="0">
              <a:latin typeface="Courier New"/>
              <a:cs typeface="Courier New"/>
            </a:endParaRPr>
          </a:p>
          <a:p>
            <a:pPr marL="1917700">
              <a:lnSpc>
                <a:spcPct val="100000"/>
              </a:lnSpc>
              <a:spcBef>
                <a:spcPts val="33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number=20;</a:t>
            </a:r>
            <a:endParaRPr sz="2200" dirty="0">
              <a:latin typeface="Courier New"/>
              <a:cs typeface="Courier New"/>
            </a:endParaRPr>
          </a:p>
          <a:p>
            <a:pPr marL="1917700">
              <a:lnSpc>
                <a:spcPct val="100000"/>
              </a:lnSpc>
              <a:spcBef>
                <a:spcPts val="340"/>
              </a:spcBef>
            </a:pPr>
            <a:r>
              <a:rPr sz="2200" b="1" spc="-10" dirty="0">
                <a:latin typeface="Courier New"/>
                <a:cs typeface="Courier New"/>
              </a:rPr>
              <a:t>switch</a:t>
            </a:r>
            <a:r>
              <a:rPr sz="2200" spc="-10" dirty="0">
                <a:latin typeface="Courier New"/>
                <a:cs typeface="Courier New"/>
              </a:rPr>
              <a:t>(number)</a:t>
            </a:r>
            <a:endParaRPr sz="2200" dirty="0">
              <a:latin typeface="Courier New"/>
              <a:cs typeface="Courier New"/>
            </a:endParaRPr>
          </a:p>
          <a:p>
            <a:pPr marL="1917700">
              <a:lnSpc>
                <a:spcPct val="100000"/>
              </a:lnSpc>
              <a:spcBef>
                <a:spcPts val="335"/>
              </a:spcBef>
            </a:pPr>
            <a:r>
              <a:rPr sz="2200" spc="-50" dirty="0">
                <a:latin typeface="Courier New"/>
                <a:cs typeface="Courier New"/>
              </a:rPr>
              <a:t>{</a:t>
            </a:r>
            <a:endParaRPr sz="2200" dirty="0">
              <a:latin typeface="Courier New"/>
              <a:cs typeface="Courier New"/>
            </a:endParaRPr>
          </a:p>
          <a:p>
            <a:pPr marL="88900" marR="5080">
              <a:lnSpc>
                <a:spcPct val="112700"/>
              </a:lnSpc>
            </a:pPr>
            <a:r>
              <a:rPr sz="2200" b="1" dirty="0">
                <a:latin typeface="Courier New"/>
                <a:cs typeface="Courier New"/>
              </a:rPr>
              <a:t>case</a:t>
            </a:r>
            <a:r>
              <a:rPr sz="2200" b="1" spc="-110" dirty="0">
                <a:latin typeface="Courier New"/>
                <a:cs typeface="Courier New"/>
              </a:rPr>
              <a:t> </a:t>
            </a:r>
            <a:r>
              <a:rPr sz="2200" dirty="0">
                <a:latin typeface="Courier New"/>
                <a:cs typeface="Courier New"/>
              </a:rPr>
              <a:t>10:</a:t>
            </a:r>
            <a:r>
              <a:rPr sz="2200" spc="-95" dirty="0">
                <a:latin typeface="Courier New"/>
                <a:cs typeface="Courier New"/>
              </a:rPr>
              <a:t> </a:t>
            </a:r>
            <a:r>
              <a:rPr sz="2200" dirty="0">
                <a:latin typeface="Courier New"/>
                <a:cs typeface="Courier New"/>
              </a:rPr>
              <a:t>System.out.println(“Ten");</a:t>
            </a:r>
            <a:r>
              <a:rPr sz="2200" spc="-8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20:</a:t>
            </a:r>
            <a:r>
              <a:rPr sz="2200" spc="-95" dirty="0">
                <a:latin typeface="Courier New"/>
                <a:cs typeface="Courier New"/>
              </a:rPr>
              <a:t> </a:t>
            </a:r>
            <a:r>
              <a:rPr sz="2200" dirty="0">
                <a:latin typeface="Courier New"/>
                <a:cs typeface="Courier New"/>
              </a:rPr>
              <a:t>System.out.println(“Twenty");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30:</a:t>
            </a:r>
            <a:r>
              <a:rPr sz="2200" spc="-95" dirty="0">
                <a:latin typeface="Courier New"/>
                <a:cs typeface="Courier New"/>
              </a:rPr>
              <a:t> </a:t>
            </a:r>
            <a:r>
              <a:rPr sz="2200" dirty="0">
                <a:latin typeface="Courier New"/>
                <a:cs typeface="Courier New"/>
              </a:rPr>
              <a:t>System.out.println(“Thirty");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default</a:t>
            </a:r>
            <a:r>
              <a:rPr sz="2200" dirty="0">
                <a:latin typeface="Courier New"/>
                <a:cs typeface="Courier New"/>
              </a:rPr>
              <a:t>:</a:t>
            </a:r>
            <a:r>
              <a:rPr sz="2200" spc="-65" dirty="0">
                <a:latin typeface="Courier New"/>
                <a:cs typeface="Courier New"/>
              </a:rPr>
              <a:t> </a:t>
            </a:r>
            <a:r>
              <a:rPr sz="2200" dirty="0">
                <a:latin typeface="Courier New"/>
                <a:cs typeface="Courier New"/>
              </a:rPr>
              <a:t>System.out.println("Not</a:t>
            </a:r>
            <a:r>
              <a:rPr sz="2200" spc="-75" dirty="0">
                <a:latin typeface="Courier New"/>
                <a:cs typeface="Courier New"/>
              </a:rPr>
              <a:t> </a:t>
            </a:r>
            <a:r>
              <a:rPr sz="2200" dirty="0">
                <a:latin typeface="Courier New"/>
                <a:cs typeface="Courier New"/>
              </a:rPr>
              <a:t>in</a:t>
            </a:r>
            <a:r>
              <a:rPr sz="2200" spc="-65" dirty="0">
                <a:latin typeface="Courier New"/>
                <a:cs typeface="Courier New"/>
              </a:rPr>
              <a:t> </a:t>
            </a:r>
            <a:r>
              <a:rPr sz="2200" dirty="0">
                <a:latin typeface="Courier New"/>
                <a:cs typeface="Courier New"/>
              </a:rPr>
              <a:t>10,</a:t>
            </a:r>
            <a:r>
              <a:rPr sz="2200" spc="-75" dirty="0">
                <a:latin typeface="Courier New"/>
                <a:cs typeface="Courier New"/>
              </a:rPr>
              <a:t> </a:t>
            </a:r>
            <a:r>
              <a:rPr sz="2200" dirty="0">
                <a:latin typeface="Courier New"/>
                <a:cs typeface="Courier New"/>
              </a:rPr>
              <a:t>20</a:t>
            </a:r>
            <a:r>
              <a:rPr sz="2200" spc="-75" dirty="0">
                <a:latin typeface="Courier New"/>
                <a:cs typeface="Courier New"/>
              </a:rPr>
              <a:t> </a:t>
            </a:r>
            <a:r>
              <a:rPr sz="2200" spc="-25" dirty="0">
                <a:latin typeface="Courier New"/>
                <a:cs typeface="Courier New"/>
              </a:rPr>
              <a:t>or</a:t>
            </a:r>
            <a:endParaRPr sz="2200" dirty="0">
              <a:latin typeface="Courier New"/>
              <a:cs typeface="Courier New"/>
            </a:endParaRPr>
          </a:p>
          <a:p>
            <a:pPr marL="88900">
              <a:lnSpc>
                <a:spcPts val="2375"/>
              </a:lnSpc>
            </a:pPr>
            <a:r>
              <a:rPr sz="2200" spc="-10" dirty="0">
                <a:latin typeface="Courier New"/>
                <a:cs typeface="Courier New"/>
              </a:rPr>
              <a:t>30");</a:t>
            </a:r>
            <a:endParaRPr sz="2200" dirty="0">
              <a:latin typeface="Courier New"/>
              <a:cs typeface="Courier New"/>
            </a:endParaRPr>
          </a:p>
          <a:p>
            <a:pPr marL="1917700">
              <a:lnSpc>
                <a:spcPct val="100000"/>
              </a:lnSpc>
              <a:spcBef>
                <a:spcPts val="340"/>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8041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182055"/>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1"/>
            <a:ext cx="8229600" cy="1121076"/>
          </a:xfrm>
          <a:prstGeom prst="rect">
            <a:avLst/>
          </a:prstGeom>
        </p:spPr>
        <p:txBody>
          <a:bodyPr vert="horz" wrap="square" lIns="0" tIns="500634" rIns="0" bIns="0" rtlCol="0">
            <a:spAutoFit/>
          </a:bodyPr>
          <a:lstStyle/>
          <a:p>
            <a:pPr marL="12700">
              <a:lnSpc>
                <a:spcPct val="100000"/>
              </a:lnSpc>
              <a:spcBef>
                <a:spcPts val="100"/>
              </a:spcBef>
            </a:pPr>
            <a:r>
              <a:rPr lang="en-US" sz="4000" dirty="0">
                <a:solidFill>
                  <a:srgbClr val="696363"/>
                </a:solidFill>
              </a:rPr>
              <a:t>Iterative/</a:t>
            </a:r>
            <a:r>
              <a:rPr sz="4000" dirty="0">
                <a:solidFill>
                  <a:srgbClr val="696363"/>
                </a:solidFill>
              </a:rPr>
              <a:t>Looping</a:t>
            </a:r>
            <a:r>
              <a:rPr sz="4000" spc="-50" dirty="0">
                <a:solidFill>
                  <a:srgbClr val="696363"/>
                </a:solidFill>
              </a:rPr>
              <a:t> </a:t>
            </a:r>
            <a:r>
              <a:rPr sz="4000" dirty="0">
                <a:solidFill>
                  <a:srgbClr val="696363"/>
                </a:solidFill>
              </a:rPr>
              <a:t>Statements</a:t>
            </a:r>
            <a:r>
              <a:rPr sz="4000" spc="-70" dirty="0">
                <a:solidFill>
                  <a:srgbClr val="696363"/>
                </a:solidFill>
              </a:rPr>
              <a:t> </a:t>
            </a:r>
            <a:r>
              <a:rPr sz="4000" dirty="0">
                <a:solidFill>
                  <a:srgbClr val="696363"/>
                </a:solidFill>
              </a:rPr>
              <a:t>–</a:t>
            </a:r>
            <a:r>
              <a:rPr sz="4000" spc="-65" dirty="0">
                <a:solidFill>
                  <a:srgbClr val="696363"/>
                </a:solidFill>
              </a:rPr>
              <a:t> </a:t>
            </a:r>
            <a:r>
              <a:rPr sz="4000" dirty="0"/>
              <a:t>for</a:t>
            </a:r>
            <a:r>
              <a:rPr sz="4000" spc="-60" dirty="0"/>
              <a:t> </a:t>
            </a:r>
            <a:r>
              <a:rPr sz="4000" spc="-20" dirty="0"/>
              <a:t>loop</a:t>
            </a:r>
          </a:p>
        </p:txBody>
      </p:sp>
      <p:sp>
        <p:nvSpPr>
          <p:cNvPr id="3" name="object 3"/>
          <p:cNvSpPr txBox="1"/>
          <p:nvPr/>
        </p:nvSpPr>
        <p:spPr>
          <a:xfrm>
            <a:off x="307022" y="1845501"/>
            <a:ext cx="8529955" cy="4256935"/>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for</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same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C/C++.</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3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can 	</a:t>
            </a:r>
            <a:r>
              <a:rPr sz="2800" dirty="0">
                <a:latin typeface="Times New Roman" panose="02020603050405020304" pitchFamily="18" charset="0"/>
                <a:cs typeface="Times New Roman" panose="02020603050405020304" pitchFamily="18" charset="0"/>
              </a:rPr>
              <a:t>initialize</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50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check</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condition</a:t>
            </a:r>
            <a:r>
              <a:rPr sz="2800" spc="509"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spc="-10" dirty="0">
                <a:latin typeface="Times New Roman" panose="02020603050405020304" pitchFamily="18" charset="0"/>
                <a:cs typeface="Times New Roman" panose="02020603050405020304" pitchFamily="18" charset="0"/>
              </a:rPr>
              <a:t>increment/decrement</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1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syntax</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algn="just">
              <a:lnSpc>
                <a:spcPct val="100000"/>
              </a:lnSpc>
              <a:spcBef>
                <a:spcPts val="1270"/>
              </a:spcBef>
            </a:pP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5"/>
              </a:spcBef>
            </a:pPr>
            <a:r>
              <a:rPr sz="2400" b="1" i="1" dirty="0">
                <a:latin typeface="Times New Roman" panose="02020603050405020304" pitchFamily="18" charset="0"/>
                <a:cs typeface="Times New Roman" panose="02020603050405020304" pitchFamily="18" charset="0"/>
              </a:rPr>
              <a:t>for</a:t>
            </a:r>
            <a:r>
              <a:rPr sz="2400" i="1" dirty="0">
                <a:latin typeface="Times New Roman" panose="02020603050405020304" pitchFamily="18" charset="0"/>
                <a:cs typeface="Times New Roman" panose="02020603050405020304" pitchFamily="18" charset="0"/>
              </a:rPr>
              <a:t>(initialization;</a:t>
            </a:r>
            <a:r>
              <a:rPr sz="2400" i="1" spc="-1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condition;</a:t>
            </a:r>
            <a:r>
              <a:rPr sz="2400" i="1" spc="-114"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incr/decr)</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i="1" dirty="0">
                <a:latin typeface="Times New Roman" panose="02020603050405020304" pitchFamily="18" charset="0"/>
                <a:cs typeface="Times New Roman" panose="02020603050405020304" pitchFamily="18" charset="0"/>
              </a:rPr>
              <a:t>//code</a:t>
            </a:r>
            <a:r>
              <a:rPr sz="2400" i="1" spc="-3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to</a:t>
            </a:r>
            <a:r>
              <a:rPr sz="2400" i="1" spc="-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be</a:t>
            </a:r>
            <a:r>
              <a:rPr sz="2400" i="1" spc="-20"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2287" y="848752"/>
            <a:ext cx="6910070" cy="574040"/>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Looping</a:t>
            </a:r>
            <a:r>
              <a:rPr spc="-55" dirty="0">
                <a:solidFill>
                  <a:srgbClr val="696363"/>
                </a:solidFill>
              </a:rPr>
              <a:t> </a:t>
            </a:r>
            <a:r>
              <a:rPr dirty="0">
                <a:solidFill>
                  <a:srgbClr val="696363"/>
                </a:solidFill>
              </a:rPr>
              <a:t>Statements</a:t>
            </a:r>
            <a:r>
              <a:rPr spc="-75" dirty="0">
                <a:solidFill>
                  <a:srgbClr val="696363"/>
                </a:solidFill>
              </a:rPr>
              <a:t> </a:t>
            </a:r>
            <a:r>
              <a:rPr dirty="0">
                <a:solidFill>
                  <a:srgbClr val="696363"/>
                </a:solidFill>
              </a:rPr>
              <a:t>–</a:t>
            </a:r>
            <a:r>
              <a:rPr spc="-70" dirty="0">
                <a:solidFill>
                  <a:srgbClr val="696363"/>
                </a:solidFill>
              </a:rPr>
              <a:t> </a:t>
            </a:r>
            <a:r>
              <a:rPr dirty="0"/>
              <a:t>for</a:t>
            </a:r>
            <a:r>
              <a:rPr spc="-70" dirty="0"/>
              <a:t> </a:t>
            </a:r>
            <a:r>
              <a:rPr dirty="0"/>
              <a:t>loop</a:t>
            </a:r>
            <a:r>
              <a:rPr spc="-60" dirty="0"/>
              <a:t> </a:t>
            </a:r>
            <a:r>
              <a:rPr spc="-50" dirty="0"/>
              <a:t>-</a:t>
            </a: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457200" y="1600200"/>
            <a:ext cx="8229600" cy="4447884"/>
          </a:xfrm>
          <a:prstGeom prst="rect">
            <a:avLst/>
          </a:prstGeom>
        </p:spPr>
        <p:txBody>
          <a:bodyPr vert="horz" wrap="square" lIns="0" tIns="88900" rIns="0" bIns="0" rtlCol="0">
            <a:sp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ForExample</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=1;i&lt;=10;i++)</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298194" y="452361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4965268"/>
            <a:ext cx="208915" cy="391795"/>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2477" y="152400"/>
            <a:ext cx="8229600" cy="334962"/>
          </a:xfrm>
          <a:prstGeom prst="rect">
            <a:avLst/>
          </a:prstGeom>
        </p:spPr>
        <p:txBody>
          <a:bodyPr vert="horz" wrap="square" lIns="0" tIns="500634" rIns="0" bIns="0" rtlCol="0">
            <a:noAutofit/>
          </a:bodyPr>
          <a:lstStyle/>
          <a:p>
            <a:pPr marL="12700">
              <a:lnSpc>
                <a:spcPct val="100000"/>
              </a:lnSpc>
              <a:spcBef>
                <a:spcPts val="100"/>
              </a:spcBef>
            </a:pPr>
            <a:r>
              <a:rPr sz="3200" dirty="0">
                <a:solidFill>
                  <a:srgbClr val="696363"/>
                </a:solidFill>
              </a:rPr>
              <a:t>Looping</a:t>
            </a:r>
            <a:r>
              <a:rPr sz="3200" spc="-50" dirty="0">
                <a:solidFill>
                  <a:srgbClr val="696363"/>
                </a:solidFill>
              </a:rPr>
              <a:t> </a:t>
            </a:r>
            <a:r>
              <a:rPr sz="3200" dirty="0">
                <a:solidFill>
                  <a:srgbClr val="696363"/>
                </a:solidFill>
              </a:rPr>
              <a:t>Statements</a:t>
            </a:r>
            <a:r>
              <a:rPr sz="3200" spc="-70" dirty="0">
                <a:solidFill>
                  <a:srgbClr val="696363"/>
                </a:solidFill>
              </a:rPr>
              <a:t> </a:t>
            </a:r>
            <a:r>
              <a:rPr sz="3200" dirty="0">
                <a:solidFill>
                  <a:srgbClr val="696363"/>
                </a:solidFill>
              </a:rPr>
              <a:t>–</a:t>
            </a:r>
            <a:r>
              <a:rPr sz="3200" spc="-65" dirty="0">
                <a:solidFill>
                  <a:srgbClr val="696363"/>
                </a:solidFill>
              </a:rPr>
              <a:t> </a:t>
            </a:r>
            <a:r>
              <a:rPr sz="3200" dirty="0"/>
              <a:t>for</a:t>
            </a:r>
            <a:r>
              <a:rPr sz="3200" spc="-60" dirty="0"/>
              <a:t> </a:t>
            </a:r>
            <a:r>
              <a:rPr sz="3200" spc="-20" dirty="0"/>
              <a:t>each</a:t>
            </a:r>
          </a:p>
        </p:txBody>
      </p:sp>
      <p:sp>
        <p:nvSpPr>
          <p:cNvPr id="3" name="object 3"/>
          <p:cNvSpPr txBox="1"/>
          <p:nvPr/>
        </p:nvSpPr>
        <p:spPr>
          <a:xfrm>
            <a:off x="383539" y="935360"/>
            <a:ext cx="8453119" cy="6003567"/>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for-</a:t>
            </a:r>
            <a:r>
              <a:rPr sz="2800" dirty="0">
                <a:latin typeface="Times New Roman" panose="02020603050405020304" pitchFamily="18" charset="0"/>
                <a:cs typeface="Times New Roman" panose="02020603050405020304" pitchFamily="18" charset="0"/>
              </a:rPr>
              <a:t>each</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50" dirty="0">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traverse</a:t>
            </a:r>
            <a:r>
              <a:rPr sz="2800" i="1" spc="-6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array</a:t>
            </a:r>
            <a:r>
              <a:rPr sz="2800" i="1" spc="-45" dirty="0">
                <a:solidFill>
                  <a:srgbClr val="FF0000"/>
                </a:solidFill>
                <a:latin typeface="Times New Roman" panose="02020603050405020304" pitchFamily="18" charset="0"/>
                <a:cs typeface="Times New Roman" panose="02020603050405020304" pitchFamily="18" charset="0"/>
              </a:rPr>
              <a:t> </a:t>
            </a:r>
            <a:r>
              <a:rPr sz="2800" i="1" spc="-25" dirty="0">
                <a:solidFill>
                  <a:srgbClr val="FF0000"/>
                </a:solidFill>
                <a:latin typeface="Times New Roman" panose="02020603050405020304" pitchFamily="18" charset="0"/>
                <a:cs typeface="Times New Roman" panose="02020603050405020304" pitchFamily="18" charset="0"/>
              </a:rPr>
              <a:t>or 	</a:t>
            </a:r>
            <a:r>
              <a:rPr sz="2800" i="1" dirty="0">
                <a:solidFill>
                  <a:srgbClr val="FF0000"/>
                </a:solidFill>
                <a:latin typeface="Times New Roman" panose="02020603050405020304" pitchFamily="18" charset="0"/>
                <a:cs typeface="Times New Roman" panose="02020603050405020304" pitchFamily="18" charset="0"/>
              </a:rPr>
              <a:t>collection</a:t>
            </a:r>
            <a:r>
              <a:rPr sz="2800" i="1" spc="-5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java.</a:t>
            </a:r>
            <a:r>
              <a:rPr sz="2800" i="1" spc="-50" dirty="0">
                <a:solidFill>
                  <a:srgbClr val="FF000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easier</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than</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45"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for 	</a:t>
            </a:r>
            <a:r>
              <a:rPr sz="2800" dirty="0">
                <a:latin typeface="Times New Roman" panose="02020603050405020304" pitchFamily="18" charset="0"/>
                <a:cs typeface="Times New Roman" panose="02020603050405020304" pitchFamily="18" charset="0"/>
              </a:rPr>
              <a:t>loop</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because</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don't</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increment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7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dirty="0">
                <a:latin typeface="Times New Roman" panose="02020603050405020304" pitchFamily="18" charset="0"/>
                <a:cs typeface="Times New Roman" panose="02020603050405020304" pitchFamily="18" charset="0"/>
              </a:rPr>
              <a:t>use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subscript</a:t>
            </a:r>
            <a:r>
              <a:rPr sz="2800" spc="-6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notation.</a:t>
            </a:r>
            <a:endParaRPr sz="2800" dirty="0">
              <a:latin typeface="Times New Roman" panose="02020603050405020304" pitchFamily="18" charset="0"/>
              <a:cs typeface="Times New Roman" panose="02020603050405020304" pitchFamily="18" charset="0"/>
            </a:endParaRPr>
          </a:p>
          <a:p>
            <a:pPr marL="284480" marR="611505" indent="-272415" algn="just">
              <a:lnSpc>
                <a:spcPct val="150000"/>
              </a:lnSpc>
              <a:spcBef>
                <a:spcPts val="600"/>
              </a:spcBef>
              <a:buClr>
                <a:srgbClr val="D24717"/>
              </a:buClr>
              <a:buSzPct val="83928"/>
              <a:buFont typeface="Segoe UI Symbol"/>
              <a:buChar char="⚫"/>
              <a:tabLst>
                <a:tab pos="286385" algn="l"/>
              </a:tabLst>
            </a:pPr>
            <a:r>
              <a:rPr sz="2800" i="1" dirty="0">
                <a:solidFill>
                  <a:srgbClr val="FF0000"/>
                </a:solidFill>
                <a:latin typeface="Times New Roman" panose="02020603050405020304" pitchFamily="18" charset="0"/>
                <a:cs typeface="Times New Roman" panose="02020603050405020304" pitchFamily="18" charset="0"/>
              </a:rPr>
              <a:t>It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works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on</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elements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basis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not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index</a:t>
            </a:r>
            <a:r>
              <a:rPr sz="2800" dirty="0">
                <a:latin typeface="Times New Roman" panose="02020603050405020304" pitchFamily="18" charset="0"/>
                <a:cs typeface="Times New Roman" panose="02020603050405020304" pitchFamily="18" charset="0"/>
              </a:rPr>
              <a:t>.</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returns 	</a:t>
            </a:r>
            <a:r>
              <a:rPr sz="2800" dirty="0">
                <a:latin typeface="Times New Roman" panose="02020603050405020304" pitchFamily="18" charset="0"/>
                <a:cs typeface="Times New Roman" panose="02020603050405020304" pitchFamily="18" charset="0"/>
              </a:rPr>
              <a:t>element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by</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defined</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11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The 	</a:t>
            </a:r>
            <a:r>
              <a:rPr sz="2800" dirty="0">
                <a:latin typeface="Times New Roman" panose="02020603050405020304" pitchFamily="18" charset="0"/>
                <a:cs typeface="Times New Roman" panose="02020603050405020304" pitchFamily="18" charset="0"/>
              </a:rPr>
              <a:t>syntax</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1015"/>
              </a:spcBef>
            </a:pPr>
            <a:r>
              <a:rPr sz="2400" b="1"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(Type</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var:array)</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spc="-50" dirty="0">
                <a:latin typeface="Times New Roman" panose="02020603050405020304" pitchFamily="18" charset="0"/>
                <a:cs typeface="Times New Roman" panose="02020603050405020304" pitchFamily="18" charset="0"/>
              </a:rPr>
              <a:t>{</a:t>
            </a:r>
            <a:endParaRPr lang="en-US" sz="2400" spc="-5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dirty="0">
                <a:latin typeface="Times New Roman" panose="02020603050405020304" pitchFamily="18" charset="0"/>
                <a:cs typeface="Times New Roman" panose="02020603050405020304" pitchFamily="18" charset="0"/>
              </a:rPr>
              <a:t>//code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457200"/>
            <a:ext cx="6986270" cy="628377"/>
          </a:xfrm>
          <a:prstGeom prst="rect">
            <a:avLst/>
          </a:prstGeom>
        </p:spPr>
        <p:txBody>
          <a:bodyPr vert="horz" wrap="square" lIns="0" tIns="12700" rIns="0" bIns="0" rtlCol="0">
            <a:spAutoFit/>
          </a:bodyPr>
          <a:lstStyle/>
          <a:p>
            <a:pPr marL="12700" algn="just">
              <a:lnSpc>
                <a:spcPct val="100000"/>
              </a:lnSpc>
              <a:spcBef>
                <a:spcPts val="100"/>
              </a:spcBef>
            </a:pPr>
            <a:r>
              <a:rPr sz="4000" dirty="0">
                <a:solidFill>
                  <a:srgbClr val="696363"/>
                </a:solidFill>
              </a:rPr>
              <a:t>Looping</a:t>
            </a:r>
            <a:r>
              <a:rPr sz="4000" spc="-50" dirty="0">
                <a:solidFill>
                  <a:srgbClr val="696363"/>
                </a:solidFill>
              </a:rPr>
              <a:t> </a:t>
            </a:r>
            <a:r>
              <a:rPr sz="4000" dirty="0">
                <a:solidFill>
                  <a:srgbClr val="696363"/>
                </a:solidFill>
              </a:rPr>
              <a:t>Statements</a:t>
            </a:r>
            <a:r>
              <a:rPr sz="4000" spc="-55" dirty="0">
                <a:solidFill>
                  <a:srgbClr val="696363"/>
                </a:solidFill>
              </a:rPr>
              <a:t> </a:t>
            </a:r>
            <a:r>
              <a:rPr sz="4000" dirty="0">
                <a:solidFill>
                  <a:srgbClr val="696363"/>
                </a:solidFill>
              </a:rPr>
              <a:t>–</a:t>
            </a:r>
            <a:r>
              <a:rPr sz="4000" spc="-55" dirty="0">
                <a:solidFill>
                  <a:srgbClr val="696363"/>
                </a:solidFill>
              </a:rPr>
              <a:t> </a:t>
            </a:r>
            <a:r>
              <a:rPr sz="4000" dirty="0"/>
              <a:t>for</a:t>
            </a:r>
            <a:r>
              <a:rPr sz="4000" spc="-50" dirty="0"/>
              <a:t> </a:t>
            </a:r>
            <a:r>
              <a:rPr sz="4000" dirty="0"/>
              <a:t>each</a:t>
            </a:r>
            <a:endParaRPr sz="4000" spc="-50" dirty="0"/>
          </a:p>
        </p:txBody>
      </p:sp>
      <p:sp>
        <p:nvSpPr>
          <p:cNvPr id="3" name="object 3"/>
          <p:cNvSpPr txBox="1"/>
          <p:nvPr/>
        </p:nvSpPr>
        <p:spPr>
          <a:xfrm>
            <a:off x="307340" y="1419155"/>
            <a:ext cx="7955280" cy="4204356"/>
          </a:xfrm>
          <a:prstGeom prst="rect">
            <a:avLst/>
          </a:prstGeom>
        </p:spPr>
        <p:txBody>
          <a:bodyPr vert="horz" wrap="square" lIns="0" tIns="140335" rIns="0" bIns="0" rtlCol="0">
            <a:spAutoFit/>
          </a:bodyPr>
          <a:lstStyle/>
          <a:p>
            <a:r>
              <a:rPr lang="en-US" sz="2400" b="1" dirty="0"/>
              <a:t>public</a:t>
            </a:r>
            <a:r>
              <a:rPr lang="en-US" sz="2400" dirty="0"/>
              <a:t> </a:t>
            </a:r>
            <a:r>
              <a:rPr lang="en-US" sz="2400" b="1" dirty="0"/>
              <a:t>class</a:t>
            </a:r>
            <a:r>
              <a:rPr lang="en-US" sz="2400" dirty="0"/>
              <a:t> </a:t>
            </a:r>
            <a:r>
              <a:rPr lang="en-US" sz="2400" dirty="0" err="1"/>
              <a:t>ForEachExample</a:t>
            </a:r>
            <a:endParaRPr lang="en-US" sz="2400" dirty="0"/>
          </a:p>
          <a:p>
            <a:r>
              <a:rPr lang="en-US" sz="2400" dirty="0"/>
              <a:t>{</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r>
              <a:rPr lang="en-US" sz="2400" dirty="0"/>
              <a:t>{</a:t>
            </a:r>
          </a:p>
          <a:p>
            <a:r>
              <a:rPr lang="en-US" sz="2400" b="1" dirty="0"/>
              <a:t>int</a:t>
            </a:r>
            <a:r>
              <a:rPr lang="en-US" sz="2400" dirty="0"/>
              <a:t> </a:t>
            </a:r>
            <a:r>
              <a:rPr lang="en-US" sz="2400" dirty="0" err="1"/>
              <a:t>arr</a:t>
            </a:r>
            <a:r>
              <a:rPr lang="en-US" sz="2400" dirty="0"/>
              <a:t>[]={12,23,44,56,78};</a:t>
            </a:r>
          </a:p>
          <a:p>
            <a:r>
              <a:rPr lang="en-US" sz="2400" b="1" dirty="0"/>
              <a:t>for</a:t>
            </a:r>
            <a:r>
              <a:rPr lang="en-US" sz="2400" dirty="0"/>
              <a:t>(</a:t>
            </a:r>
            <a:r>
              <a:rPr lang="en-US" sz="2400" b="1" dirty="0"/>
              <a:t>int</a:t>
            </a:r>
            <a:r>
              <a:rPr lang="en-US" sz="2400" dirty="0"/>
              <a:t> i:arr)</a:t>
            </a:r>
          </a:p>
          <a:p>
            <a:r>
              <a:rPr lang="en-US" sz="2400" dirty="0"/>
              <a:t>{</a:t>
            </a:r>
          </a:p>
          <a:p>
            <a:r>
              <a:rPr lang="en-US" sz="2400" dirty="0" err="1"/>
              <a:t>System.</a:t>
            </a:r>
            <a:r>
              <a:rPr lang="en-US" sz="2400" b="1" i="1" dirty="0" err="1"/>
              <a:t>out</a:t>
            </a:r>
            <a:r>
              <a:rPr lang="en-US" sz="2400" dirty="0" err="1"/>
              <a:t>.println</a:t>
            </a:r>
            <a:r>
              <a:rPr lang="en-US" sz="2400" dirty="0"/>
              <a:t>(</a:t>
            </a:r>
            <a:r>
              <a:rPr lang="en-US" sz="2400" dirty="0" err="1"/>
              <a:t>i</a:t>
            </a:r>
            <a:r>
              <a:rPr lang="en-US" sz="2400" dirty="0"/>
              <a:t>);</a:t>
            </a:r>
          </a:p>
          <a:p>
            <a:r>
              <a:rPr lang="en-US" sz="2400" dirty="0"/>
              <a:t>}</a:t>
            </a:r>
          </a:p>
          <a:p>
            <a:r>
              <a:rPr lang="en-US" sz="2400" dirty="0"/>
              <a:t>}</a:t>
            </a:r>
          </a:p>
          <a:p>
            <a:r>
              <a:rPr lang="en-US" sz="2400" dirty="0"/>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A74A6A-24F0-5161-9EEC-ECD90F29F0F4}"/>
              </a:ext>
            </a:extLst>
          </p:cNvPr>
          <p:cNvSpPr>
            <a:spLocks noGrp="1"/>
          </p:cNvSpPr>
          <p:nvPr>
            <p:ph idx="1"/>
          </p:nvPr>
        </p:nvSpPr>
        <p:spPr>
          <a:xfrm>
            <a:off x="457200" y="152400"/>
            <a:ext cx="8229600" cy="5973763"/>
          </a:xfrm>
        </p:spPr>
        <p:txBody>
          <a:bodyPr>
            <a:normAutofit fontScale="85000" lnSpcReduction="10000"/>
          </a:bodyPr>
          <a:lstStyle/>
          <a:p>
            <a:pPr marL="0" indent="0">
              <a:buNone/>
            </a:pPr>
            <a:r>
              <a:rPr lang="en-US" b="1" dirty="0"/>
              <a:t>public</a:t>
            </a:r>
            <a:r>
              <a:rPr lang="en-US" dirty="0"/>
              <a:t> </a:t>
            </a:r>
            <a:r>
              <a:rPr lang="en-US" b="1" dirty="0"/>
              <a:t>class</a:t>
            </a:r>
            <a:r>
              <a:rPr lang="en-US" dirty="0"/>
              <a:t> </a:t>
            </a:r>
            <a:r>
              <a:rPr lang="en-US" dirty="0" err="1"/>
              <a:t>ForEach</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b="1" dirty="0"/>
              <a:t>int</a:t>
            </a:r>
            <a:r>
              <a:rPr lang="en-US" dirty="0"/>
              <a:t> </a:t>
            </a:r>
            <a:r>
              <a:rPr lang="en-US" dirty="0" err="1"/>
              <a:t>nums</a:t>
            </a:r>
            <a:r>
              <a:rPr lang="en-US" dirty="0"/>
              <a:t>[ ] = { 1, 2, 3, 4, 5, 6, 7, 8, 9, 10 }; </a:t>
            </a:r>
          </a:p>
          <a:p>
            <a:pPr marL="0" indent="0">
              <a:buNone/>
            </a:pPr>
            <a:r>
              <a:rPr lang="en-US" b="1" dirty="0"/>
              <a:t>int</a:t>
            </a:r>
            <a:r>
              <a:rPr lang="en-US" dirty="0"/>
              <a:t> sum = 0; </a:t>
            </a:r>
          </a:p>
          <a:p>
            <a:pPr marL="0" indent="0">
              <a:buNone/>
            </a:pPr>
            <a:r>
              <a:rPr lang="en-US" dirty="0"/>
              <a:t>// use for-each style for to display and sum the values </a:t>
            </a:r>
          </a:p>
          <a:p>
            <a:pPr marL="0" indent="0">
              <a:buNone/>
            </a:pPr>
            <a:r>
              <a:rPr lang="en-US" b="1" dirty="0"/>
              <a:t>for</a:t>
            </a:r>
            <a:r>
              <a:rPr lang="en-US" dirty="0"/>
              <a:t>(</a:t>
            </a:r>
            <a:r>
              <a:rPr lang="en-US" b="1" dirty="0"/>
              <a:t>int</a:t>
            </a:r>
            <a:r>
              <a:rPr lang="en-US" dirty="0"/>
              <a:t> x : </a:t>
            </a:r>
            <a:r>
              <a:rPr lang="en-US" dirty="0" err="1"/>
              <a:t>nums</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("Value is: " + x); </a:t>
            </a:r>
          </a:p>
          <a:p>
            <a:pPr marL="0" indent="0">
              <a:buNone/>
            </a:pPr>
            <a:r>
              <a:rPr lang="en-US" dirty="0"/>
              <a:t>sum += x; </a:t>
            </a:r>
          </a:p>
          <a:p>
            <a:pPr marL="0" indent="0">
              <a:buNone/>
            </a:pPr>
            <a:r>
              <a:rPr lang="en-US" dirty="0"/>
              <a:t>} </a:t>
            </a:r>
          </a:p>
          <a:p>
            <a:pPr marL="0" indent="0">
              <a:buNone/>
            </a:pPr>
            <a:r>
              <a:rPr lang="en-US" dirty="0" err="1"/>
              <a:t>System.</a:t>
            </a:r>
            <a:r>
              <a:rPr lang="en-US" b="1" i="1" dirty="0" err="1"/>
              <a:t>out</a:t>
            </a:r>
            <a:r>
              <a:rPr lang="en-US" dirty="0" err="1"/>
              <a:t>.println</a:t>
            </a:r>
            <a:r>
              <a:rPr lang="en-US" dirty="0"/>
              <a:t>("Summation: " + sum);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1873731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 y="162297"/>
            <a:ext cx="8420100" cy="1305486"/>
          </a:xfrm>
          <a:prstGeom prst="rect">
            <a:avLst/>
          </a:prstGeom>
        </p:spPr>
        <p:txBody>
          <a:bodyPr vert="horz" wrap="square" lIns="0" tIns="12700" rIns="0" bIns="0" rtlCol="0">
            <a:spAutoFit/>
          </a:bodyPr>
          <a:lstStyle/>
          <a:p>
            <a:pPr marL="12700">
              <a:spcBef>
                <a:spcPts val="100"/>
              </a:spcBef>
            </a:pPr>
            <a:r>
              <a:rPr sz="4000" dirty="0">
                <a:solidFill>
                  <a:srgbClr val="696363"/>
                </a:solidFill>
              </a:rPr>
              <a:t>Looping</a:t>
            </a:r>
            <a:r>
              <a:rPr sz="4000" spc="-4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55" dirty="0">
                <a:solidFill>
                  <a:srgbClr val="696363"/>
                </a:solidFill>
              </a:rPr>
              <a:t> </a:t>
            </a:r>
            <a:r>
              <a:rPr sz="3200" dirty="0">
                <a:solidFill>
                  <a:srgbClr val="FF0000"/>
                </a:solidFill>
              </a:rPr>
              <a:t>While</a:t>
            </a:r>
            <a:r>
              <a:rPr sz="3200" spc="-80" dirty="0">
                <a:solidFill>
                  <a:srgbClr val="FF0000"/>
                </a:solidFill>
              </a:rPr>
              <a:t> </a:t>
            </a:r>
            <a:r>
              <a:rPr sz="3200" spc="-10" dirty="0">
                <a:solidFill>
                  <a:srgbClr val="FF0000"/>
                </a:solidFill>
              </a:rPr>
              <a:t>loop</a:t>
            </a:r>
            <a:r>
              <a:rPr spc="-10" dirty="0">
                <a:solidFill>
                  <a:srgbClr val="FF0000"/>
                </a:solidFill>
              </a:rPr>
              <a:t>–</a:t>
            </a:r>
            <a:r>
              <a:rPr sz="2400" spc="-10" dirty="0">
                <a:solidFill>
                  <a:srgbClr val="FF0000"/>
                </a:solidFill>
              </a:rPr>
              <a:t>Entry</a:t>
            </a:r>
            <a:r>
              <a:rPr lang="en-US" sz="2400" spc="-10" dirty="0">
                <a:solidFill>
                  <a:srgbClr val="FF0000"/>
                </a:solidFill>
              </a:rPr>
              <a:t> </a:t>
            </a:r>
            <a:r>
              <a:rPr lang="en-US" sz="2000" b="1" spc="-10" dirty="0">
                <a:solidFill>
                  <a:srgbClr val="FF0000"/>
                </a:solidFill>
                <a:latin typeface="Arial"/>
                <a:cs typeface="Arial"/>
              </a:rPr>
              <a:t>controlled</a:t>
            </a:r>
            <a:br>
              <a:rPr lang="en-US" sz="2000" dirty="0">
                <a:latin typeface="Arial"/>
                <a:cs typeface="Arial"/>
              </a:rPr>
            </a:br>
            <a:endParaRPr sz="2000" dirty="0">
              <a:solidFill>
                <a:srgbClr val="FF0000"/>
              </a:solidFill>
            </a:endParaRPr>
          </a:p>
        </p:txBody>
      </p:sp>
      <p:sp>
        <p:nvSpPr>
          <p:cNvPr id="3" name="object 3"/>
          <p:cNvSpPr txBox="1"/>
          <p:nvPr/>
        </p:nvSpPr>
        <p:spPr>
          <a:xfrm>
            <a:off x="266700" y="1543214"/>
            <a:ext cx="8610600" cy="4296048"/>
          </a:xfrm>
          <a:prstGeom prst="rect">
            <a:avLst/>
          </a:prstGeom>
        </p:spPr>
        <p:txBody>
          <a:bodyPr vert="horz" wrap="square" lIns="0" tIns="12700" rIns="0" bIns="0" rtlCol="0">
            <a:spAutoFit/>
          </a:bodyPr>
          <a:lstStyle/>
          <a:p>
            <a:pPr marL="366395" marR="5080" indent="-272415" algn="just">
              <a:lnSpc>
                <a:spcPct val="150000"/>
              </a:lnSpc>
              <a:spcBef>
                <a:spcPts val="1405"/>
              </a:spcBef>
              <a:buClr>
                <a:srgbClr val="D24717"/>
              </a:buClr>
              <a:buSzPct val="83928"/>
              <a:buFont typeface="Segoe UI Symbol"/>
              <a:buChar char="⚫"/>
              <a:tabLst>
                <a:tab pos="368300" algn="l"/>
              </a:tabLst>
            </a:pPr>
            <a:r>
              <a:rPr sz="2800" dirty="0">
                <a:latin typeface="Arial MT"/>
                <a:cs typeface="Arial MT"/>
              </a:rPr>
              <a:t>The</a:t>
            </a:r>
            <a:r>
              <a:rPr sz="2800" spc="225" dirty="0">
                <a:latin typeface="Arial MT"/>
                <a:cs typeface="Arial MT"/>
              </a:rPr>
              <a:t> </a:t>
            </a:r>
            <a:r>
              <a:rPr sz="2800" dirty="0">
                <a:latin typeface="Arial MT"/>
                <a:cs typeface="Arial MT"/>
              </a:rPr>
              <a:t>Java</a:t>
            </a:r>
            <a:r>
              <a:rPr sz="2800" spc="229" dirty="0">
                <a:latin typeface="Arial MT"/>
                <a:cs typeface="Arial MT"/>
              </a:rPr>
              <a:t> </a:t>
            </a:r>
            <a:r>
              <a:rPr sz="2800" b="1" i="1" dirty="0">
                <a:solidFill>
                  <a:srgbClr val="FF0000"/>
                </a:solidFill>
                <a:latin typeface="Times New Roman" panose="02020603050405020304" pitchFamily="18" charset="0"/>
                <a:cs typeface="Times New Roman" panose="02020603050405020304" pitchFamily="18" charset="0"/>
              </a:rPr>
              <a:t>while</a:t>
            </a:r>
            <a:r>
              <a:rPr sz="2800" b="1" i="1" spc="229"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loop</a:t>
            </a:r>
            <a:r>
              <a:rPr sz="2800" b="1" i="1" spc="23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iterate</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a</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part</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of</a:t>
            </a:r>
            <a:r>
              <a:rPr sz="2800" b="1" spc="215" dirty="0">
                <a:solidFill>
                  <a:srgbClr val="FF0000"/>
                </a:solidFill>
                <a:latin typeface="Times New Roman" panose="02020603050405020304" pitchFamily="18" charset="0"/>
                <a:cs typeface="Times New Roman" panose="02020603050405020304" pitchFamily="18" charset="0"/>
              </a:rPr>
              <a:t> </a:t>
            </a:r>
            <a:r>
              <a:rPr sz="2800" b="1" spc="-25" dirty="0">
                <a:solidFill>
                  <a:srgbClr val="FF0000"/>
                </a:solidFill>
                <a:latin typeface="Times New Roman" panose="02020603050405020304" pitchFamily="18" charset="0"/>
                <a:cs typeface="Times New Roman" panose="02020603050405020304" pitchFamily="18" charset="0"/>
              </a:rPr>
              <a:t>the 	</a:t>
            </a:r>
            <a:r>
              <a:rPr sz="2800" b="1" dirty="0">
                <a:solidFill>
                  <a:srgbClr val="FF0000"/>
                </a:solidFill>
                <a:latin typeface="Times New Roman" panose="02020603050405020304" pitchFamily="18" charset="0"/>
                <a:cs typeface="Times New Roman" panose="02020603050405020304" pitchFamily="18" charset="0"/>
              </a:rPr>
              <a:t>program</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several</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times.</a:t>
            </a:r>
            <a:r>
              <a:rPr sz="2800" spc="220" dirty="0">
                <a:latin typeface="Arial MT"/>
                <a:cs typeface="Arial MT"/>
              </a:rPr>
              <a:t> </a:t>
            </a:r>
            <a:r>
              <a:rPr sz="2800" dirty="0">
                <a:latin typeface="Arial MT"/>
                <a:cs typeface="Arial MT"/>
              </a:rPr>
              <a:t>If</a:t>
            </a:r>
            <a:r>
              <a:rPr sz="2800" spc="210" dirty="0">
                <a:latin typeface="Arial MT"/>
                <a:cs typeface="Arial MT"/>
              </a:rPr>
              <a:t> </a:t>
            </a:r>
            <a:r>
              <a:rPr sz="2800" dirty="0">
                <a:latin typeface="Arial MT"/>
                <a:cs typeface="Arial MT"/>
              </a:rPr>
              <a:t>the</a:t>
            </a:r>
            <a:r>
              <a:rPr sz="2800" spc="220" dirty="0">
                <a:latin typeface="Arial MT"/>
                <a:cs typeface="Arial MT"/>
              </a:rPr>
              <a:t> </a:t>
            </a:r>
            <a:r>
              <a:rPr sz="2800" dirty="0">
                <a:latin typeface="Arial MT"/>
                <a:cs typeface="Arial MT"/>
              </a:rPr>
              <a:t>number</a:t>
            </a:r>
            <a:r>
              <a:rPr sz="2800" spc="240" dirty="0">
                <a:latin typeface="Arial MT"/>
                <a:cs typeface="Arial MT"/>
              </a:rPr>
              <a:t> </a:t>
            </a:r>
            <a:r>
              <a:rPr sz="2800" dirty="0">
                <a:latin typeface="Arial MT"/>
                <a:cs typeface="Arial MT"/>
              </a:rPr>
              <a:t>of</a:t>
            </a:r>
            <a:r>
              <a:rPr sz="2800" spc="210" dirty="0">
                <a:latin typeface="Arial MT"/>
                <a:cs typeface="Arial MT"/>
              </a:rPr>
              <a:t> </a:t>
            </a:r>
            <a:r>
              <a:rPr sz="2800" dirty="0">
                <a:latin typeface="Arial MT"/>
                <a:cs typeface="Arial MT"/>
              </a:rPr>
              <a:t>iteration</a:t>
            </a:r>
            <a:r>
              <a:rPr sz="2800" spc="229" dirty="0">
                <a:latin typeface="Arial MT"/>
                <a:cs typeface="Arial MT"/>
              </a:rPr>
              <a:t> </a:t>
            </a:r>
            <a:r>
              <a:rPr sz="2800" spc="-25" dirty="0">
                <a:latin typeface="Arial MT"/>
                <a:cs typeface="Arial MT"/>
              </a:rPr>
              <a:t>is 	</a:t>
            </a:r>
            <a:r>
              <a:rPr sz="2800" dirty="0">
                <a:latin typeface="Arial MT"/>
                <a:cs typeface="Arial MT"/>
              </a:rPr>
              <a:t>not</a:t>
            </a:r>
            <a:r>
              <a:rPr sz="2800" spc="-50" dirty="0">
                <a:latin typeface="Arial MT"/>
                <a:cs typeface="Arial MT"/>
              </a:rPr>
              <a:t> </a:t>
            </a:r>
            <a:r>
              <a:rPr sz="2800" dirty="0">
                <a:latin typeface="Arial MT"/>
                <a:cs typeface="Arial MT"/>
              </a:rPr>
              <a:t>fixed,</a:t>
            </a:r>
            <a:r>
              <a:rPr sz="2800" spc="-70" dirty="0">
                <a:latin typeface="Arial MT"/>
                <a:cs typeface="Arial MT"/>
              </a:rPr>
              <a:t> </a:t>
            </a:r>
            <a:r>
              <a:rPr sz="2800" dirty="0">
                <a:latin typeface="Arial MT"/>
                <a:cs typeface="Arial MT"/>
              </a:rPr>
              <a:t>it</a:t>
            </a:r>
            <a:r>
              <a:rPr sz="2800" spc="-55" dirty="0">
                <a:latin typeface="Arial MT"/>
                <a:cs typeface="Arial MT"/>
              </a:rPr>
              <a:t> </a:t>
            </a:r>
            <a:r>
              <a:rPr sz="2800" dirty="0">
                <a:latin typeface="Arial MT"/>
                <a:cs typeface="Arial MT"/>
              </a:rPr>
              <a:t>is</a:t>
            </a:r>
            <a:r>
              <a:rPr sz="2800" spc="-55" dirty="0">
                <a:latin typeface="Arial MT"/>
                <a:cs typeface="Arial MT"/>
              </a:rPr>
              <a:t> </a:t>
            </a:r>
            <a:r>
              <a:rPr sz="2800" dirty="0">
                <a:latin typeface="Arial MT"/>
                <a:cs typeface="Arial MT"/>
              </a:rPr>
              <a:t>recommended</a:t>
            </a:r>
            <a:r>
              <a:rPr sz="2800" spc="-10" dirty="0">
                <a:latin typeface="Arial MT"/>
                <a:cs typeface="Arial MT"/>
              </a:rPr>
              <a:t> </a:t>
            </a:r>
            <a:r>
              <a:rPr sz="2800" dirty="0">
                <a:latin typeface="Arial MT"/>
                <a:cs typeface="Arial MT"/>
              </a:rPr>
              <a:t>to</a:t>
            </a:r>
            <a:r>
              <a:rPr sz="2800" spc="-60" dirty="0">
                <a:latin typeface="Arial MT"/>
                <a:cs typeface="Arial MT"/>
              </a:rPr>
              <a:t> </a:t>
            </a:r>
            <a:r>
              <a:rPr sz="2800" dirty="0">
                <a:latin typeface="Arial MT"/>
                <a:cs typeface="Arial MT"/>
              </a:rPr>
              <a:t>use</a:t>
            </a:r>
            <a:r>
              <a:rPr sz="2800" spc="-45" dirty="0">
                <a:latin typeface="Arial MT"/>
                <a:cs typeface="Arial MT"/>
              </a:rPr>
              <a:t> </a:t>
            </a:r>
            <a:r>
              <a:rPr sz="2800" dirty="0">
                <a:latin typeface="Arial MT"/>
                <a:cs typeface="Arial MT"/>
              </a:rPr>
              <a:t>while</a:t>
            </a:r>
            <a:r>
              <a:rPr sz="2800" spc="-45" dirty="0">
                <a:latin typeface="Arial MT"/>
                <a:cs typeface="Arial MT"/>
              </a:rPr>
              <a:t> </a:t>
            </a:r>
            <a:r>
              <a:rPr sz="2800" spc="-10" dirty="0">
                <a:latin typeface="Arial MT"/>
                <a:cs typeface="Arial MT"/>
              </a:rPr>
              <a:t>loop.</a:t>
            </a:r>
            <a:endParaRPr sz="2800" dirty="0">
              <a:latin typeface="Arial MT"/>
              <a:cs typeface="Arial MT"/>
            </a:endParaRPr>
          </a:p>
          <a:p>
            <a:pPr marL="93980">
              <a:lnSpc>
                <a:spcPct val="100000"/>
              </a:lnSpc>
              <a:spcBef>
                <a:spcPts val="1225"/>
              </a:spcBef>
            </a:pPr>
            <a:r>
              <a:rPr sz="2800" b="1" spc="-10" dirty="0">
                <a:latin typeface="Arial"/>
                <a:cs typeface="Arial"/>
              </a:rPr>
              <a:t>Syntax:</a:t>
            </a:r>
            <a:endParaRPr sz="2800" dirty="0">
              <a:latin typeface="Arial"/>
              <a:cs typeface="Arial"/>
            </a:endParaRPr>
          </a:p>
          <a:p>
            <a:pPr marL="1009015">
              <a:lnSpc>
                <a:spcPct val="100000"/>
              </a:lnSpc>
              <a:spcBef>
                <a:spcPts val="385"/>
              </a:spcBef>
            </a:pPr>
            <a:r>
              <a:rPr sz="2400" b="1" i="1" spc="-10" dirty="0">
                <a:latin typeface="Courier New"/>
                <a:cs typeface="Courier New"/>
              </a:rPr>
              <a:t>while</a:t>
            </a:r>
            <a:r>
              <a:rPr sz="2400" i="1" spc="-10" dirty="0">
                <a:latin typeface="Courier New"/>
                <a:cs typeface="Courier New"/>
              </a:rPr>
              <a:t>(condition)</a:t>
            </a:r>
            <a:endParaRPr sz="2400" dirty="0">
              <a:latin typeface="Courier New"/>
              <a:cs typeface="Courier New"/>
            </a:endParaRPr>
          </a:p>
          <a:p>
            <a:pPr marL="1009015">
              <a:lnSpc>
                <a:spcPct val="100000"/>
              </a:lnSpc>
              <a:spcBef>
                <a:spcPts val="605"/>
              </a:spcBef>
            </a:pPr>
            <a:r>
              <a:rPr sz="2400" i="1" spc="-50" dirty="0">
                <a:latin typeface="Courier New"/>
                <a:cs typeface="Courier New"/>
              </a:rPr>
              <a:t>{</a:t>
            </a:r>
            <a:endParaRPr sz="2400" dirty="0">
              <a:latin typeface="Courier New"/>
              <a:cs typeface="Courier New"/>
            </a:endParaRPr>
          </a:p>
          <a:p>
            <a:pPr marL="1923414">
              <a:lnSpc>
                <a:spcPct val="100000"/>
              </a:lnSpc>
              <a:spcBef>
                <a:spcPts val="600"/>
              </a:spcBef>
            </a:pPr>
            <a:r>
              <a:rPr sz="2400" i="1" dirty="0">
                <a:latin typeface="Courier New"/>
                <a:cs typeface="Courier New"/>
              </a:rPr>
              <a:t>//code</a:t>
            </a:r>
            <a:r>
              <a:rPr sz="2400" i="1" spc="-3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1009015">
              <a:lnSpc>
                <a:spcPct val="100000"/>
              </a:lnSpc>
              <a:spcBef>
                <a:spcPts val="600"/>
              </a:spcBef>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1346"/>
            <a:ext cx="8229600" cy="1143000"/>
          </a:xfrm>
          <a:prstGeom prst="rect">
            <a:avLst/>
          </a:prstGeom>
        </p:spPr>
        <p:txBody>
          <a:bodyPr vert="horz" wrap="square" lIns="0" tIns="377901" rIns="0" bIns="0" rtlCol="0">
            <a:spAutoFit/>
          </a:bodyPr>
          <a:lstStyle/>
          <a:p>
            <a:pPr marL="6985">
              <a:lnSpc>
                <a:spcPct val="100000"/>
              </a:lnSpc>
              <a:spcBef>
                <a:spcPts val="100"/>
              </a:spcBef>
            </a:pPr>
            <a:r>
              <a:rPr spc="-10" dirty="0"/>
              <a:t>Example</a:t>
            </a:r>
          </a:p>
        </p:txBody>
      </p:sp>
      <p:sp>
        <p:nvSpPr>
          <p:cNvPr id="3" name="object 3"/>
          <p:cNvSpPr txBox="1"/>
          <p:nvPr/>
        </p:nvSpPr>
        <p:spPr>
          <a:xfrm>
            <a:off x="383540" y="911097"/>
            <a:ext cx="7879080" cy="1351915"/>
          </a:xfrm>
          <a:prstGeom prst="rect">
            <a:avLst/>
          </a:prstGeom>
        </p:spPr>
        <p:txBody>
          <a:bodyPr vert="horz" wrap="square" lIns="0" tIns="88900" rIns="0" bIns="0" rtlCol="0">
            <a:spAutoFit/>
          </a:bodyPr>
          <a:lstStyle/>
          <a:p>
            <a:pPr marL="12700">
              <a:lnSpc>
                <a:spcPct val="100000"/>
              </a:lnSpc>
              <a:spcBef>
                <a:spcPts val="70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WhileExample</a:t>
            </a:r>
            <a:endParaRPr sz="2400" dirty="0">
              <a:latin typeface="Courier New"/>
              <a:cs typeface="Courier New"/>
            </a:endParaRPr>
          </a:p>
          <a:p>
            <a:pPr marL="12700">
              <a:lnSpc>
                <a:spcPct val="100000"/>
              </a:lnSpc>
              <a:spcBef>
                <a:spcPts val="600"/>
              </a:spcBef>
            </a:pPr>
            <a:r>
              <a:rPr sz="2400" spc="-50" dirty="0">
                <a:latin typeface="Courier New"/>
                <a:cs typeface="Courier New"/>
              </a:rPr>
              <a:t>{</a:t>
            </a:r>
            <a:endParaRPr sz="2400" dirty="0">
              <a:latin typeface="Courier New"/>
              <a:cs typeface="Courier New"/>
            </a:endParaRPr>
          </a:p>
          <a:p>
            <a:pPr marL="9271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762000" y="2263012"/>
            <a:ext cx="8229600" cy="2984728"/>
          </a:xfrm>
          <a:prstGeom prst="rect">
            <a:avLst/>
          </a:prstGeom>
        </p:spPr>
        <p:txBody>
          <a:bodyPr vert="horz" wrap="square" lIns="0" tIns="88900" rIns="0" bIns="0" rtlCol="0">
            <a:spAutoFit/>
          </a:bodyPr>
          <a:lstStyle/>
          <a:p>
            <a:pPr marL="0" indent="0">
              <a:lnSpc>
                <a:spcPct val="100000"/>
              </a:lnSpc>
              <a:spcBef>
                <a:spcPts val="700"/>
              </a:spcBef>
              <a:buNone/>
            </a:pPr>
            <a:r>
              <a:rPr b="1" dirty="0"/>
              <a:t>int</a:t>
            </a:r>
            <a:r>
              <a:rPr b="1" spc="-25" dirty="0"/>
              <a:t> </a:t>
            </a:r>
            <a:r>
              <a:rPr spc="-20" dirty="0">
                <a:latin typeface="Courier New"/>
                <a:cs typeface="Courier New"/>
              </a:rPr>
              <a:t>i=1;</a:t>
            </a:r>
          </a:p>
          <a:p>
            <a:pPr marL="0" indent="0">
              <a:lnSpc>
                <a:spcPct val="100000"/>
              </a:lnSpc>
              <a:spcBef>
                <a:spcPts val="600"/>
              </a:spcBef>
              <a:buNone/>
            </a:pPr>
            <a:r>
              <a:rPr b="1" spc="-10" dirty="0"/>
              <a:t>while</a:t>
            </a:r>
            <a:r>
              <a:rPr spc="-10" dirty="0">
                <a:latin typeface="Courier New"/>
                <a:cs typeface="Courier New"/>
              </a:rPr>
              <a:t>(i&lt;=10)</a:t>
            </a:r>
          </a:p>
          <a:p>
            <a:pPr marL="0" indent="0">
              <a:lnSpc>
                <a:spcPct val="100000"/>
              </a:lnSpc>
              <a:spcBef>
                <a:spcPts val="600"/>
              </a:spcBef>
              <a:buNone/>
            </a:pPr>
            <a:r>
              <a:rPr spc="-50" dirty="0">
                <a:latin typeface="Courier New"/>
                <a:cs typeface="Courier New"/>
              </a:rPr>
              <a:t>{</a:t>
            </a:r>
          </a:p>
          <a:p>
            <a:pPr marL="584200" marR="5080" indent="0">
              <a:lnSpc>
                <a:spcPct val="120800"/>
              </a:lnSpc>
              <a:buNone/>
            </a:pPr>
            <a:r>
              <a:rPr spc="-10" dirty="0">
                <a:latin typeface="Courier New"/>
                <a:cs typeface="Courier New"/>
              </a:rPr>
              <a:t>System.out.println(i); </a:t>
            </a:r>
            <a:r>
              <a:rPr spc="-20" dirty="0">
                <a:latin typeface="Courier New"/>
                <a:cs typeface="Courier New"/>
              </a:rPr>
              <a:t>i++;</a:t>
            </a:r>
          </a:p>
          <a:p>
            <a:pPr marL="0" indent="0">
              <a:lnSpc>
                <a:spcPct val="100000"/>
              </a:lnSpc>
              <a:spcBef>
                <a:spcPts val="600"/>
              </a:spcBef>
              <a:buNone/>
            </a:pPr>
            <a:r>
              <a:rPr spc="-50" dirty="0">
                <a:latin typeface="Courier New"/>
                <a:cs typeface="Courier New"/>
              </a:rPr>
              <a:t>}</a:t>
            </a:r>
          </a:p>
        </p:txBody>
      </p:sp>
      <p:sp>
        <p:nvSpPr>
          <p:cNvPr id="6" name="object 6"/>
          <p:cNvSpPr txBox="1"/>
          <p:nvPr/>
        </p:nvSpPr>
        <p:spPr>
          <a:xfrm>
            <a:off x="1298194" y="54078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58498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50280"/>
            <a:ext cx="8102600" cy="874598"/>
          </a:xfrm>
          <a:prstGeom prst="rect">
            <a:avLst/>
          </a:prstGeom>
        </p:spPr>
        <p:txBody>
          <a:bodyPr vert="horz" wrap="square" lIns="0" tIns="12700" rIns="0" bIns="0" rtlCol="0">
            <a:spAutoFit/>
          </a:bodyPr>
          <a:lstStyle/>
          <a:p>
            <a:pPr marL="12700">
              <a:spcBef>
                <a:spcPts val="100"/>
              </a:spcBef>
            </a:pPr>
            <a:r>
              <a:rPr sz="3600" dirty="0">
                <a:solidFill>
                  <a:srgbClr val="696363"/>
                </a:solidFill>
                <a:latin typeface="Times New Roman" panose="02020603050405020304" pitchFamily="18" charset="0"/>
                <a:cs typeface="Times New Roman" panose="02020603050405020304" pitchFamily="18" charset="0"/>
              </a:rPr>
              <a:t>Looping</a:t>
            </a:r>
            <a:r>
              <a:rPr sz="3600" spc="-35" dirty="0">
                <a:solidFill>
                  <a:srgbClr val="696363"/>
                </a:solidFill>
                <a:latin typeface="Times New Roman" panose="02020603050405020304" pitchFamily="18" charset="0"/>
                <a:cs typeface="Times New Roman" panose="02020603050405020304" pitchFamily="18" charset="0"/>
              </a:rPr>
              <a:t> </a:t>
            </a:r>
            <a:r>
              <a:rPr sz="3600" spc="-10" dirty="0">
                <a:solidFill>
                  <a:srgbClr val="696363"/>
                </a:solidFill>
                <a:latin typeface="Times New Roman" panose="02020603050405020304" pitchFamily="18" charset="0"/>
                <a:cs typeface="Times New Roman" panose="02020603050405020304" pitchFamily="18" charset="0"/>
              </a:rPr>
              <a:t>Statements–</a:t>
            </a:r>
            <a:r>
              <a:rPr sz="2400" spc="-10" dirty="0">
                <a:latin typeface="Times New Roman" panose="02020603050405020304" pitchFamily="18" charset="0"/>
                <a:cs typeface="Times New Roman" panose="02020603050405020304" pitchFamily="18" charset="0"/>
              </a:rPr>
              <a:t>do-</a:t>
            </a:r>
            <a:r>
              <a:rPr sz="2400" dirty="0">
                <a:latin typeface="Times New Roman" panose="02020603050405020304" pitchFamily="18" charset="0"/>
                <a:cs typeface="Times New Roman" panose="02020603050405020304" pitchFamily="18" charset="0"/>
              </a:rPr>
              <a:t>while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loop</a:t>
            </a:r>
            <a:r>
              <a:rPr sz="3600" spc="-10" dirty="0">
                <a:latin typeface="Times New Roman" panose="02020603050405020304" pitchFamily="18" charset="0"/>
                <a:cs typeface="Times New Roman" panose="02020603050405020304" pitchFamily="18" charset="0"/>
              </a:rPr>
              <a:t>–</a:t>
            </a:r>
            <a:r>
              <a:rPr sz="1800" spc="-10" dirty="0">
                <a:latin typeface="Times New Roman" panose="02020603050405020304" pitchFamily="18" charset="0"/>
                <a:cs typeface="Times New Roman" panose="02020603050405020304" pitchFamily="18" charset="0"/>
              </a:rPr>
              <a:t>Exit</a:t>
            </a:r>
            <a:r>
              <a:rPr lang="en-US" sz="1800" spc="-10" dirty="0">
                <a:latin typeface="Times New Roman" panose="02020603050405020304" pitchFamily="18" charset="0"/>
                <a:cs typeface="Times New Roman" panose="02020603050405020304" pitchFamily="18" charset="0"/>
              </a:rPr>
              <a:t> </a:t>
            </a:r>
            <a:r>
              <a:rPr lang="en-US" sz="1800" b="1" spc="-10" dirty="0">
                <a:solidFill>
                  <a:srgbClr val="FF0000"/>
                </a:solidFill>
                <a:latin typeface="Arial"/>
                <a:cs typeface="Arial"/>
              </a:rPr>
              <a:t>controlled</a:t>
            </a:r>
            <a:br>
              <a:rPr lang="en-US" sz="1800" dirty="0">
                <a:latin typeface="Arial"/>
                <a:cs typeface="Arial"/>
              </a:rPr>
            </a:b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33400" y="533400"/>
            <a:ext cx="8308747" cy="5550237"/>
          </a:xfrm>
          <a:prstGeom prst="rect">
            <a:avLst/>
          </a:prstGeom>
        </p:spPr>
        <p:txBody>
          <a:bodyPr vert="horz" wrap="square" lIns="0" tIns="12700" rIns="0" bIns="0" rtlCol="0">
            <a:spAutoFit/>
          </a:bodyPr>
          <a:lstStyle/>
          <a:p>
            <a:pPr marL="367030" marR="6985" indent="-273050" algn="just">
              <a:spcBef>
                <a:spcPts val="5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The</a:t>
            </a:r>
            <a:r>
              <a:rPr sz="2600" spc="2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295"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295"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used</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to</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iterate</a:t>
            </a:r>
            <a:r>
              <a:rPr sz="2600" spc="29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part</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29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the 	</a:t>
            </a:r>
            <a:r>
              <a:rPr sz="2600" dirty="0">
                <a:latin typeface="Times New Roman" panose="02020603050405020304" pitchFamily="18" charset="0"/>
                <a:cs typeface="Times New Roman" panose="02020603050405020304" pitchFamily="18" charset="0"/>
              </a:rPr>
              <a:t>program</a:t>
            </a:r>
            <a:r>
              <a:rPr sz="2600" spc="-5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several</a:t>
            </a:r>
            <a:r>
              <a:rPr sz="2600" spc="-5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times.</a:t>
            </a:r>
            <a:endParaRPr sz="2600" dirty="0">
              <a:latin typeface="Times New Roman" panose="02020603050405020304" pitchFamily="18" charset="0"/>
              <a:cs typeface="Times New Roman" panose="02020603050405020304" pitchFamily="18" charset="0"/>
            </a:endParaRPr>
          </a:p>
          <a:p>
            <a:pPr marL="367030" marR="5080" indent="-273050" algn="just">
              <a:spcBef>
                <a:spcPts val="6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If</a:t>
            </a:r>
            <a:r>
              <a:rPr sz="2600" spc="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number</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iteration</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not</a:t>
            </a:r>
            <a:r>
              <a:rPr sz="2600" spc="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fixed</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and</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you</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must</a:t>
            </a:r>
            <a:r>
              <a:rPr sz="2600" spc="2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have 	</a:t>
            </a:r>
            <a:r>
              <a:rPr sz="2600" dirty="0">
                <a:latin typeface="Times New Roman" panose="02020603050405020304" pitchFamily="18" charset="0"/>
                <a:cs typeface="Times New Roman" panose="02020603050405020304" pitchFamily="18" charset="0"/>
              </a:rPr>
              <a:t>to</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loop</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once,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recommended</a:t>
            </a:r>
            <a:r>
              <a:rPr sz="2600" spc="14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to 	</a:t>
            </a:r>
            <a:r>
              <a:rPr sz="2600" dirty="0">
                <a:latin typeface="Times New Roman" panose="02020603050405020304" pitchFamily="18" charset="0"/>
                <a:cs typeface="Times New Roman" panose="02020603050405020304" pitchFamily="18" charset="0"/>
              </a:rPr>
              <a:t>use</a:t>
            </a:r>
            <a:r>
              <a:rPr sz="2600" spc="-1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do-</a:t>
            </a:r>
            <a:r>
              <a:rPr sz="2600" dirty="0">
                <a:latin typeface="Times New Roman" panose="02020603050405020304" pitchFamily="18" charset="0"/>
                <a:cs typeface="Times New Roman" panose="02020603050405020304" pitchFamily="18" charset="0"/>
              </a:rPr>
              <a:t>while</a:t>
            </a:r>
            <a:r>
              <a:rPr sz="2600" spc="-1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loop.</a:t>
            </a:r>
            <a:endParaRPr sz="2600"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r>
              <a:rPr sz="2600" dirty="0">
                <a:latin typeface="Times New Roman" panose="02020603050405020304" pitchFamily="18" charset="0"/>
                <a:cs typeface="Times New Roman" panose="02020603050405020304" pitchFamily="18" charset="0"/>
              </a:rPr>
              <a:t>The</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160"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160"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1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executed</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65"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once</a:t>
            </a:r>
            <a:endParaRPr lang="en-US" sz="2600" spc="-20" dirty="0">
              <a:latin typeface="Times New Roman" panose="02020603050405020304" pitchFamily="18" charset="0"/>
              <a:cs typeface="Times New Roman" panose="02020603050405020304" pitchFamily="18" charset="0"/>
            </a:endParaRPr>
          </a:p>
          <a:p>
            <a:pPr marL="12700" marR="5080">
              <a:spcBef>
                <a:spcPts val="95"/>
              </a:spcBef>
              <a:tabLst>
                <a:tab pos="1483360" algn="l"/>
              </a:tabLst>
            </a:pPr>
            <a:r>
              <a:rPr lang="en-US" sz="2600" spc="-10" dirty="0">
                <a:latin typeface="Times New Roman" panose="02020603050405020304" pitchFamily="18" charset="0"/>
                <a:cs typeface="Times New Roman" panose="02020603050405020304" pitchFamily="18" charset="0"/>
              </a:rPr>
              <a:t>because</a:t>
            </a:r>
            <a:r>
              <a:rPr lang="en-US" sz="2600" dirty="0">
                <a:latin typeface="Times New Roman" panose="02020603050405020304" pitchFamily="18" charset="0"/>
                <a:cs typeface="Times New Roman" panose="02020603050405020304" pitchFamily="18" charset="0"/>
              </a:rPr>
              <a:t>	</a:t>
            </a:r>
            <a:r>
              <a:rPr lang="en-US" sz="2600" spc="-10" dirty="0" err="1">
                <a:latin typeface="Times New Roman" panose="02020603050405020304" pitchFamily="18" charset="0"/>
                <a:cs typeface="Times New Roman" panose="02020603050405020304" pitchFamily="18" charset="0"/>
              </a:rPr>
              <a:t>condition</a:t>
            </a:r>
            <a:r>
              <a:rPr lang="en-US" sz="2600" spc="-25" dirty="0" err="1">
                <a:latin typeface="Times New Roman" panose="02020603050405020304" pitchFamily="18" charset="0"/>
                <a:cs typeface="Times New Roman" panose="02020603050405020304" pitchFamily="18" charset="0"/>
              </a:rPr>
              <a:t>is</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checked</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after</a:t>
            </a:r>
            <a:r>
              <a:rPr lang="en-US" sz="2600" dirty="0">
                <a:latin typeface="Times New Roman" panose="02020603050405020304" pitchFamily="18" charset="0"/>
                <a:cs typeface="Times New Roman" panose="02020603050405020304" pitchFamily="18" charset="0"/>
              </a:rPr>
              <a:t>	</a:t>
            </a:r>
            <a:r>
              <a:rPr lang="en-US" sz="2600" spc="-20" dirty="0">
                <a:latin typeface="Times New Roman" panose="02020603050405020304" pitchFamily="18" charset="0"/>
                <a:cs typeface="Times New Roman" panose="02020603050405020304" pitchFamily="18" charset="0"/>
              </a:rPr>
              <a:t>loop</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body. </a:t>
            </a:r>
            <a:r>
              <a:rPr lang="en-US" sz="2600" spc="-25" dirty="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syntax</a:t>
            </a:r>
            <a:r>
              <a:rPr lang="en-US" sz="2600" spc="-35"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as</a:t>
            </a:r>
            <a:r>
              <a:rPr lang="en-US" sz="2600" spc="-2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follows:</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do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statement(s)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while (expression); </a:t>
            </a:r>
            <a:endParaRPr lang="en-US" sz="2800" b="1"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endParaRPr lang="en-US" sz="2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743200" y="5180694"/>
            <a:ext cx="2820670" cy="477695"/>
          </a:xfrm>
          <a:prstGeom prst="rect">
            <a:avLst/>
          </a:prstGeom>
        </p:spPr>
        <p:txBody>
          <a:bodyPr vert="horz" wrap="square" lIns="0" tIns="12065" rIns="0" bIns="0" rtlCol="0">
            <a:spAutoFit/>
          </a:bodyPr>
          <a:lstStyle/>
          <a:p>
            <a:pPr marL="12700" marR="5080">
              <a:lnSpc>
                <a:spcPct val="150100"/>
              </a:lnSpc>
              <a:spcBef>
                <a:spcPts val="95"/>
              </a:spcBef>
              <a:tabLst>
                <a:tab pos="1483360" algn="l"/>
              </a:tabLst>
            </a:pPr>
            <a:endParaRPr lang="en-US" sz="2200" dirty="0">
              <a:latin typeface="Courier New"/>
              <a:cs typeface="Courier New"/>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3540" y="788923"/>
            <a:ext cx="7879080" cy="4398640"/>
          </a:xfrm>
          <a:prstGeom prst="rect">
            <a:avLst/>
          </a:prstGeom>
        </p:spPr>
        <p:txBody>
          <a:bodyPr vert="horz" wrap="square" lIns="0" tIns="8890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DoWhileExample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a:t>
            </a:r>
          </a:p>
          <a:p>
            <a:r>
              <a:rPr lang="en-US" sz="2800" b="1" dirty="0">
                <a:latin typeface="Times New Roman" panose="02020603050405020304" pitchFamily="18" charset="0"/>
                <a:cs typeface="Times New Roman" panose="02020603050405020304" pitchFamily="18" charset="0"/>
              </a:rPr>
              <a:t>do</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while</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&lt;=15);</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
        <p:nvSpPr>
          <p:cNvPr id="4" name="object 4"/>
          <p:cNvSpPr txBox="1"/>
          <p:nvPr/>
        </p:nvSpPr>
        <p:spPr>
          <a:xfrm>
            <a:off x="1298194" y="219125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26B3C-2DF2-F885-F93D-9AE131DC6766}"/>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rPr>
              <a:t>Nested Loops </a:t>
            </a:r>
            <a:endParaRPr lang="en-US" dirty="0">
              <a:solidFill>
                <a:srgbClr val="FF0000"/>
              </a:solidFill>
            </a:endParaRPr>
          </a:p>
          <a:p>
            <a:pPr marL="0" indent="0">
              <a:buNone/>
            </a:pPr>
            <a:r>
              <a:rPr lang="en-US" dirty="0"/>
              <a:t>One loop may be inside another. </a:t>
            </a:r>
          </a:p>
          <a:p>
            <a:pPr marL="0" indent="0">
              <a:buNone/>
            </a:pPr>
            <a:r>
              <a:rPr lang="en-US" b="1" dirty="0"/>
              <a:t>package</a:t>
            </a:r>
            <a:r>
              <a:rPr lang="en-US" dirty="0"/>
              <a:t> </a:t>
            </a:r>
            <a:r>
              <a:rPr lang="en-US" dirty="0" err="1"/>
              <a:t>oppsJavaProg</a:t>
            </a:r>
            <a:r>
              <a:rPr lang="en-US" dirty="0"/>
              <a:t>;</a:t>
            </a:r>
          </a:p>
          <a:p>
            <a:pPr marL="0" indent="0">
              <a:buNone/>
            </a:pPr>
            <a:r>
              <a:rPr lang="en-US" b="1" dirty="0"/>
              <a:t>public</a:t>
            </a:r>
            <a:r>
              <a:rPr lang="en-US" dirty="0"/>
              <a:t> </a:t>
            </a:r>
            <a:r>
              <a:rPr lang="en-US" b="1" dirty="0"/>
              <a:t>class</a:t>
            </a:r>
            <a:r>
              <a:rPr lang="en-US" dirty="0"/>
              <a:t> Nested{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t>
            </a:r>
            <a:r>
              <a:rPr lang="en-US" dirty="0" err="1"/>
              <a:t>i</a:t>
            </a:r>
            <a:r>
              <a:rPr lang="en-US" dirty="0"/>
              <a:t>, j; </a:t>
            </a:r>
          </a:p>
          <a:p>
            <a:pPr marL="0" indent="0">
              <a:buNone/>
            </a:pPr>
            <a:r>
              <a:rPr lang="en-US" b="1" dirty="0"/>
              <a:t>for</a:t>
            </a:r>
            <a:r>
              <a:rPr lang="en-US" dirty="0"/>
              <a:t>(</a:t>
            </a:r>
            <a:r>
              <a:rPr lang="en-US" dirty="0" err="1"/>
              <a:t>i</a:t>
            </a:r>
            <a:r>
              <a:rPr lang="en-US" dirty="0"/>
              <a:t>=1; </a:t>
            </a:r>
            <a:r>
              <a:rPr lang="en-US" dirty="0" err="1"/>
              <a:t>i</a:t>
            </a:r>
            <a:r>
              <a:rPr lang="en-US" dirty="0"/>
              <a:t>&lt;10; </a:t>
            </a:r>
            <a:r>
              <a:rPr lang="en-US" dirty="0" err="1"/>
              <a:t>i</a:t>
            </a:r>
            <a:r>
              <a:rPr lang="en-US" dirty="0"/>
              <a:t>++) </a:t>
            </a:r>
          </a:p>
          <a:p>
            <a:pPr marL="0" indent="0">
              <a:buNone/>
            </a:pPr>
            <a:r>
              <a:rPr lang="en-US" dirty="0"/>
              <a:t>{ </a:t>
            </a:r>
          </a:p>
          <a:p>
            <a:pPr marL="0" indent="0">
              <a:buNone/>
            </a:pPr>
            <a:r>
              <a:rPr lang="en-US" b="1" dirty="0"/>
              <a:t>for</a:t>
            </a:r>
            <a:r>
              <a:rPr lang="en-US" dirty="0"/>
              <a:t>(j=</a:t>
            </a:r>
            <a:r>
              <a:rPr lang="en-US" dirty="0" err="1"/>
              <a:t>i</a:t>
            </a:r>
            <a:r>
              <a:rPr lang="en-US" dirty="0"/>
              <a:t>; j&lt;10; </a:t>
            </a:r>
            <a:r>
              <a:rPr lang="en-US" dirty="0" err="1"/>
              <a:t>j++</a:t>
            </a:r>
            <a:r>
              <a:rPr lang="en-US" dirty="0"/>
              <a:t>) </a:t>
            </a:r>
          </a:p>
          <a:p>
            <a:pPr marL="0" indent="0">
              <a:buNone/>
            </a:pPr>
            <a:r>
              <a:rPr lang="en-US" dirty="0"/>
              <a:t>{ </a:t>
            </a:r>
          </a:p>
          <a:p>
            <a:pPr marL="0" indent="0">
              <a:buNone/>
            </a:pPr>
            <a:r>
              <a:rPr lang="en-US" dirty="0" err="1"/>
              <a:t>System.</a:t>
            </a:r>
            <a:r>
              <a:rPr lang="en-US" b="1" i="1" dirty="0" err="1"/>
              <a:t>out</a:t>
            </a:r>
            <a:r>
              <a:rPr lang="en-US" dirty="0" err="1"/>
              <a:t>.print</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 </a:t>
            </a:r>
          </a:p>
          <a:p>
            <a:pPr marL="0" indent="0">
              <a:buNone/>
            </a:pPr>
            <a:r>
              <a:rPr lang="en-US" dirty="0"/>
              <a:t>} </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1000612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76298"/>
            <a:ext cx="8129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Jumping</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135" dirty="0">
                <a:solidFill>
                  <a:srgbClr val="696363"/>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break</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statement</a:t>
            </a:r>
            <a:endParaRPr sz="2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3540" y="812697"/>
            <a:ext cx="8530590" cy="5306581"/>
          </a:xfrm>
          <a:prstGeom prst="rect">
            <a:avLst/>
          </a:prstGeom>
        </p:spPr>
        <p:txBody>
          <a:bodyPr vert="horz" wrap="square" lIns="0" tIns="12700" rIns="0" bIns="0" rtlCol="0">
            <a:spAutoFit/>
          </a:bodyPr>
          <a:lstStyle/>
          <a:p>
            <a:pPr marL="12065" marR="5080" algn="just">
              <a:lnSpc>
                <a:spcPct val="150000"/>
              </a:lnSpc>
              <a:spcBef>
                <a:spcPts val="100"/>
              </a:spcBef>
              <a:buClr>
                <a:srgbClr val="D24717"/>
              </a:buClr>
              <a:buSzPct val="83928"/>
              <a:tabLst>
                <a:tab pos="286385" algn="l"/>
              </a:tabLst>
            </a:pPr>
            <a:r>
              <a:rPr lang="en-US" sz="2000" b="1" dirty="0">
                <a:latin typeface="Times New Roman" panose="02020603050405020304" pitchFamily="18" charset="0"/>
                <a:cs typeface="Times New Roman" panose="02020603050405020304" pitchFamily="18" charset="0"/>
              </a:rPr>
              <a:t>Unconditional Control Statements </a:t>
            </a:r>
            <a:endParaRPr lang="en-US" sz="3200" dirty="0">
              <a:latin typeface="Times New Roman" panose="02020603050405020304" pitchFamily="18" charset="0"/>
              <a:cs typeface="Times New Roman" panose="02020603050405020304" pitchFamily="18" charset="0"/>
            </a:endParaRPr>
          </a:p>
          <a:p>
            <a:pPr marL="284480" marR="5080" indent="-272415" algn="just">
              <a:lnSpc>
                <a:spcPct val="150000"/>
              </a:lnSpc>
              <a:spcBef>
                <a:spcPts val="100"/>
              </a:spcBef>
              <a:buClr>
                <a:srgbClr val="D24717"/>
              </a:buClr>
              <a:buSzPct val="83928"/>
              <a:buFont typeface="Segoe UI Symbol"/>
              <a:buChar char="⚫"/>
              <a:tabLst>
                <a:tab pos="286385" algn="l"/>
              </a:tabLst>
            </a:pPr>
            <a:r>
              <a:rPr sz="2800" dirty="0">
                <a:latin typeface="Arial MT"/>
                <a:cs typeface="Arial MT"/>
              </a:rPr>
              <a:t>The</a:t>
            </a:r>
            <a:r>
              <a:rPr sz="2800" spc="-25" dirty="0">
                <a:latin typeface="Arial MT"/>
                <a:cs typeface="Arial MT"/>
              </a:rPr>
              <a:t>  </a:t>
            </a:r>
            <a:r>
              <a:rPr sz="2800" dirty="0">
                <a:latin typeface="Arial MT"/>
                <a:cs typeface="Arial MT"/>
              </a:rPr>
              <a:t>Java</a:t>
            </a:r>
            <a:r>
              <a:rPr sz="2800" spc="-20" dirty="0">
                <a:latin typeface="Arial MT"/>
                <a:cs typeface="Arial MT"/>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loop</a:t>
            </a:r>
            <a:r>
              <a:rPr sz="2800" b="1" spc="-2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or</a:t>
            </a:r>
            <a:r>
              <a:rPr sz="2800" spc="-20" dirty="0">
                <a:latin typeface="Arial MT"/>
                <a:cs typeface="Arial MT"/>
              </a:rPr>
              <a:t>  </a:t>
            </a:r>
            <a:r>
              <a:rPr sz="2800" b="1" i="1" spc="-10" dirty="0">
                <a:solidFill>
                  <a:srgbClr val="FF0000"/>
                </a:solidFill>
                <a:latin typeface="Times New Roman" panose="02020603050405020304" pitchFamily="18" charset="0"/>
                <a:cs typeface="Times New Roman" panose="02020603050405020304" pitchFamily="18" charset="0"/>
              </a:rPr>
              <a:t>switch 	</a:t>
            </a:r>
            <a:r>
              <a:rPr sz="2800" b="1" i="1" dirty="0">
                <a:solidFill>
                  <a:srgbClr val="FF0000"/>
                </a:solidFill>
                <a:latin typeface="Times New Roman" panose="02020603050405020304" pitchFamily="18" charset="0"/>
                <a:cs typeface="Times New Roman" panose="02020603050405020304" pitchFamily="18" charset="0"/>
              </a:rPr>
              <a:t>statement.</a:t>
            </a:r>
            <a:r>
              <a:rPr sz="2800" b="1" i="1" spc="9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It</a:t>
            </a:r>
            <a:r>
              <a:rPr sz="2800" spc="90" dirty="0">
                <a:latin typeface="Arial MT"/>
                <a:cs typeface="Arial MT"/>
              </a:rPr>
              <a:t> </a:t>
            </a:r>
            <a:r>
              <a:rPr sz="2800" dirty="0">
                <a:latin typeface="Arial MT"/>
                <a:cs typeface="Arial MT"/>
              </a:rPr>
              <a:t>breaks</a:t>
            </a:r>
            <a:r>
              <a:rPr sz="2800" spc="100" dirty="0">
                <a:latin typeface="Arial MT"/>
                <a:cs typeface="Arial MT"/>
              </a:rPr>
              <a:t> </a:t>
            </a:r>
            <a:r>
              <a:rPr sz="2800" dirty="0">
                <a:latin typeface="Arial MT"/>
                <a:cs typeface="Arial MT"/>
              </a:rPr>
              <a:t>the</a:t>
            </a:r>
            <a:r>
              <a:rPr sz="2800" spc="114" dirty="0">
                <a:latin typeface="Arial MT"/>
                <a:cs typeface="Arial MT"/>
              </a:rPr>
              <a:t> </a:t>
            </a:r>
            <a:r>
              <a:rPr sz="2800" dirty="0">
                <a:latin typeface="Arial MT"/>
                <a:cs typeface="Arial MT"/>
              </a:rPr>
              <a:t>current</a:t>
            </a:r>
            <a:r>
              <a:rPr sz="2800" spc="114" dirty="0">
                <a:latin typeface="Arial MT"/>
                <a:cs typeface="Arial MT"/>
              </a:rPr>
              <a:t> </a:t>
            </a:r>
            <a:r>
              <a:rPr sz="2800" dirty="0">
                <a:latin typeface="Arial MT"/>
                <a:cs typeface="Arial MT"/>
              </a:rPr>
              <a:t>flow</a:t>
            </a:r>
            <a:r>
              <a:rPr sz="2800" spc="90" dirty="0">
                <a:latin typeface="Arial MT"/>
                <a:cs typeface="Arial MT"/>
              </a:rPr>
              <a:t> </a:t>
            </a:r>
            <a:r>
              <a:rPr sz="2800" dirty="0">
                <a:latin typeface="Arial MT"/>
                <a:cs typeface="Arial MT"/>
              </a:rPr>
              <a:t>of</a:t>
            </a:r>
            <a:r>
              <a:rPr sz="2800" spc="90" dirty="0">
                <a:latin typeface="Arial MT"/>
                <a:cs typeface="Arial MT"/>
              </a:rPr>
              <a:t> </a:t>
            </a:r>
            <a:r>
              <a:rPr sz="2800" dirty="0">
                <a:latin typeface="Arial MT"/>
                <a:cs typeface="Arial MT"/>
              </a:rPr>
              <a:t>the</a:t>
            </a:r>
            <a:r>
              <a:rPr sz="2800" spc="120" dirty="0">
                <a:latin typeface="Arial MT"/>
                <a:cs typeface="Arial MT"/>
              </a:rPr>
              <a:t> </a:t>
            </a:r>
            <a:r>
              <a:rPr sz="2800" spc="-10" dirty="0">
                <a:latin typeface="Arial MT"/>
                <a:cs typeface="Arial MT"/>
              </a:rPr>
              <a:t>program 	</a:t>
            </a:r>
            <a:r>
              <a:rPr sz="2800" dirty="0">
                <a:latin typeface="Arial MT"/>
                <a:cs typeface="Arial MT"/>
              </a:rPr>
              <a:t>at</a:t>
            </a:r>
            <a:r>
              <a:rPr sz="2800" spc="135" dirty="0">
                <a:latin typeface="Arial MT"/>
                <a:cs typeface="Arial MT"/>
              </a:rPr>
              <a:t>  </a:t>
            </a:r>
            <a:r>
              <a:rPr sz="2800" dirty="0">
                <a:latin typeface="Arial MT"/>
                <a:cs typeface="Arial MT"/>
              </a:rPr>
              <a:t>specified</a:t>
            </a:r>
            <a:r>
              <a:rPr sz="2800" spc="140" dirty="0">
                <a:latin typeface="Arial MT"/>
                <a:cs typeface="Arial MT"/>
              </a:rPr>
              <a:t>  </a:t>
            </a:r>
            <a:r>
              <a:rPr sz="2800" dirty="0">
                <a:latin typeface="Arial MT"/>
                <a:cs typeface="Arial MT"/>
              </a:rPr>
              <a:t>condition.</a:t>
            </a:r>
            <a:r>
              <a:rPr sz="2800" spc="140" dirty="0">
                <a:latin typeface="Arial MT"/>
                <a:cs typeface="Arial MT"/>
              </a:rPr>
              <a:t>  </a:t>
            </a:r>
            <a:r>
              <a:rPr sz="2800" dirty="0">
                <a:latin typeface="Arial MT"/>
                <a:cs typeface="Arial MT"/>
              </a:rPr>
              <a:t>In</a:t>
            </a:r>
            <a:r>
              <a:rPr sz="2800" spc="130" dirty="0">
                <a:latin typeface="Arial MT"/>
                <a:cs typeface="Arial MT"/>
              </a:rPr>
              <a:t>  </a:t>
            </a:r>
            <a:r>
              <a:rPr sz="2800" dirty="0">
                <a:latin typeface="Arial MT"/>
                <a:cs typeface="Arial MT"/>
              </a:rPr>
              <a:t>case</a:t>
            </a:r>
            <a:r>
              <a:rPr sz="2800" spc="140" dirty="0">
                <a:latin typeface="Arial MT"/>
                <a:cs typeface="Arial MT"/>
              </a:rPr>
              <a:t>  </a:t>
            </a:r>
            <a:r>
              <a:rPr sz="2800" dirty="0">
                <a:latin typeface="Arial MT"/>
                <a:cs typeface="Arial MT"/>
              </a:rPr>
              <a:t>of</a:t>
            </a:r>
            <a:r>
              <a:rPr sz="2800" spc="130" dirty="0">
                <a:latin typeface="Arial MT"/>
                <a:cs typeface="Arial MT"/>
              </a:rPr>
              <a:t>  </a:t>
            </a:r>
            <a:r>
              <a:rPr sz="2800" dirty="0">
                <a:latin typeface="Arial MT"/>
                <a:cs typeface="Arial MT"/>
              </a:rPr>
              <a:t>inner</a:t>
            </a:r>
            <a:r>
              <a:rPr sz="2800" spc="140" dirty="0">
                <a:latin typeface="Arial MT"/>
                <a:cs typeface="Arial MT"/>
              </a:rPr>
              <a:t>  </a:t>
            </a:r>
            <a:r>
              <a:rPr sz="2800" dirty="0">
                <a:latin typeface="Arial MT"/>
                <a:cs typeface="Arial MT"/>
              </a:rPr>
              <a:t>loop,</a:t>
            </a:r>
            <a:r>
              <a:rPr sz="2800" spc="140" dirty="0">
                <a:latin typeface="Arial MT"/>
                <a:cs typeface="Arial MT"/>
              </a:rPr>
              <a:t>  </a:t>
            </a:r>
            <a:r>
              <a:rPr sz="2800" spc="-25" dirty="0">
                <a:latin typeface="Arial MT"/>
                <a:cs typeface="Arial MT"/>
              </a:rPr>
              <a:t>it 	</a:t>
            </a:r>
            <a:r>
              <a:rPr sz="2800" dirty="0">
                <a:latin typeface="Arial MT"/>
                <a:cs typeface="Arial MT"/>
              </a:rPr>
              <a:t>breaks</a:t>
            </a:r>
            <a:r>
              <a:rPr sz="2800" spc="-55" dirty="0">
                <a:latin typeface="Arial MT"/>
                <a:cs typeface="Arial MT"/>
              </a:rPr>
              <a:t> </a:t>
            </a:r>
            <a:r>
              <a:rPr sz="2800" dirty="0">
                <a:latin typeface="Arial MT"/>
                <a:cs typeface="Arial MT"/>
              </a:rPr>
              <a:t>only</a:t>
            </a:r>
            <a:r>
              <a:rPr sz="2800" spc="-55" dirty="0">
                <a:latin typeface="Arial MT"/>
                <a:cs typeface="Arial MT"/>
              </a:rPr>
              <a:t> </a:t>
            </a:r>
            <a:r>
              <a:rPr sz="2800" dirty="0">
                <a:latin typeface="Arial MT"/>
                <a:cs typeface="Arial MT"/>
              </a:rPr>
              <a:t>inner</a:t>
            </a:r>
            <a:r>
              <a:rPr sz="2800" spc="-35" dirty="0">
                <a:latin typeface="Arial MT"/>
                <a:cs typeface="Arial MT"/>
              </a:rPr>
              <a:t> </a:t>
            </a:r>
            <a:r>
              <a:rPr sz="2800" spc="-10" dirty="0">
                <a:latin typeface="Arial MT"/>
                <a:cs typeface="Arial MT"/>
              </a:rPr>
              <a:t>loop.</a:t>
            </a:r>
            <a:endParaRPr lang="en-US" sz="2800" spc="-10" dirty="0">
              <a:latin typeface="Arial MT"/>
              <a:cs typeface="Arial MT"/>
            </a:endParaRPr>
          </a:p>
          <a:p>
            <a:pPr marL="284480" marR="5080" indent="-272415" algn="just">
              <a:lnSpc>
                <a:spcPct val="150000"/>
              </a:lnSpc>
              <a:spcBef>
                <a:spcPts val="100"/>
              </a:spcBef>
              <a:buClr>
                <a:srgbClr val="D24717"/>
              </a:buClr>
              <a:buSzPct val="83928"/>
              <a:buFont typeface="Segoe UI Symbol"/>
              <a:buChar char="⚫"/>
              <a:tabLst>
                <a:tab pos="286385" algn="l"/>
              </a:tabLst>
            </a:pPr>
            <a:endParaRPr sz="2800" dirty="0">
              <a:latin typeface="Arial MT"/>
              <a:cs typeface="Arial MT"/>
            </a:endParaRPr>
          </a:p>
          <a:p>
            <a:pPr marL="12700">
              <a:lnSpc>
                <a:spcPct val="100000"/>
              </a:lnSpc>
            </a:pPr>
            <a:r>
              <a:rPr sz="2400" b="1" spc="-10" dirty="0">
                <a:latin typeface="Courier New"/>
                <a:cs typeface="Courier New"/>
              </a:rPr>
              <a:t>Syntax:</a:t>
            </a:r>
            <a:endParaRPr sz="2400" dirty="0">
              <a:latin typeface="Courier New"/>
              <a:cs typeface="Courier New"/>
            </a:endParaRPr>
          </a:p>
          <a:p>
            <a:pPr marL="927100">
              <a:lnSpc>
                <a:spcPct val="100000"/>
              </a:lnSpc>
              <a:spcBef>
                <a:spcPts val="2039"/>
              </a:spcBef>
            </a:pPr>
            <a:r>
              <a:rPr sz="2400" spc="-10" dirty="0">
                <a:latin typeface="Courier New"/>
                <a:cs typeface="Courier New"/>
              </a:rPr>
              <a:t>jump-statement;</a:t>
            </a:r>
            <a:endParaRPr sz="2400" dirty="0">
              <a:latin typeface="Courier New"/>
              <a:cs typeface="Courier New"/>
            </a:endParaRPr>
          </a:p>
          <a:p>
            <a:pPr marL="927100">
              <a:lnSpc>
                <a:spcPct val="100000"/>
              </a:lnSpc>
              <a:spcBef>
                <a:spcPts val="2039"/>
              </a:spcBef>
            </a:pPr>
            <a:r>
              <a:rPr sz="2400" b="1" spc="-10" dirty="0">
                <a:latin typeface="Courier New"/>
                <a:cs typeface="Courier New"/>
              </a:rPr>
              <a:t>break</a:t>
            </a:r>
            <a:r>
              <a:rPr sz="2400" spc="-10" dirty="0">
                <a:latin typeface="Courier New"/>
                <a:cs typeface="Courier New"/>
              </a:rPr>
              <a:t>;</a:t>
            </a:r>
            <a:endParaRPr sz="2400" dirty="0">
              <a:latin typeface="Courier New"/>
              <a:cs typeface="Courier New"/>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395" y="13276"/>
            <a:ext cx="8265159"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Jumping</a:t>
            </a:r>
            <a:r>
              <a:rPr spc="-80" dirty="0">
                <a:solidFill>
                  <a:srgbClr val="696363"/>
                </a:solidFill>
              </a:rPr>
              <a:t> </a:t>
            </a:r>
            <a:r>
              <a:rPr dirty="0">
                <a:solidFill>
                  <a:srgbClr val="696363"/>
                </a:solidFill>
              </a:rPr>
              <a:t>Statements</a:t>
            </a:r>
            <a:r>
              <a:rPr spc="-55" dirty="0">
                <a:solidFill>
                  <a:srgbClr val="696363"/>
                </a:solidFill>
              </a:rPr>
              <a:t> </a:t>
            </a:r>
            <a:r>
              <a:rPr dirty="0">
                <a:solidFill>
                  <a:srgbClr val="696363"/>
                </a:solidFill>
              </a:rPr>
              <a:t>–</a:t>
            </a:r>
            <a:r>
              <a:rPr spc="-160" dirty="0">
                <a:solidFill>
                  <a:srgbClr val="696363"/>
                </a:solidFill>
              </a:rPr>
              <a:t> </a:t>
            </a:r>
            <a:r>
              <a:rPr sz="3200" dirty="0">
                <a:solidFill>
                  <a:srgbClr val="FF0000"/>
                </a:solidFill>
              </a:rPr>
              <a:t>break</a:t>
            </a:r>
            <a:r>
              <a:rPr sz="3200" spc="-65" dirty="0"/>
              <a:t> </a:t>
            </a:r>
            <a:r>
              <a:rPr sz="3200" spc="-10" dirty="0"/>
              <a:t>statement-</a:t>
            </a:r>
            <a:endParaRPr sz="3200" dirty="0"/>
          </a:p>
        </p:txBody>
      </p:sp>
      <p:sp>
        <p:nvSpPr>
          <p:cNvPr id="3" name="object 3"/>
          <p:cNvSpPr txBox="1"/>
          <p:nvPr/>
        </p:nvSpPr>
        <p:spPr>
          <a:xfrm>
            <a:off x="299395" y="865107"/>
            <a:ext cx="7878445" cy="6127318"/>
          </a:xfrm>
          <a:prstGeom prst="rect">
            <a:avLst/>
          </a:prstGeom>
        </p:spPr>
        <p:txBody>
          <a:bodyPr vert="horz" wrap="square" lIns="0" tIns="9398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BreakExample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for</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=1;i&lt;=10;i++)</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if</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==5)</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	break</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D3DD5-7712-078F-193F-A145F88098E1}"/>
              </a:ext>
            </a:extLst>
          </p:cNvPr>
          <p:cNvSpPr>
            <a:spLocks noGrp="1"/>
          </p:cNvSpPr>
          <p:nvPr>
            <p:ph idx="1"/>
          </p:nvPr>
        </p:nvSpPr>
        <p:spPr>
          <a:xfrm>
            <a:off x="457200" y="381000"/>
            <a:ext cx="8229600" cy="5745163"/>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oppsJavaProg</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BreakLoop</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&lt;100;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if</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10) {</a:t>
            </a:r>
          </a:p>
          <a:p>
            <a:pPr marL="0" indent="0">
              <a:buNone/>
            </a:pPr>
            <a:r>
              <a:rPr lang="en-US" sz="2400" b="1" dirty="0">
                <a:latin typeface="Times New Roman" panose="02020603050405020304" pitchFamily="18" charset="0"/>
                <a:cs typeface="Times New Roman" panose="02020603050405020304" pitchFamily="18" charset="0"/>
              </a:rPr>
              <a:t>break</a:t>
            </a:r>
            <a:r>
              <a:rPr lang="en-US" sz="2400" dirty="0">
                <a:latin typeface="Times New Roman" panose="02020603050405020304" pitchFamily="18" charset="0"/>
                <a:cs typeface="Times New Roman" panose="02020603050405020304" pitchFamily="18" charset="0"/>
              </a:rPr>
              <a:t>; // terminate loop if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is 10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 Loop complete.");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6838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1853" y="264109"/>
            <a:ext cx="8610600" cy="5363648"/>
          </a:xfrm>
          <a:prstGeom prst="rect">
            <a:avLst/>
          </a:prstGeom>
        </p:spPr>
        <p:txBody>
          <a:bodyPr vert="horz" wrap="square" lIns="0" tIns="13335" rIns="0" bIns="0" rtlCol="0">
            <a:spAutoFit/>
          </a:bodyPr>
          <a:lstStyle/>
          <a:p>
            <a:pPr marL="12700" algn="ctr">
              <a:lnSpc>
                <a:spcPct val="100000"/>
              </a:lnSpc>
              <a:spcBef>
                <a:spcPts val="105"/>
              </a:spcBef>
            </a:pPr>
            <a:r>
              <a:rPr lang="en-US" sz="4000" dirty="0">
                <a:solidFill>
                  <a:srgbClr val="696363"/>
                </a:solidFill>
                <a:latin typeface="Times New Roman" panose="02020603050405020304" pitchFamily="18" charset="0"/>
                <a:cs typeface="Times New Roman" panose="02020603050405020304" pitchFamily="18" charset="0"/>
              </a:rPr>
              <a:t>Jumping</a:t>
            </a:r>
            <a:r>
              <a:rPr lang="en-US" sz="4000" spc="-85"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Statements</a:t>
            </a:r>
            <a:r>
              <a:rPr lang="en-US" sz="4000" spc="-60"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a:t>
            </a:r>
            <a:r>
              <a:rPr lang="en-US" sz="4000" spc="-165" dirty="0">
                <a:solidFill>
                  <a:srgbClr val="696363"/>
                </a:solidFill>
                <a:latin typeface="Times New Roman" panose="02020603050405020304" pitchFamily="18" charset="0"/>
                <a:cs typeface="Times New Roman" panose="02020603050405020304" pitchFamily="18" charset="0"/>
              </a:rPr>
              <a:t> </a:t>
            </a:r>
            <a:r>
              <a:rPr lang="en-US" sz="2800" spc="-10" dirty="0">
                <a:solidFill>
                  <a:srgbClr val="FF0000"/>
                </a:solidFill>
                <a:latin typeface="Times New Roman" panose="02020603050405020304" pitchFamily="18" charset="0"/>
                <a:cs typeface="Times New Roman" panose="02020603050405020304" pitchFamily="18" charset="0"/>
              </a:rPr>
              <a:t>continue</a:t>
            </a:r>
          </a:p>
          <a:p>
            <a:pPr marL="12700">
              <a:lnSpc>
                <a:spcPct val="100000"/>
              </a:lnSpc>
              <a:spcBef>
                <a:spcPts val="105"/>
              </a:spcBef>
            </a:pPr>
            <a:endParaRPr lang="en-US" sz="2000" spc="-10" dirty="0">
              <a:latin typeface="Arial MT"/>
              <a:cs typeface="Arial MT"/>
            </a:endParaRPr>
          </a:p>
          <a:p>
            <a:pPr marL="12700" algn="just">
              <a:lnSpc>
                <a:spcPct val="100000"/>
              </a:lnSpc>
              <a:spcBef>
                <a:spcPts val="105"/>
              </a:spcBef>
            </a:pPr>
            <a:r>
              <a:rPr sz="3600" dirty="0">
                <a:latin typeface="Times New Roman" panose="02020603050405020304" pitchFamily="18" charset="0"/>
                <a:cs typeface="Times New Roman" panose="02020603050405020304" pitchFamily="18" charset="0"/>
              </a:rPr>
              <a:t>The</a:t>
            </a:r>
            <a:r>
              <a:rPr sz="3600" spc="60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Java</a:t>
            </a:r>
            <a:r>
              <a:rPr sz="3600" spc="600" dirty="0">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a:t>
            </a:r>
            <a:r>
              <a:rPr sz="3600" b="1" i="1" spc="61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statement</a:t>
            </a:r>
            <a:r>
              <a:rPr sz="3600" b="1" i="1" spc="61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is</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used</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to</a:t>
            </a:r>
            <a:r>
              <a:rPr sz="3600" b="1" i="1" spc="60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continue </a:t>
            </a:r>
            <a:r>
              <a:rPr sz="3600" b="1" i="1" dirty="0">
                <a:solidFill>
                  <a:srgbClr val="FF0000"/>
                </a:solidFill>
                <a:latin typeface="Times New Roman" panose="02020603050405020304" pitchFamily="18" charset="0"/>
                <a:cs typeface="Times New Roman" panose="02020603050405020304" pitchFamily="18" charset="0"/>
              </a:rPr>
              <a:t>loop.</a:t>
            </a:r>
            <a:r>
              <a:rPr sz="3600" b="1" i="1" spc="520" dirty="0">
                <a:solidFill>
                  <a:srgbClr val="FF0000"/>
                </a:solidFill>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It</a:t>
            </a:r>
            <a:r>
              <a:rPr sz="3600" spc="509"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continues</a:t>
            </a:r>
            <a:r>
              <a:rPr sz="3600" spc="54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current</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flow</a:t>
            </a:r>
            <a:r>
              <a:rPr sz="3600" spc="5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of</a:t>
            </a:r>
            <a:r>
              <a:rPr sz="3600" spc="5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4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program </a:t>
            </a:r>
            <a:r>
              <a:rPr sz="3600" dirty="0">
                <a:latin typeface="Times New Roman" panose="02020603050405020304" pitchFamily="18" charset="0"/>
                <a:cs typeface="Times New Roman" panose="02020603050405020304" pitchFamily="18" charset="0"/>
              </a:rPr>
              <a:t>and</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skips</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remaining</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code</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at</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specified</a:t>
            </a:r>
            <a:r>
              <a:rPr sz="3600" spc="3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condition. </a:t>
            </a:r>
            <a:r>
              <a:rPr sz="3600" b="1" i="1" dirty="0">
                <a:solidFill>
                  <a:srgbClr val="FF0000"/>
                </a:solidFill>
                <a:latin typeface="Times New Roman" panose="02020603050405020304" pitchFamily="18" charset="0"/>
                <a:cs typeface="Times New Roman" panose="02020603050405020304" pitchFamily="18" charset="0"/>
              </a:rPr>
              <a:t>In</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case</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of</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loop,</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it</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continues</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only</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loop.</a:t>
            </a:r>
            <a:endParaRPr sz="3600" b="1" i="1" dirty="0">
              <a:solidFill>
                <a:srgbClr val="FF0000"/>
              </a:solidFill>
              <a:latin typeface="Times New Roman" panose="02020603050405020304" pitchFamily="18" charset="0"/>
              <a:cs typeface="Times New Roman" panose="02020603050405020304" pitchFamily="18" charset="0"/>
            </a:endParaRPr>
          </a:p>
          <a:p>
            <a:pPr marL="93980">
              <a:lnSpc>
                <a:spcPct val="100000"/>
              </a:lnSpc>
            </a:pPr>
            <a:r>
              <a:rPr sz="3200" b="1" spc="-10" dirty="0">
                <a:latin typeface="Times New Roman" panose="02020603050405020304" pitchFamily="18" charset="0"/>
                <a:cs typeface="Times New Roman" panose="02020603050405020304" pitchFamily="18" charset="0"/>
              </a:rPr>
              <a:t>Syntax:</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spc="-10" dirty="0">
                <a:latin typeface="Times New Roman" panose="02020603050405020304" pitchFamily="18" charset="0"/>
                <a:cs typeface="Times New Roman" panose="02020603050405020304" pitchFamily="18" charset="0"/>
              </a:rPr>
              <a:t>jump-statement;</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b="1" spc="-10" dirty="0">
                <a:latin typeface="Times New Roman" panose="02020603050405020304" pitchFamily="18" charset="0"/>
                <a:cs typeface="Times New Roman" panose="02020603050405020304" pitchFamily="18" charset="0"/>
              </a:rPr>
              <a:t>continue</a:t>
            </a:r>
            <a:r>
              <a:rPr sz="3200" spc="-1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4253" y="570051"/>
            <a:ext cx="7960359" cy="1313180"/>
          </a:xfrm>
          <a:prstGeom prst="rect">
            <a:avLst/>
          </a:prstGeom>
        </p:spPr>
        <p:txBody>
          <a:bodyPr vert="horz" wrap="square" lIns="0" tIns="127000" rIns="0" bIns="0" rtlCol="0">
            <a:spAutoFit/>
          </a:bodyPr>
          <a:lstStyle/>
          <a:p>
            <a:pPr marL="93980">
              <a:lnSpc>
                <a:spcPct val="100000"/>
              </a:lnSpc>
              <a:spcBef>
                <a:spcPts val="67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ContinueExample</a:t>
            </a:r>
            <a:endParaRPr sz="2400" dirty="0">
              <a:latin typeface="Courier New"/>
              <a:cs typeface="Courier New"/>
            </a:endParaRPr>
          </a:p>
          <a:p>
            <a:pPr marL="93980">
              <a:lnSpc>
                <a:spcPct val="100000"/>
              </a:lnSpc>
              <a:spcBef>
                <a:spcPts val="310"/>
              </a:spcBef>
            </a:pPr>
            <a:r>
              <a:rPr sz="2400" spc="-50" dirty="0">
                <a:latin typeface="Courier New"/>
                <a:cs typeface="Courier New"/>
              </a:rPr>
              <a:t>{</a:t>
            </a:r>
            <a:endParaRPr sz="2400" dirty="0">
              <a:latin typeface="Courier New"/>
              <a:cs typeface="Courier New"/>
            </a:endParaRPr>
          </a:p>
          <a:p>
            <a:pPr marL="1009015">
              <a:lnSpc>
                <a:spcPct val="100000"/>
              </a:lnSpc>
              <a:spcBef>
                <a:spcPts val="310"/>
              </a:spcBef>
            </a:pPr>
            <a:r>
              <a:rPr sz="2400" b="1" dirty="0">
                <a:latin typeface="Courier New"/>
                <a:cs typeface="Courier New"/>
              </a:rPr>
              <a:t>public</a:t>
            </a:r>
            <a:r>
              <a:rPr sz="2400" b="1" spc="-75" dirty="0">
                <a:latin typeface="Courier New"/>
                <a:cs typeface="Courier New"/>
              </a:rPr>
              <a:t> </a:t>
            </a:r>
            <a:r>
              <a:rPr sz="2400" b="1" dirty="0">
                <a:latin typeface="Courier New"/>
                <a:cs typeface="Courier New"/>
              </a:rPr>
              <a:t>static</a:t>
            </a:r>
            <a:r>
              <a:rPr sz="2400" b="1" spc="-50" dirty="0">
                <a:latin typeface="Courier New"/>
                <a:cs typeface="Courier New"/>
              </a:rPr>
              <a:t> </a:t>
            </a:r>
            <a:r>
              <a:rPr sz="2400" b="1" dirty="0">
                <a:latin typeface="Courier New"/>
                <a:cs typeface="Courier New"/>
              </a:rPr>
              <a:t>void</a:t>
            </a:r>
            <a:r>
              <a:rPr sz="2400" b="1" spc="-45"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10" dirty="0">
                <a:latin typeface="Courier New"/>
                <a:cs typeface="Courier New"/>
              </a:rPr>
              <a:t>args)</a:t>
            </a:r>
            <a:endParaRPr sz="2400" dirty="0">
              <a:latin typeface="Courier New"/>
              <a:cs typeface="Courier New"/>
            </a:endParaRPr>
          </a:p>
        </p:txBody>
      </p:sp>
      <p:sp>
        <p:nvSpPr>
          <p:cNvPr id="4" name="object 4"/>
          <p:cNvSpPr txBox="1"/>
          <p:nvPr/>
        </p:nvSpPr>
        <p:spPr>
          <a:xfrm>
            <a:off x="1298194" y="2054097"/>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p:nvPr/>
        </p:nvSpPr>
        <p:spPr>
          <a:xfrm>
            <a:off x="2212594" y="2419858"/>
            <a:ext cx="4043679" cy="2458085"/>
          </a:xfrm>
          <a:prstGeom prst="rect">
            <a:avLst/>
          </a:prstGeom>
        </p:spPr>
        <p:txBody>
          <a:bodyPr vert="horz" wrap="square" lIns="0" tIns="52069" rIns="0" bIns="0" rtlCol="0">
            <a:spAutoFit/>
          </a:bodyPr>
          <a:lstStyle/>
          <a:p>
            <a:pPr marL="12700">
              <a:lnSpc>
                <a:spcPct val="100000"/>
              </a:lnSpc>
              <a:spcBef>
                <a:spcPts val="409"/>
              </a:spcBef>
            </a:pPr>
            <a:r>
              <a:rPr sz="2400" b="1" dirty="0">
                <a:latin typeface="Courier New"/>
                <a:cs typeface="Courier New"/>
              </a:rPr>
              <a:t>for</a:t>
            </a:r>
            <a:r>
              <a:rPr sz="2400" dirty="0">
                <a:latin typeface="Courier New"/>
                <a:cs typeface="Courier New"/>
              </a:rPr>
              <a:t>(</a:t>
            </a:r>
            <a:r>
              <a:rPr sz="2400" b="1" dirty="0">
                <a:latin typeface="Courier New"/>
                <a:cs typeface="Courier New"/>
              </a:rPr>
              <a:t>int</a:t>
            </a:r>
            <a:r>
              <a:rPr sz="2400" b="1" spc="-50" dirty="0">
                <a:latin typeface="Courier New"/>
                <a:cs typeface="Courier New"/>
              </a:rPr>
              <a:t> </a:t>
            </a:r>
            <a:r>
              <a:rPr sz="2400" spc="-10" dirty="0">
                <a:latin typeface="Courier New"/>
                <a:cs typeface="Courier New"/>
              </a:rPr>
              <a:t>i=1;i&lt;=10;i++)</a:t>
            </a:r>
            <a:endParaRPr sz="2400" dirty="0">
              <a:latin typeface="Courier New"/>
              <a:cs typeface="Courier New"/>
            </a:endParaRPr>
          </a:p>
          <a:p>
            <a:pPr marL="12700">
              <a:lnSpc>
                <a:spcPct val="100000"/>
              </a:lnSpc>
              <a:spcBef>
                <a:spcPts val="310"/>
              </a:spcBef>
            </a:pPr>
            <a:r>
              <a:rPr sz="2400" spc="-50" dirty="0">
                <a:latin typeface="Courier New"/>
                <a:cs typeface="Courier New"/>
              </a:rPr>
              <a:t>{</a:t>
            </a:r>
            <a:endParaRPr sz="2400" dirty="0">
              <a:latin typeface="Courier New"/>
              <a:cs typeface="Courier New"/>
            </a:endParaRPr>
          </a:p>
          <a:p>
            <a:pPr marL="927100">
              <a:lnSpc>
                <a:spcPct val="100000"/>
              </a:lnSpc>
              <a:spcBef>
                <a:spcPts val="315"/>
              </a:spcBef>
            </a:pPr>
            <a:r>
              <a:rPr sz="2400" b="1" spc="-10" dirty="0">
                <a:latin typeface="Courier New"/>
                <a:cs typeface="Courier New"/>
              </a:rPr>
              <a:t>if</a:t>
            </a:r>
            <a:r>
              <a:rPr sz="2400" spc="-10" dirty="0">
                <a:latin typeface="Courier New"/>
                <a:cs typeface="Courier New"/>
              </a:rPr>
              <a:t>(i==5)</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a:p>
            <a:pPr marL="1841500">
              <a:lnSpc>
                <a:spcPct val="100000"/>
              </a:lnSpc>
              <a:spcBef>
                <a:spcPts val="310"/>
              </a:spcBef>
            </a:pPr>
            <a:r>
              <a:rPr sz="2400" b="1" spc="-10" dirty="0">
                <a:latin typeface="Courier New"/>
                <a:cs typeface="Courier New"/>
              </a:rPr>
              <a:t>continue</a:t>
            </a:r>
            <a:r>
              <a:rPr sz="2400" spc="-10" dirty="0">
                <a:latin typeface="Courier New"/>
                <a:cs typeface="Courier New"/>
              </a:rPr>
              <a:t>;</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p:txBody>
      </p:sp>
      <p:sp>
        <p:nvSpPr>
          <p:cNvPr id="6" name="object 6"/>
          <p:cNvSpPr txBox="1"/>
          <p:nvPr/>
        </p:nvSpPr>
        <p:spPr>
          <a:xfrm>
            <a:off x="3127375" y="4891862"/>
            <a:ext cx="4043045"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System.out.println(i);</a:t>
            </a:r>
            <a:endParaRPr sz="2400" dirty="0">
              <a:latin typeface="Courier New"/>
              <a:cs typeface="Courier New"/>
            </a:endParaRPr>
          </a:p>
        </p:txBody>
      </p:sp>
      <p:sp>
        <p:nvSpPr>
          <p:cNvPr id="7" name="object 7"/>
          <p:cNvSpPr txBox="1"/>
          <p:nvPr/>
        </p:nvSpPr>
        <p:spPr>
          <a:xfrm>
            <a:off x="2212594" y="5297830"/>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8" name="object 8"/>
          <p:cNvSpPr txBox="1"/>
          <p:nvPr/>
        </p:nvSpPr>
        <p:spPr>
          <a:xfrm>
            <a:off x="1298194" y="5703214"/>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9" name="object 9"/>
          <p:cNvSpPr txBox="1"/>
          <p:nvPr/>
        </p:nvSpPr>
        <p:spPr>
          <a:xfrm>
            <a:off x="383540" y="610859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928C2-22CB-2DB6-D488-A77363E8BCDD}"/>
              </a:ext>
            </a:extLst>
          </p:cNvPr>
          <p:cNvSpPr>
            <a:spLocks noGrp="1"/>
          </p:cNvSpPr>
          <p:nvPr>
            <p:ph idx="1"/>
          </p:nvPr>
        </p:nvSpPr>
        <p:spPr>
          <a:xfrm>
            <a:off x="457200" y="533400"/>
            <a:ext cx="8229600" cy="5592763"/>
          </a:xfrm>
        </p:spPr>
        <p:txBody>
          <a:bodyPr>
            <a:normAutofit fontScale="92500" lnSpcReduction="10000"/>
          </a:bodyPr>
          <a:lstStyle/>
          <a:p>
            <a:pPr marL="0" indent="0" algn="ctr">
              <a:buNone/>
            </a:pPr>
            <a:r>
              <a:rPr lang="en-US" b="1" dirty="0">
                <a:latin typeface="Times New Roman" panose="02020603050405020304" pitchFamily="18" charset="0"/>
                <a:cs typeface="Times New Roman" panose="02020603050405020304" pitchFamily="18" charset="0"/>
              </a:rPr>
              <a:t>return statement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a:t>
            </a:r>
            <a:r>
              <a:rPr lang="en-US" b="1" dirty="0">
                <a:latin typeface="Times New Roman" panose="02020603050405020304" pitchFamily="18" charset="0"/>
                <a:cs typeface="Times New Roman" panose="02020603050405020304" pitchFamily="18" charset="0"/>
              </a:rPr>
              <a:t>return statement</a:t>
            </a:r>
            <a:r>
              <a:rPr lang="en-US" dirty="0">
                <a:latin typeface="Times New Roman" panose="02020603050405020304" pitchFamily="18" charset="0"/>
                <a:cs typeface="Times New Roman" panose="02020603050405020304" pitchFamily="18" charset="0"/>
              </a:rPr>
              <a:t> is a jump statement that immediately </a:t>
            </a:r>
            <a:r>
              <a:rPr lang="en-US" b="1" dirty="0">
                <a:latin typeface="Times New Roman" panose="02020603050405020304" pitchFamily="18" charset="0"/>
                <a:cs typeface="Times New Roman" panose="02020603050405020304" pitchFamily="18" charset="0"/>
              </a:rPr>
              <a:t>terminates the execution of the current method</a:t>
            </a:r>
            <a:r>
              <a:rPr lang="en-US" dirty="0">
                <a:latin typeface="Times New Roman" panose="02020603050405020304" pitchFamily="18" charset="0"/>
                <a:cs typeface="Times New Roman" panose="02020603050405020304" pitchFamily="18" charset="0"/>
              </a:rPr>
              <a:t> and passes the control back to the calling method.</a:t>
            </a:r>
          </a:p>
          <a:p>
            <a:pPr algn="just"/>
            <a:r>
              <a:rPr lang="en-US" dirty="0"/>
              <a:t>The return keyword is used in two ways, depending on whether the method returns a data value or is declared void</a:t>
            </a:r>
          </a:p>
          <a:p>
            <a:pPr marL="0" indent="0" algn="just">
              <a:buNone/>
            </a:pPr>
            <a:r>
              <a:rPr lang="en-US" b="1" dirty="0">
                <a:solidFill>
                  <a:srgbClr val="FF0000"/>
                </a:solidFill>
              </a:rPr>
              <a:t>Syntax:- </a:t>
            </a:r>
          </a:p>
          <a:p>
            <a:pPr marL="0" indent="0" algn="just">
              <a:buNone/>
            </a:pPr>
            <a:r>
              <a:rPr lang="en-US" b="1" dirty="0"/>
              <a:t>return value; </a:t>
            </a:r>
            <a:r>
              <a:rPr lang="en-US" dirty="0"/>
              <a:t>// Used in methods that have a specific return type </a:t>
            </a:r>
          </a:p>
          <a:p>
            <a:pPr marL="0" indent="0" algn="just">
              <a:buNone/>
            </a:pPr>
            <a:r>
              <a:rPr lang="en-US" b="1" dirty="0"/>
              <a:t>return; </a:t>
            </a:r>
            <a:r>
              <a:rPr lang="en-US" dirty="0"/>
              <a:t>// Used in void methods to exit early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5466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9C5DE-6BD5-0CD7-61DC-336A641A2571}"/>
              </a:ext>
            </a:extLst>
          </p:cNvPr>
          <p:cNvSpPr>
            <a:spLocks noGrp="1"/>
          </p:cNvSpPr>
          <p:nvPr>
            <p:ph idx="1"/>
          </p:nvPr>
        </p:nvSpPr>
        <p:spPr>
          <a:xfrm>
            <a:off x="457200" y="304800"/>
            <a:ext cx="8229600" cy="5821363"/>
          </a:xfrm>
        </p:spPr>
        <p:txBody>
          <a:bodyPr>
            <a:normAutofit/>
          </a:bodyPr>
          <a:lstStyle/>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Calculatorreturn</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outcome = </a:t>
            </a:r>
            <a:r>
              <a:rPr lang="en-US" sz="2400" i="1"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(10, 5); // Receives control and value back</a:t>
            </a:r>
          </a:p>
          <a:p>
            <a:pPr marL="0" indent="0">
              <a:lnSpc>
                <a:spcPct val="120000"/>
              </a:lnSpc>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("Total: " + outcome);</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b) {</a:t>
            </a:r>
          </a:p>
          <a:p>
            <a:pPr marL="0" indent="0">
              <a:lnSpc>
                <a:spcPct val="120000"/>
              </a:lnSpc>
              <a:buNone/>
            </a:pPr>
            <a:r>
              <a:rPr lang="en-US" sz="2400" b="1" dirty="0">
                <a:latin typeface="Times New Roman" panose="02020603050405020304" pitchFamily="18" charset="0"/>
                <a:cs typeface="Times New Roman" panose="02020603050405020304" pitchFamily="18" charset="0"/>
              </a:rPr>
              <a:t>return</a:t>
            </a:r>
            <a:r>
              <a:rPr lang="en-US" sz="2400" dirty="0">
                <a:latin typeface="Times New Roman" panose="02020603050405020304" pitchFamily="18" charset="0"/>
                <a:cs typeface="Times New Roman" panose="02020603050405020304" pitchFamily="18" charset="0"/>
              </a:rPr>
              <a:t> a + b; // Instantly jumps back to main with the sum</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147859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A6E9A5-E138-9FBE-051D-88F22936D989}"/>
              </a:ext>
            </a:extLst>
          </p:cNvPr>
          <p:cNvSpPr>
            <a:spLocks noGrp="1"/>
          </p:cNvSpPr>
          <p:nvPr>
            <p:ph idx="1"/>
          </p:nvPr>
        </p:nvSpPr>
        <p:spPr>
          <a:xfrm>
            <a:off x="457200" y="190500"/>
            <a:ext cx="8229600" cy="6477000"/>
          </a:xfrm>
        </p:spPr>
        <p:txBody>
          <a:bodyPr>
            <a:normAutofit fontScale="92500" lnSpcReduction="10000"/>
          </a:bodyPr>
          <a:lstStyle/>
          <a:p>
            <a:pPr marL="0" indent="0" algn="ctr">
              <a:buNone/>
            </a:pPr>
            <a:r>
              <a:rPr lang="en-US" sz="2200" b="1" dirty="0">
                <a:solidFill>
                  <a:srgbClr val="FF0000"/>
                </a:solidFill>
                <a:latin typeface="Times New Roman" panose="02020603050405020304" pitchFamily="18" charset="0"/>
                <a:cs typeface="Times New Roman" panose="02020603050405020304" pitchFamily="18" charset="0"/>
              </a:rPr>
              <a:t>TYPE CONVERSION AND CASTING </a:t>
            </a:r>
            <a:endParaRPr lang="en-US" sz="22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Type Casting </a:t>
            </a:r>
            <a:endParaRPr lang="en-US" sz="2200" dirty="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When a data type is converted into another data type by a programmer using the casting operator </a:t>
            </a:r>
            <a:r>
              <a:rPr lang="en-US" sz="2200" b="1" i="1" dirty="0">
                <a:solidFill>
                  <a:srgbClr val="C00000"/>
                </a:solidFill>
                <a:latin typeface="Times New Roman" panose="02020603050405020304" pitchFamily="18" charset="0"/>
                <a:cs typeface="Times New Roman" panose="02020603050405020304" pitchFamily="18" charset="0"/>
              </a:rPr>
              <a:t>while writing a program code</a:t>
            </a:r>
            <a:r>
              <a:rPr lang="en-US" sz="2200" dirty="0">
                <a:latin typeface="Times New Roman" panose="02020603050405020304" pitchFamily="18" charset="0"/>
                <a:cs typeface="Times New Roman" panose="02020603050405020304" pitchFamily="18" charset="0"/>
              </a:rPr>
              <a:t>, the mechanism is known as </a:t>
            </a:r>
            <a:r>
              <a:rPr lang="en-US" sz="2200" b="1" dirty="0">
                <a:latin typeface="Times New Roman" panose="02020603050405020304" pitchFamily="18" charset="0"/>
                <a:cs typeface="Times New Roman" panose="02020603050405020304" pitchFamily="18" charset="0"/>
              </a:rPr>
              <a:t>type casting</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In typing casting, the destination </a:t>
            </a:r>
            <a:r>
              <a:rPr lang="en-US" sz="2200" b="1" i="1" dirty="0">
                <a:solidFill>
                  <a:srgbClr val="C00000"/>
                </a:solidFill>
                <a:latin typeface="Times New Roman" panose="02020603050405020304" pitchFamily="18" charset="0"/>
                <a:cs typeface="Times New Roman" panose="02020603050405020304" pitchFamily="18" charset="0"/>
              </a:rPr>
              <a:t>data type may be smaller than the source data type</a:t>
            </a:r>
            <a:r>
              <a:rPr lang="en-US" sz="2200" dirty="0">
                <a:latin typeface="Times New Roman" panose="02020603050405020304" pitchFamily="18" charset="0"/>
                <a:cs typeface="Times New Roman" panose="02020603050405020304" pitchFamily="18" charset="0"/>
              </a:rPr>
              <a:t> when converting the data type to another data type, that’s why it is also called </a:t>
            </a:r>
            <a:r>
              <a:rPr lang="en-US" sz="2600" b="1" i="1" dirty="0">
                <a:solidFill>
                  <a:srgbClr val="FF0000"/>
                </a:solidFill>
                <a:latin typeface="Times New Roman" panose="02020603050405020304" pitchFamily="18" charset="0"/>
                <a:cs typeface="Times New Roman" panose="02020603050405020304" pitchFamily="18" charset="0"/>
              </a:rPr>
              <a:t>narrowing</a:t>
            </a:r>
            <a:r>
              <a:rPr lang="en-US" sz="2200" b="1" dirty="0">
                <a:latin typeface="Times New Roman" panose="02020603050405020304" pitchFamily="18" charset="0"/>
                <a:cs typeface="Times New Roman" panose="02020603050405020304" pitchFamily="18" charset="0"/>
              </a:rPr>
              <a:t> conversion</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But it is possible for conversion between </a:t>
            </a:r>
            <a:r>
              <a:rPr lang="en-US" sz="2200" b="1" dirty="0">
                <a:latin typeface="Times New Roman" panose="02020603050405020304" pitchFamily="18" charset="0"/>
                <a:cs typeface="Times New Roman" panose="02020603050405020304" pitchFamily="18" charset="0"/>
              </a:rPr>
              <a:t>incompatible types</a:t>
            </a:r>
            <a:r>
              <a:rPr lang="en-US" sz="2200" dirty="0">
                <a:latin typeface="Times New Roman" panose="02020603050405020304" pitchFamily="18" charset="0"/>
                <a:cs typeface="Times New Roman" panose="02020603050405020304" pitchFamily="18" charset="0"/>
              </a:rPr>
              <a:t>. To do so, you must use a </a:t>
            </a:r>
            <a:r>
              <a:rPr lang="en-US" sz="2200" b="1" dirty="0">
                <a:latin typeface="Times New Roman" panose="02020603050405020304" pitchFamily="18" charset="0"/>
                <a:cs typeface="Times New Roman" panose="02020603050405020304" pitchFamily="18" charset="0"/>
              </a:rPr>
              <a:t>cast</a:t>
            </a:r>
            <a:r>
              <a:rPr lang="en-US" sz="2200" dirty="0">
                <a:latin typeface="Times New Roman" panose="02020603050405020304" pitchFamily="18" charset="0"/>
                <a:cs typeface="Times New Roman" panose="02020603050405020304" pitchFamily="18" charset="0"/>
              </a:rPr>
              <a:t>, which performs an </a:t>
            </a:r>
            <a:r>
              <a:rPr lang="en-US" sz="2200" b="1" dirty="0">
                <a:latin typeface="Times New Roman" panose="02020603050405020304" pitchFamily="18" charset="0"/>
                <a:cs typeface="Times New Roman" panose="02020603050405020304" pitchFamily="18" charset="0"/>
              </a:rPr>
              <a:t>explicit conversion between incompatible types</a:t>
            </a:r>
            <a:r>
              <a:rPr lang="en-US" sz="2200" dirty="0">
                <a:latin typeface="Times New Roman" panose="02020603050405020304" pitchFamily="18" charset="0"/>
                <a:cs typeface="Times New Roman" panose="02020603050405020304" pitchFamily="18" charset="0"/>
              </a:rPr>
              <a:t>. </a:t>
            </a:r>
          </a:p>
          <a:p>
            <a:pPr marL="0" indent="0" algn="just">
              <a:buNone/>
            </a:pPr>
            <a:r>
              <a:rPr lang="en-US" sz="2200" b="1" dirty="0">
                <a:latin typeface="Times New Roman" panose="02020603050405020304" pitchFamily="18" charset="0"/>
                <a:cs typeface="Times New Roman" panose="02020603050405020304" pitchFamily="18" charset="0"/>
              </a:rPr>
              <a:t>Syntax </a:t>
            </a:r>
            <a:endParaRPr lang="en-US" sz="2200" dirty="0">
              <a:latin typeface="Times New Roman" panose="02020603050405020304" pitchFamily="18" charset="0"/>
              <a:cs typeface="Times New Roman" panose="02020603050405020304" pitchFamily="18" charset="0"/>
            </a:endParaRPr>
          </a:p>
          <a:p>
            <a:pPr marL="0" indent="0" algn="ctr">
              <a:buNone/>
            </a:pPr>
            <a:r>
              <a:rPr lang="en-US" sz="2200" i="1" dirty="0" err="1">
                <a:solidFill>
                  <a:srgbClr val="FF0000"/>
                </a:solidFill>
                <a:latin typeface="Times New Roman" panose="02020603050405020304" pitchFamily="18" charset="0"/>
                <a:cs typeface="Times New Roman" panose="02020603050405020304" pitchFamily="18" charset="0"/>
              </a:rPr>
              <a:t>destination_datatype</a:t>
            </a:r>
            <a:r>
              <a:rPr lang="en-US" sz="2200" i="1" dirty="0">
                <a:solidFill>
                  <a:srgbClr val="FF0000"/>
                </a:solidFill>
                <a:latin typeface="Times New Roman" panose="02020603050405020304" pitchFamily="18" charset="0"/>
                <a:cs typeface="Times New Roman" panose="02020603050405020304" pitchFamily="18" charset="0"/>
              </a:rPr>
              <a:t> = (</a:t>
            </a:r>
            <a:r>
              <a:rPr lang="en-US" sz="2200" i="1" dirty="0" err="1">
                <a:solidFill>
                  <a:srgbClr val="FF0000"/>
                </a:solidFill>
                <a:latin typeface="Times New Roman" panose="02020603050405020304" pitchFamily="18" charset="0"/>
                <a:cs typeface="Times New Roman" panose="02020603050405020304" pitchFamily="18" charset="0"/>
              </a:rPr>
              <a:t>target_datatype</a:t>
            </a:r>
            <a:r>
              <a:rPr lang="en-US" sz="2200" i="1" dirty="0">
                <a:solidFill>
                  <a:srgbClr val="FF0000"/>
                </a:solidFill>
                <a:latin typeface="Times New Roman" panose="02020603050405020304" pitchFamily="18" charset="0"/>
                <a:cs typeface="Times New Roman" panose="02020603050405020304" pitchFamily="18" charset="0"/>
              </a:rPr>
              <a:t>)variable; </a:t>
            </a:r>
          </a:p>
          <a:p>
            <a:pPr marL="0" indent="0" algn="just">
              <a:buNone/>
            </a:pP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 a casting operator. </a:t>
            </a:r>
          </a:p>
          <a:p>
            <a:pPr marL="0" indent="0">
              <a:buNone/>
            </a:pPr>
            <a:r>
              <a:rPr lang="en-US" sz="2000" b="1" dirty="0" err="1">
                <a:latin typeface="Times New Roman" panose="02020603050405020304" pitchFamily="18" charset="0"/>
                <a:cs typeface="Times New Roman" panose="02020603050405020304" pitchFamily="18" charset="0"/>
              </a:rPr>
              <a:t>target_datatype</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is a data type in which we want to convert the source data type. </a:t>
            </a:r>
          </a:p>
          <a:p>
            <a:pPr marL="0" indent="0" algn="ctr">
              <a:buNone/>
            </a:pPr>
            <a:r>
              <a:rPr lang="en-US" sz="2000" b="1" dirty="0">
                <a:latin typeface="Times New Roman" panose="02020603050405020304" pitchFamily="18" charset="0"/>
                <a:cs typeface="Times New Roman" panose="02020603050405020304" pitchFamily="18" charset="0"/>
              </a:rPr>
              <a:t>Example </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float x; </a:t>
            </a:r>
          </a:p>
          <a:p>
            <a:pPr marL="0" indent="0" algn="ctr">
              <a:buNone/>
            </a:pPr>
            <a:r>
              <a:rPr lang="en-US" sz="2000" dirty="0">
                <a:latin typeface="Times New Roman" panose="02020603050405020304" pitchFamily="18" charset="0"/>
                <a:cs typeface="Times New Roman" panose="02020603050405020304" pitchFamily="18" charset="0"/>
              </a:rPr>
              <a:t>byte y; </a:t>
            </a:r>
          </a:p>
          <a:p>
            <a:pPr marL="0" indent="0" algn="ctr">
              <a:buNone/>
            </a:pPr>
            <a:r>
              <a:rPr lang="en-US" sz="2000" dirty="0">
                <a:latin typeface="Times New Roman" panose="02020603050405020304" pitchFamily="18" charset="0"/>
                <a:cs typeface="Times New Roman" panose="02020603050405020304" pitchFamily="18" charset="0"/>
              </a:rPr>
              <a:t>y=(byte)x; </a:t>
            </a:r>
          </a:p>
        </p:txBody>
      </p:sp>
    </p:spTree>
    <p:extLst>
      <p:ext uri="{BB962C8B-B14F-4D97-AF65-F5344CB8AC3E}">
        <p14:creationId xmlns:p14="http://schemas.microsoft.com/office/powerpoint/2010/main" val="13595893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F5D1C-C53F-18A9-563A-C1DC58DAFC71}"/>
              </a:ext>
            </a:extLst>
          </p:cNvPr>
          <p:cNvSpPr>
            <a:spLocks noGrp="1"/>
          </p:cNvSpPr>
          <p:nvPr>
            <p:ph idx="1"/>
          </p:nvPr>
        </p:nvSpPr>
        <p:spPr>
          <a:xfrm>
            <a:off x="457200" y="44245"/>
            <a:ext cx="8229600" cy="6585155"/>
          </a:xfrm>
        </p:spPr>
        <p:txBody>
          <a:bodyPr>
            <a:normAutofit fontScale="70000" lnSpcReduction="20000"/>
          </a:bodyPr>
          <a:lstStyle/>
          <a:p>
            <a:pPr marL="0" indent="0">
              <a:buNone/>
            </a:pPr>
            <a:r>
              <a:rPr lang="en-US" b="1" dirty="0"/>
              <a:t>public</a:t>
            </a:r>
            <a:r>
              <a:rPr lang="en-US" dirty="0"/>
              <a:t> </a:t>
            </a:r>
            <a:r>
              <a:rPr lang="en-US" b="1" dirty="0"/>
              <a:t>class</a:t>
            </a:r>
            <a:r>
              <a:rPr lang="en-US" dirty="0"/>
              <a:t> </a:t>
            </a:r>
            <a:r>
              <a:rPr lang="en-US" dirty="0" err="1"/>
              <a:t>NarrowingTypeCastingExample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double</a:t>
            </a:r>
            <a:r>
              <a:rPr lang="en-US" dirty="0"/>
              <a:t> d = 166.66;</a:t>
            </a:r>
          </a:p>
          <a:p>
            <a:pPr marL="0" indent="0">
              <a:buNone/>
            </a:pPr>
            <a:r>
              <a:rPr lang="en-US" b="1" dirty="0"/>
              <a:t>int</a:t>
            </a:r>
            <a:r>
              <a:rPr lang="en-US" dirty="0"/>
              <a:t> </a:t>
            </a:r>
            <a:r>
              <a:rPr lang="en-US" dirty="0" err="1"/>
              <a:t>i</a:t>
            </a:r>
            <a:r>
              <a:rPr lang="en-US" dirty="0"/>
              <a:t> = (</a:t>
            </a:r>
            <a:r>
              <a:rPr lang="en-US" b="1" dirty="0"/>
              <a:t>int</a:t>
            </a:r>
            <a:r>
              <a:rPr lang="en-US" dirty="0"/>
              <a:t>)d;</a:t>
            </a:r>
          </a:p>
          <a:p>
            <a:pPr marL="0" indent="0">
              <a:buNone/>
            </a:pPr>
            <a:r>
              <a:rPr lang="en-US" dirty="0"/>
              <a:t>//float f = 16.6f;</a:t>
            </a:r>
          </a:p>
          <a:p>
            <a:pPr marL="0" indent="0">
              <a:buNone/>
            </a:pPr>
            <a:r>
              <a:rPr lang="en-US" dirty="0"/>
              <a:t>//</a:t>
            </a:r>
            <a:r>
              <a:rPr lang="en-US" u="sng" dirty="0"/>
              <a:t>int</a:t>
            </a:r>
            <a:r>
              <a:rPr lang="en-US" dirty="0"/>
              <a:t> </a:t>
            </a:r>
            <a:r>
              <a:rPr lang="en-US" dirty="0" err="1"/>
              <a:t>i</a:t>
            </a:r>
            <a:r>
              <a:rPr lang="en-US" dirty="0"/>
              <a:t> = (</a:t>
            </a:r>
            <a:r>
              <a:rPr lang="en-US" u="sng" dirty="0"/>
              <a:t>int</a:t>
            </a:r>
            <a:r>
              <a:rPr lang="en-US" dirty="0"/>
              <a:t>)f;</a:t>
            </a:r>
          </a:p>
          <a:p>
            <a:pPr marL="0" indent="0">
              <a:buNone/>
            </a:pPr>
            <a:r>
              <a:rPr lang="en-US" dirty="0" err="1"/>
              <a:t>System.</a:t>
            </a:r>
            <a:r>
              <a:rPr lang="en-US" b="1" i="1" dirty="0" err="1"/>
              <a:t>out</a:t>
            </a:r>
            <a:r>
              <a:rPr lang="en-US" dirty="0" err="1"/>
              <a:t>.println</a:t>
            </a:r>
            <a:r>
              <a:rPr lang="en-US" dirty="0"/>
              <a:t>("Before conversion: "+d);</a:t>
            </a:r>
          </a:p>
          <a:p>
            <a:pPr marL="0" indent="0">
              <a:buNone/>
            </a:pPr>
            <a:r>
              <a:rPr lang="en-US" dirty="0" err="1"/>
              <a:t>System.</a:t>
            </a:r>
            <a:r>
              <a:rPr lang="en-US" b="1" i="1" dirty="0" err="1"/>
              <a:t>out</a:t>
            </a:r>
            <a:r>
              <a:rPr lang="en-US" dirty="0" err="1"/>
              <a:t>.println</a:t>
            </a:r>
            <a:r>
              <a:rPr lang="en-US" dirty="0"/>
              <a:t>("After </a:t>
            </a:r>
            <a:r>
              <a:rPr lang="en-US" dirty="0" err="1"/>
              <a:t>conversiontype</a:t>
            </a:r>
            <a:r>
              <a:rPr lang="en-US" dirty="0"/>
              <a:t>: "+</a:t>
            </a:r>
            <a:r>
              <a:rPr lang="en-US" dirty="0" err="1"/>
              <a:t>i</a:t>
            </a:r>
            <a:r>
              <a:rPr lang="en-US" dirty="0"/>
              <a:t>);</a:t>
            </a:r>
          </a:p>
          <a:p>
            <a:pPr marL="0" indent="0">
              <a:buNone/>
            </a:pPr>
            <a:r>
              <a:rPr lang="en-US" dirty="0"/>
              <a:t>}</a:t>
            </a:r>
          </a:p>
          <a:p>
            <a:pPr marL="0" indent="0">
              <a:buNone/>
            </a:pPr>
            <a:r>
              <a:rPr lang="en-US" dirty="0"/>
              <a:t>}</a:t>
            </a:r>
          </a:p>
          <a:p>
            <a:pPr marL="0" indent="0">
              <a:buNone/>
            </a:pPr>
            <a:endParaRPr lang="en-US" dirty="0"/>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A different type of conversion will occur when a floating-point value is assigned to an integer type: </a:t>
            </a:r>
            <a:r>
              <a:rPr lang="en-US" b="1" dirty="0">
                <a:solidFill>
                  <a:srgbClr val="FF0000"/>
                </a:solidFill>
                <a:latin typeface="Times New Roman" panose="02020603050405020304" pitchFamily="18" charset="0"/>
                <a:cs typeface="Times New Roman" panose="02020603050405020304" pitchFamily="18" charset="0"/>
              </a:rPr>
              <a:t>truncation</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As integers do not have fractional components so, when a floating-point value is assigned to an integer type, the fractional component is lost. </a:t>
            </a:r>
          </a:p>
        </p:txBody>
      </p:sp>
    </p:spTree>
    <p:extLst>
      <p:ext uri="{BB962C8B-B14F-4D97-AF65-F5344CB8AC3E}">
        <p14:creationId xmlns:p14="http://schemas.microsoft.com/office/powerpoint/2010/main" val="38252988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DDF90-7B79-4D74-E44A-E7A863838B47}"/>
              </a:ext>
            </a:extLst>
          </p:cNvPr>
          <p:cNvSpPr>
            <a:spLocks noGrp="1"/>
          </p:cNvSpPr>
          <p:nvPr>
            <p:ph idx="1"/>
          </p:nvPr>
        </p:nvSpPr>
        <p:spPr>
          <a:xfrm>
            <a:off x="457200" y="457200"/>
            <a:ext cx="8229600" cy="5668963"/>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The Type Promotion Rules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Java defines several type promotion rules that apply to expressions. They are as follows: </a:t>
            </a:r>
          </a:p>
          <a:p>
            <a:r>
              <a:rPr lang="en-US" sz="2800" b="1" dirty="0">
                <a:latin typeface="Times New Roman" panose="02020603050405020304" pitchFamily="18" charset="0"/>
                <a:cs typeface="Times New Roman" panose="02020603050405020304" pitchFamily="18" charset="0"/>
              </a:rPr>
              <a:t>First</a:t>
            </a:r>
            <a:r>
              <a:rPr lang="en-US" sz="2800" dirty="0">
                <a:latin typeface="Times New Roman" panose="02020603050405020304" pitchFamily="18" charset="0"/>
                <a:cs typeface="Times New Roman" panose="02020603050405020304" pitchFamily="18" charset="0"/>
              </a:rPr>
              <a:t>, all byte, short, and char values are promoted to int, as just described.</a:t>
            </a:r>
          </a:p>
          <a:p>
            <a:r>
              <a:rPr lang="en-US" sz="2800" dirty="0">
                <a:latin typeface="Times New Roman" panose="02020603050405020304" pitchFamily="18" charset="0"/>
                <a:cs typeface="Times New Roman" panose="02020603050405020304" pitchFamily="18" charset="0"/>
              </a:rPr>
              <a:t> Then, if one operand is a long, the whole expression is promoted to long. </a:t>
            </a:r>
          </a:p>
          <a:p>
            <a:r>
              <a:rPr lang="en-US" sz="2800" dirty="0">
                <a:latin typeface="Times New Roman" panose="02020603050405020304" pitchFamily="18" charset="0"/>
                <a:cs typeface="Times New Roman" panose="02020603050405020304" pitchFamily="18" charset="0"/>
              </a:rPr>
              <a:t>If one operand is a float, the entire expression is promoted to float. </a:t>
            </a:r>
          </a:p>
          <a:p>
            <a:r>
              <a:rPr lang="en-US" sz="2800" dirty="0">
                <a:latin typeface="Times New Roman" panose="02020603050405020304" pitchFamily="18" charset="0"/>
                <a:cs typeface="Times New Roman" panose="02020603050405020304" pitchFamily="18" charset="0"/>
              </a:rPr>
              <a:t>If any of the operands is double, the result is double. </a:t>
            </a:r>
          </a:p>
        </p:txBody>
      </p:sp>
    </p:spTree>
    <p:extLst>
      <p:ext uri="{BB962C8B-B14F-4D97-AF65-F5344CB8AC3E}">
        <p14:creationId xmlns:p14="http://schemas.microsoft.com/office/powerpoint/2010/main" val="25999519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00B5CB-D360-16FE-57FD-F9FE8ACBA8E8}"/>
              </a:ext>
            </a:extLst>
          </p:cNvPr>
          <p:cNvSpPr>
            <a:spLocks noGrp="1"/>
          </p:cNvSpPr>
          <p:nvPr>
            <p:ph idx="1"/>
          </p:nvPr>
        </p:nvSpPr>
        <p:spPr>
          <a:xfrm>
            <a:off x="457200" y="0"/>
            <a:ext cx="8229600" cy="6126163"/>
          </a:xfrm>
        </p:spPr>
        <p:txBody>
          <a:bodyPr>
            <a:noAutofit/>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Type Conversion </a:t>
            </a:r>
            <a:endParaRPr lang="en-US" sz="22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If a data type is automatically converted into another data type </a:t>
            </a:r>
            <a:r>
              <a:rPr lang="en-US" sz="2200" b="1" i="1" dirty="0">
                <a:solidFill>
                  <a:srgbClr val="C00000"/>
                </a:solidFill>
                <a:latin typeface="Times New Roman" panose="02020603050405020304" pitchFamily="18" charset="0"/>
                <a:cs typeface="Times New Roman" panose="02020603050405020304" pitchFamily="18" charset="0"/>
              </a:rPr>
              <a:t>at compile time</a:t>
            </a:r>
            <a:r>
              <a:rPr lang="en-US" sz="2200" dirty="0">
                <a:latin typeface="Times New Roman" panose="02020603050405020304" pitchFamily="18" charset="0"/>
                <a:cs typeface="Times New Roman" panose="02020603050405020304" pitchFamily="18" charset="0"/>
              </a:rPr>
              <a:t> is known as type conversion.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conversion is performed by the compiler if </a:t>
            </a:r>
            <a:r>
              <a:rPr lang="en-US" sz="2200" b="1" i="1" dirty="0">
                <a:solidFill>
                  <a:srgbClr val="C00000"/>
                </a:solidFill>
                <a:latin typeface="Times New Roman" panose="02020603050405020304" pitchFamily="18" charset="0"/>
                <a:cs typeface="Times New Roman" panose="02020603050405020304" pitchFamily="18" charset="0"/>
              </a:rPr>
              <a:t>both data types are compatible </a:t>
            </a:r>
            <a:r>
              <a:rPr lang="en-US" sz="2200" dirty="0">
                <a:latin typeface="Times New Roman" panose="02020603050405020304" pitchFamily="18" charset="0"/>
                <a:cs typeface="Times New Roman" panose="02020603050405020304" pitchFamily="18" charset="0"/>
              </a:rPr>
              <a:t>with each other.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Remember that the </a:t>
            </a:r>
            <a:r>
              <a:rPr lang="en-US" sz="2200" b="1" i="1" dirty="0">
                <a:solidFill>
                  <a:srgbClr val="C00000"/>
                </a:solidFill>
                <a:latin typeface="Times New Roman" panose="02020603050405020304" pitchFamily="18" charset="0"/>
                <a:cs typeface="Times New Roman" panose="02020603050405020304" pitchFamily="18" charset="0"/>
              </a:rPr>
              <a:t>destination data type should not be smaller than the source type</a:t>
            </a:r>
            <a:r>
              <a:rPr lang="en-US" sz="2200" b="1" i="1" dirty="0">
                <a:solidFill>
                  <a:srgbClr val="FF0000"/>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It is also known as </a:t>
            </a:r>
            <a:r>
              <a:rPr lang="en-US" sz="2200" b="1" i="1" dirty="0">
                <a:solidFill>
                  <a:srgbClr val="FF0000"/>
                </a:solidFill>
                <a:latin typeface="Times New Roman" panose="02020603050405020304" pitchFamily="18" charset="0"/>
                <a:cs typeface="Times New Roman" panose="02020603050405020304" pitchFamily="18" charset="0"/>
              </a:rPr>
              <a:t>widening</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conversion of the data type.</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However, </a:t>
            </a:r>
            <a:r>
              <a:rPr lang="en-US" sz="2000" b="1" i="1" dirty="0">
                <a:solidFill>
                  <a:srgbClr val="C00000"/>
                </a:solidFill>
                <a:latin typeface="Times New Roman" panose="02020603050405020304" pitchFamily="18" charset="0"/>
                <a:cs typeface="Times New Roman" panose="02020603050405020304" pitchFamily="18" charset="0"/>
              </a:rPr>
              <a:t>not all types are compatible, and thus, not all type conversions are implicitly allowed</a:t>
            </a:r>
            <a:r>
              <a:rPr lang="en-US" sz="2000" dirty="0">
                <a:latin typeface="Times New Roman" panose="02020603050405020304" pitchFamily="18" charset="0"/>
                <a:cs typeface="Times New Roman" panose="02020603050405020304" pitchFamily="18" charset="0"/>
              </a:rPr>
              <a:t>. For instance, there is no conversion defined from double to byte. </a:t>
            </a:r>
          </a:p>
          <a:p>
            <a:pPr marL="0" indent="0">
              <a:buNone/>
            </a:pPr>
            <a:r>
              <a:rPr lang="en-US" sz="2200" b="1" dirty="0">
                <a:latin typeface="Times New Roman" panose="02020603050405020304" pitchFamily="18" charset="0"/>
                <a:cs typeface="Times New Roman" panose="02020603050405020304" pitchFamily="18" charset="0"/>
              </a:rPr>
              <a:t>Example </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int a = 20; </a:t>
            </a:r>
          </a:p>
          <a:p>
            <a:pPr marL="0" indent="0">
              <a:buNone/>
            </a:pPr>
            <a:r>
              <a:rPr lang="en-US" sz="2200" dirty="0">
                <a:latin typeface="Times New Roman" panose="02020603050405020304" pitchFamily="18" charset="0"/>
                <a:cs typeface="Times New Roman" panose="02020603050405020304" pitchFamily="18" charset="0"/>
              </a:rPr>
              <a:t>Float b;</a:t>
            </a:r>
          </a:p>
          <a:p>
            <a:pPr marL="0" indent="0">
              <a:buNone/>
            </a:pPr>
            <a:r>
              <a:rPr lang="en-US" sz="2200" dirty="0">
                <a:latin typeface="Times New Roman" panose="02020603050405020304" pitchFamily="18" charset="0"/>
                <a:cs typeface="Times New Roman" panose="02020603050405020304" pitchFamily="18" charset="0"/>
              </a:rPr>
              <a:t>b=a // Now  the value variable b is 20.000 </a:t>
            </a:r>
          </a:p>
        </p:txBody>
      </p:sp>
    </p:spTree>
    <p:extLst>
      <p:ext uri="{BB962C8B-B14F-4D97-AF65-F5344CB8AC3E}">
        <p14:creationId xmlns:p14="http://schemas.microsoft.com/office/powerpoint/2010/main" val="28128648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3DD2E-3F5F-AA25-B39B-D477963EB189}"/>
              </a:ext>
            </a:extLst>
          </p:cNvPr>
          <p:cNvSpPr>
            <a:spLocks noGrp="1"/>
          </p:cNvSpPr>
          <p:nvPr>
            <p:ph idx="1"/>
          </p:nvPr>
        </p:nvSpPr>
        <p:spPr>
          <a:xfrm>
            <a:off x="457200" y="152400"/>
            <a:ext cx="8229600" cy="5973763"/>
          </a:xfrm>
        </p:spPr>
        <p:txBody>
          <a:bodyPr>
            <a:normAutofit/>
          </a:bodyPr>
          <a:lstStyle/>
          <a:p>
            <a:pPr marL="0" indent="0">
              <a:buNone/>
            </a:pPr>
            <a:r>
              <a:rPr lang="en-US" b="1" dirty="0"/>
              <a:t>public</a:t>
            </a:r>
            <a:r>
              <a:rPr lang="en-US" dirty="0"/>
              <a:t> </a:t>
            </a:r>
            <a:r>
              <a:rPr lang="en-US" b="1" dirty="0"/>
              <a:t>class</a:t>
            </a:r>
            <a:r>
              <a:rPr lang="en-US" dirty="0"/>
              <a:t> </a:t>
            </a:r>
            <a:r>
              <a:rPr lang="en-US" dirty="0" err="1"/>
              <a:t>WideningTypeCastingExample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int</a:t>
            </a:r>
            <a:r>
              <a:rPr lang="en-US" dirty="0"/>
              <a:t> x = 7;</a:t>
            </a:r>
          </a:p>
          <a:p>
            <a:pPr marL="0" indent="0">
              <a:buNone/>
            </a:pPr>
            <a:r>
              <a:rPr lang="en-US" b="1" dirty="0"/>
              <a:t>float</a:t>
            </a:r>
            <a:r>
              <a:rPr lang="en-US" dirty="0"/>
              <a:t> y = x;</a:t>
            </a:r>
          </a:p>
          <a:p>
            <a:pPr marL="0" indent="0">
              <a:buNone/>
            </a:pPr>
            <a:r>
              <a:rPr lang="en-US" dirty="0" err="1"/>
              <a:t>System.</a:t>
            </a:r>
            <a:r>
              <a:rPr lang="en-US" b="1" i="1" dirty="0" err="1"/>
              <a:t>out</a:t>
            </a:r>
            <a:r>
              <a:rPr lang="en-US" dirty="0" err="1"/>
              <a:t>.println</a:t>
            </a:r>
            <a:r>
              <a:rPr lang="en-US" dirty="0"/>
              <a:t>("After conversion, float value "+y);</a:t>
            </a:r>
          </a:p>
          <a:p>
            <a:pPr marL="0" indent="0">
              <a:buNone/>
            </a:pPr>
            <a:r>
              <a:rPr lang="en-US" dirty="0"/>
              <a:t>}</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73560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12AFCA-2335-AB0A-FEF5-7763DAA95BBF}"/>
              </a:ext>
            </a:extLst>
          </p:cNvPr>
          <p:cNvSpPr>
            <a:spLocks noGrp="1"/>
          </p:cNvSpPr>
          <p:nvPr>
            <p:ph idx="1"/>
          </p:nvPr>
        </p:nvSpPr>
        <p:spPr>
          <a:xfrm>
            <a:off x="457200" y="228600"/>
            <a:ext cx="8229600" cy="5897563"/>
          </a:xfrm>
        </p:spPr>
        <p:txBody>
          <a:bodyPr>
            <a:normAutofit fontScale="62500" lnSpcReduction="20000"/>
          </a:bodyPr>
          <a:lstStyle/>
          <a:p>
            <a:pPr marL="0" indent="0" algn="ctr">
              <a:buNone/>
            </a:pPr>
            <a:r>
              <a:rPr lang="en-US" sz="3800" b="1" i="1" dirty="0">
                <a:solidFill>
                  <a:srgbClr val="FF0000"/>
                </a:solidFill>
                <a:latin typeface="Times New Roman" panose="02020603050405020304" pitchFamily="18" charset="0"/>
                <a:cs typeface="Times New Roman" panose="02020603050405020304" pitchFamily="18" charset="0"/>
              </a:rPr>
              <a:t>Classes and Objects</a:t>
            </a:r>
            <a:endParaRPr lang="en-US" sz="3800" dirty="0">
              <a:solidFill>
                <a:srgbClr val="00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Class Characteristics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 It is the name given to the class. </a:t>
            </a:r>
          </a:p>
          <a:p>
            <a:pPr marL="0" indent="0">
              <a:buNone/>
            </a:pPr>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 Represents data values that are associated with an object. </a:t>
            </a:r>
          </a:p>
          <a:p>
            <a:pPr marL="0" indent="0">
              <a:buNone/>
            </a:pPr>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 Represents actions can be performed by an object. </a:t>
            </a:r>
          </a:p>
          <a:p>
            <a:pPr marL="0" indent="0">
              <a:buNone/>
            </a:pPr>
            <a:r>
              <a:rPr lang="en-US" b="1" dirty="0">
                <a:solidFill>
                  <a:srgbClr val="FF0000"/>
                </a:solidFill>
                <a:latin typeface="Times New Roman" panose="02020603050405020304" pitchFamily="18" charset="0"/>
                <a:cs typeface="Times New Roman" panose="02020603050405020304" pitchFamily="18" charset="0"/>
              </a:rPr>
              <a:t>Properties of Java Classes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Class is not a real-world entity</a:t>
            </a:r>
            <a:r>
              <a:rPr lang="en-US" dirty="0">
                <a:latin typeface="Times New Roman" panose="02020603050405020304" pitchFamily="18" charset="0"/>
                <a:cs typeface="Times New Roman" panose="02020603050405020304" pitchFamily="18" charset="0"/>
              </a:rPr>
              <a:t>. It is just a template or blueprint or prototype from which objects </a:t>
            </a:r>
          </a:p>
          <a:p>
            <a:pPr marL="0" indent="0">
              <a:buNone/>
            </a:pPr>
            <a:r>
              <a:rPr lang="en-US" dirty="0">
                <a:latin typeface="Times New Roman" panose="02020603050405020304" pitchFamily="18" charset="0"/>
                <a:cs typeface="Times New Roman" panose="02020603050405020304" pitchFamily="18" charset="0"/>
              </a:rPr>
              <a:t>are created. </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Class does not occupy memory</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3. Class is a group of variables of </a:t>
            </a:r>
            <a:r>
              <a:rPr lang="en-US" b="1" dirty="0">
                <a:latin typeface="Times New Roman" panose="02020603050405020304" pitchFamily="18" charset="0"/>
                <a:cs typeface="Times New Roman" panose="02020603050405020304" pitchFamily="18" charset="0"/>
              </a:rPr>
              <a:t>different data types and a group </a:t>
            </a:r>
            <a:r>
              <a:rPr lang="en-US" dirty="0">
                <a:latin typeface="Times New Roman" panose="02020603050405020304" pitchFamily="18" charset="0"/>
                <a:cs typeface="Times New Roman" panose="02020603050405020304" pitchFamily="18" charset="0"/>
              </a:rPr>
              <a:t>of methods. </a:t>
            </a:r>
          </a:p>
          <a:p>
            <a:pPr marL="0" indent="0">
              <a:buNone/>
            </a:pPr>
            <a:r>
              <a:rPr lang="en-US" dirty="0">
                <a:latin typeface="Times New Roman" panose="02020603050405020304" pitchFamily="18" charset="0"/>
                <a:cs typeface="Times New Roman" panose="02020603050405020304" pitchFamily="18" charset="0"/>
              </a:rPr>
              <a:t>4. A </a:t>
            </a:r>
            <a:r>
              <a:rPr lang="en-US" b="1" dirty="0">
                <a:latin typeface="Times New Roman" panose="02020603050405020304" pitchFamily="18" charset="0"/>
                <a:cs typeface="Times New Roman" panose="02020603050405020304" pitchFamily="18" charset="0"/>
              </a:rPr>
              <a:t>Class in Java can contain: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Data member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Method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Constructor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Nested Class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Interface </a:t>
            </a:r>
          </a:p>
        </p:txBody>
      </p:sp>
    </p:spTree>
    <p:extLst>
      <p:ext uri="{BB962C8B-B14F-4D97-AF65-F5344CB8AC3E}">
        <p14:creationId xmlns:p14="http://schemas.microsoft.com/office/powerpoint/2010/main" val="32662348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17ADDC-305F-2FB3-C373-0AE394941F93}"/>
              </a:ext>
            </a:extLst>
          </p:cNvPr>
          <p:cNvSpPr txBox="1"/>
          <p:nvPr/>
        </p:nvSpPr>
        <p:spPr>
          <a:xfrm>
            <a:off x="0" y="152400"/>
            <a:ext cx="8915400" cy="4524315"/>
          </a:xfrm>
          <a:prstGeom prst="rect">
            <a:avLst/>
          </a:prstGeom>
          <a:noFill/>
        </p:spPr>
        <p:txBody>
          <a:bodyPr wrap="square">
            <a:spAutoFit/>
          </a:bodyPr>
          <a:lstStyle/>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Declaring Member Variables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1" u="none" strike="noStrike" baseline="0" dirty="0">
                <a:solidFill>
                  <a:srgbClr val="000000"/>
                </a:solidFill>
                <a:latin typeface="Times New Roman" panose="02020603050405020304" pitchFamily="18" charset="0"/>
                <a:cs typeface="Times New Roman" panose="02020603050405020304" pitchFamily="18" charset="0"/>
              </a:rPr>
              <a:t>There are several kinds of variables: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Member variables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in a class—these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fields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a method</a:t>
            </a:r>
            <a:r>
              <a:rPr lang="en-US" sz="2400" b="0" i="1" u="none" strike="noStrike" baseline="0" dirty="0">
                <a:solidFill>
                  <a:srgbClr val="000000"/>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or block of code—these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local variables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method declarations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parameters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Syntax to declare a class: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class &lt;</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class_name</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&gt;{</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field;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method;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76133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FA8D0-3832-B4E8-B021-33DB5A003144}"/>
              </a:ext>
            </a:extLst>
          </p:cNvPr>
          <p:cNvSpPr>
            <a:spLocks noGrp="1"/>
          </p:cNvSpPr>
          <p:nvPr>
            <p:ph idx="1"/>
          </p:nvPr>
        </p:nvSpPr>
        <p:spPr>
          <a:xfrm>
            <a:off x="457200" y="0"/>
            <a:ext cx="8229600" cy="6126163"/>
          </a:xfrm>
        </p:spPr>
        <p:txBody>
          <a:bodyPr>
            <a:normAutofit fontScale="92500" lnSpcReduction="20000"/>
          </a:bodyPr>
          <a:lstStyle/>
          <a:p>
            <a:pPr marL="0" indent="0">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class is declared </a:t>
            </a:r>
            <a:r>
              <a:rPr lang="en-US" sz="2000" dirty="0">
                <a:latin typeface="Times New Roman" panose="02020603050405020304" pitchFamily="18" charset="0"/>
                <a:cs typeface="Times New Roman" panose="02020603050405020304" pitchFamily="18" charset="0"/>
              </a:rPr>
              <a:t>by use of the </a:t>
            </a:r>
            <a:r>
              <a:rPr lang="en-US" sz="2000" b="1" dirty="0">
                <a:latin typeface="Times New Roman" panose="02020603050405020304" pitchFamily="18" charset="0"/>
                <a:cs typeface="Times New Roman" panose="02020603050405020304" pitchFamily="18" charset="0"/>
              </a:rPr>
              <a:t>class keyword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classname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type instance-variable1; </a:t>
            </a:r>
          </a:p>
          <a:p>
            <a:pPr marL="0" indent="0">
              <a:buNone/>
            </a:pPr>
            <a:r>
              <a:rPr lang="en-US" sz="2000" b="1" dirty="0">
                <a:latin typeface="Times New Roman" panose="02020603050405020304" pitchFamily="18" charset="0"/>
                <a:cs typeface="Times New Roman" panose="02020603050405020304" pitchFamily="18" charset="0"/>
              </a:rPr>
              <a:t>	type instance-variable2; </a:t>
            </a:r>
          </a:p>
          <a:p>
            <a:pPr marL="0" indent="0">
              <a:buNone/>
            </a:pPr>
            <a:r>
              <a:rPr lang="en-US" sz="2000" b="1" dirty="0">
                <a:latin typeface="Times New Roman" panose="02020603050405020304" pitchFamily="18" charset="0"/>
                <a:cs typeface="Times New Roman" panose="02020603050405020304" pitchFamily="18" charset="0"/>
              </a:rPr>
              <a:t>	// ... </a:t>
            </a:r>
          </a:p>
          <a:p>
            <a:pPr marL="0" indent="0">
              <a:buNone/>
            </a:pPr>
            <a:r>
              <a:rPr lang="en-US" sz="2000" b="1" dirty="0">
                <a:latin typeface="Times New Roman" panose="02020603050405020304" pitchFamily="18" charset="0"/>
                <a:cs typeface="Times New Roman" panose="02020603050405020304" pitchFamily="18" charset="0"/>
              </a:rPr>
              <a:t>	type instance-</a:t>
            </a:r>
            <a:r>
              <a:rPr lang="en-US" sz="2000" b="1" dirty="0" err="1">
                <a:latin typeface="Times New Roman" panose="02020603050405020304" pitchFamily="18" charset="0"/>
                <a:cs typeface="Times New Roman" panose="02020603050405020304" pitchFamily="18" charset="0"/>
              </a:rPr>
              <a:t>variableN</a:t>
            </a:r>
            <a:r>
              <a:rPr lang="en-US" sz="2000" b="1"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methodname1(parameter-list)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methodname2(parameter-list)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a:t>
            </a:r>
          </a:p>
          <a:p>
            <a:pPr marL="0" indent="0">
              <a:buNone/>
            </a:pPr>
            <a:r>
              <a:rPr lang="en-US" sz="2000" dirty="0">
                <a:latin typeface="Times New Roman" panose="02020603050405020304" pitchFamily="18" charset="0"/>
                <a:cs typeface="Times New Roman" panose="02020603050405020304" pitchFamily="18" charset="0"/>
              </a:rPr>
              <a:t>type </a:t>
            </a:r>
            <a:r>
              <a:rPr lang="en-US" sz="2000" dirty="0" err="1">
                <a:latin typeface="Times New Roman" panose="02020603050405020304" pitchFamily="18" charset="0"/>
                <a:cs typeface="Times New Roman" panose="02020603050405020304" pitchFamily="18" charset="0"/>
              </a:rPr>
              <a:t>methodnameN</a:t>
            </a:r>
            <a:r>
              <a:rPr lang="en-US" sz="2000" dirty="0">
                <a:latin typeface="Times New Roman" panose="02020603050405020304" pitchFamily="18" charset="0"/>
                <a:cs typeface="Times New Roman" panose="02020603050405020304" pitchFamily="18" charset="0"/>
              </a:rPr>
              <a:t>(parameter-list)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523041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55684-C4DE-C812-C276-4A8012433554}"/>
              </a:ext>
            </a:extLst>
          </p:cNvPr>
          <p:cNvSpPr>
            <a:spLocks noGrp="1"/>
          </p:cNvSpPr>
          <p:nvPr>
            <p:ph idx="1"/>
          </p:nvPr>
        </p:nvSpPr>
        <p:spPr>
          <a:xfrm>
            <a:off x="457200" y="228600"/>
            <a:ext cx="8229600" cy="5897563"/>
          </a:xfrm>
        </p:spPr>
        <p:txBody>
          <a:bodyPr>
            <a:normAutofit fontScale="85000" lnSpcReduction="200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data, or variables, defined within a class are called </a:t>
            </a:r>
            <a:r>
              <a:rPr lang="en-US" b="1" i="1" dirty="0">
                <a:solidFill>
                  <a:srgbClr val="FF0000"/>
                </a:solidFill>
                <a:latin typeface="Times New Roman" panose="02020603050405020304" pitchFamily="18" charset="0"/>
                <a:cs typeface="Times New Roman" panose="02020603050405020304" pitchFamily="18" charset="0"/>
              </a:rPr>
              <a:t>instance variables</a:t>
            </a:r>
            <a:r>
              <a:rPr lang="en-US" b="1"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code is contained within methods. Collectively, the methods and variables defined within a class are called </a:t>
            </a:r>
            <a:r>
              <a:rPr lang="en-US" b="1" dirty="0">
                <a:latin typeface="Times New Roman" panose="02020603050405020304" pitchFamily="18" charset="0"/>
                <a:cs typeface="Times New Roman" panose="02020603050405020304" pitchFamily="18" charset="0"/>
              </a:rPr>
              <a:t>members of the class</a:t>
            </a:r>
            <a:r>
              <a:rPr lang="en-US" dirty="0">
                <a:latin typeface="Times New Roman" panose="02020603050405020304" pitchFamily="18" charset="0"/>
                <a:cs typeface="Times New Roman" panose="02020603050405020304" pitchFamily="18" charset="0"/>
              </a:rPr>
              <a:t>. Variables defined within a class are called </a:t>
            </a:r>
            <a:r>
              <a:rPr lang="en-US" b="1" dirty="0">
                <a:latin typeface="Times New Roman" panose="02020603050405020304" pitchFamily="18" charset="0"/>
                <a:cs typeface="Times New Roman" panose="02020603050405020304" pitchFamily="18" charset="0"/>
              </a:rPr>
              <a:t>instance variables.</a:t>
            </a:r>
          </a:p>
          <a:p>
            <a:pPr algn="just">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demo { </a:t>
            </a:r>
          </a:p>
          <a:p>
            <a:pPr marL="0" indent="0" algn="just">
              <a:buNone/>
            </a:pPr>
            <a:r>
              <a:rPr lang="en-US" dirty="0">
                <a:latin typeface="Times New Roman" panose="02020603050405020304" pitchFamily="18" charset="0"/>
                <a:cs typeface="Times New Roman" panose="02020603050405020304" pitchFamily="18" charset="0"/>
              </a:rPr>
              <a:t>int x=1;; int y=2; float z=3; </a:t>
            </a:r>
          </a:p>
          <a:p>
            <a:pPr marL="0" indent="0" algn="just">
              <a:buNone/>
            </a:pPr>
            <a:r>
              <a:rPr lang="en-US" dirty="0">
                <a:latin typeface="Times New Roman" panose="02020603050405020304" pitchFamily="18" charset="0"/>
                <a:cs typeface="Times New Roman" panose="02020603050405020304" pitchFamily="18" charset="0"/>
              </a:rPr>
              <a:t>void display()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(―values are:‖+x+--y+--z);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731919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EFFEB-D544-633E-348A-A1D9F68A74E8}"/>
              </a:ext>
            </a:extLst>
          </p:cNvPr>
          <p:cNvSpPr>
            <a:spLocks noGrp="1"/>
          </p:cNvSpPr>
          <p:nvPr>
            <p:ph idx="1"/>
          </p:nvPr>
        </p:nvSpPr>
        <p:spPr>
          <a:xfrm>
            <a:off x="457200" y="152400"/>
            <a:ext cx="8229600" cy="5973763"/>
          </a:xfrm>
        </p:spPr>
        <p:txBody>
          <a:bodyPr>
            <a:normAutofit fontScale="77500" lnSpcReduction="20000"/>
          </a:bodyPr>
          <a:lstStyle/>
          <a:p>
            <a:pPr marL="0" indent="0" algn="ctr">
              <a:buNone/>
            </a:pPr>
            <a:r>
              <a:rPr lang="en-US" b="1" i="1" dirty="0">
                <a:solidFill>
                  <a:srgbClr val="FF0000"/>
                </a:solidFill>
                <a:latin typeface="Times New Roman" panose="02020603050405020304" pitchFamily="18" charset="0"/>
                <a:cs typeface="Times New Roman" panose="02020603050405020304" pitchFamily="18" charset="0"/>
              </a:rPr>
              <a:t>OBJECTS</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An entity that has state and behavior is known as an object</a:t>
            </a:r>
            <a:r>
              <a:rPr lang="en-US" dirty="0">
                <a:latin typeface="Times New Roman" panose="02020603050405020304" pitchFamily="18" charset="0"/>
                <a:cs typeface="Times New Roman" panose="02020603050405020304" pitchFamily="18" charset="0"/>
              </a:rPr>
              <a:t> e.g. chair, bike, marker, pen, table, car etc. It can be physical or logical (tangible and intangible). The example of intangible object is banking system. </a:t>
            </a:r>
          </a:p>
          <a:p>
            <a:pPr algn="just"/>
            <a:r>
              <a:rPr lang="en-US" b="1" i="1" dirty="0">
                <a:latin typeface="Times New Roman" panose="02020603050405020304" pitchFamily="18" charset="0"/>
                <a:cs typeface="Times New Roman" panose="02020603050405020304" pitchFamily="18" charset="0"/>
              </a:rPr>
              <a:t>An object has three characteristics: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represents data (value) of an object. </a:t>
            </a:r>
          </a:p>
          <a:p>
            <a:pPr algn="just"/>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represents the behavior (functionality) of an object such as deposit, withdraw etc. </a:t>
            </a:r>
          </a:p>
          <a:p>
            <a:pPr algn="just"/>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Object identity is typically implemented via a unique ID. The value of the ID is not visible to the external user. But, it is used internally by the JVM to identify each object uniquely. </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i="1" dirty="0">
                <a:latin typeface="Times New Roman" panose="02020603050405020304" pitchFamily="18" charset="0"/>
                <a:cs typeface="Times New Roman" panose="02020603050405020304" pitchFamily="18" charset="0"/>
              </a:rPr>
              <a:t>For Example: </a:t>
            </a:r>
            <a:r>
              <a:rPr lang="en-US" dirty="0">
                <a:latin typeface="Times New Roman" panose="02020603050405020304" pitchFamily="18" charset="0"/>
                <a:cs typeface="Times New Roman" panose="02020603050405020304" pitchFamily="18" charset="0"/>
              </a:rPr>
              <a:t>Pen is an </a:t>
            </a:r>
            <a:r>
              <a:rPr lang="en-US" dirty="0">
                <a:solidFill>
                  <a:srgbClr val="FF0000"/>
                </a:solidFill>
                <a:latin typeface="Times New Roman" panose="02020603050405020304" pitchFamily="18" charset="0"/>
                <a:cs typeface="Times New Roman" panose="02020603050405020304" pitchFamily="18" charset="0"/>
              </a:rPr>
              <a:t>object. </a:t>
            </a:r>
          </a:p>
          <a:p>
            <a:pPr algn="just"/>
            <a:r>
              <a:rPr lang="en-US" dirty="0">
                <a:latin typeface="Times New Roman" panose="02020603050405020304" pitchFamily="18" charset="0"/>
                <a:cs typeface="Times New Roman" panose="02020603050405020304" pitchFamily="18" charset="0"/>
              </a:rPr>
              <a:t>Its name is Reynolds, color is white etc. known as its </a:t>
            </a:r>
            <a:r>
              <a:rPr lang="en-US" dirty="0">
                <a:solidFill>
                  <a:srgbClr val="FF0000"/>
                </a:solidFill>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It is used to write, so writing is its </a:t>
            </a:r>
            <a:r>
              <a:rPr lang="en-US" dirty="0">
                <a:solidFill>
                  <a:srgbClr val="FF0000"/>
                </a:solidFill>
                <a:latin typeface="Times New Roman" panose="02020603050405020304" pitchFamily="18" charset="0"/>
                <a:cs typeface="Times New Roman" panose="02020603050405020304" pitchFamily="18" charset="0"/>
              </a:rPr>
              <a:t>behavior. </a:t>
            </a:r>
          </a:p>
        </p:txBody>
      </p:sp>
    </p:spTree>
    <p:extLst>
      <p:ext uri="{BB962C8B-B14F-4D97-AF65-F5344CB8AC3E}">
        <p14:creationId xmlns:p14="http://schemas.microsoft.com/office/powerpoint/2010/main" val="32461938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752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957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139</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Operators</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sp>
        <p:nvSpPr>
          <p:cNvPr id="10" name="Rectangle 9"/>
          <p:cNvSpPr/>
          <p:nvPr/>
        </p:nvSpPr>
        <p:spPr>
          <a:xfrm>
            <a:off x="381000" y="990600"/>
            <a:ext cx="8001000" cy="5262979"/>
          </a:xfrm>
          <a:prstGeom prst="rect">
            <a:avLst/>
          </a:prstGeom>
        </p:spPr>
        <p:txBody>
          <a:bodyPr wrap="square">
            <a:spAutoFit/>
          </a:bodyPr>
          <a:lstStyle/>
          <a:p>
            <a:r>
              <a:rPr lang="en-US" sz="2800" b="1" dirty="0"/>
              <a:t>Operator</a:t>
            </a:r>
            <a:r>
              <a:rPr lang="en-US" sz="2800" dirty="0"/>
              <a:t> in java is a symbol that is used to perform operations. For example: +, -, *, / etc.</a:t>
            </a:r>
          </a:p>
          <a:p>
            <a:r>
              <a:rPr lang="en-US" sz="2800" dirty="0"/>
              <a:t>There are many types of operators in java which are given below:</a:t>
            </a:r>
          </a:p>
          <a:p>
            <a:pPr marL="514350" indent="-514350">
              <a:buFont typeface="+mj-lt"/>
              <a:buAutoNum type="arabicPeriod"/>
            </a:pPr>
            <a:r>
              <a:rPr lang="en-US" sz="2800" dirty="0"/>
              <a:t>Unary Operator,</a:t>
            </a:r>
          </a:p>
          <a:p>
            <a:pPr marL="514350" indent="-514350">
              <a:buFont typeface="+mj-lt"/>
              <a:buAutoNum type="arabicPeriod"/>
            </a:pPr>
            <a:r>
              <a:rPr lang="en-US" sz="2800" dirty="0"/>
              <a:t>Arithmetic Operator,</a:t>
            </a:r>
          </a:p>
          <a:p>
            <a:pPr marL="514350" indent="-514350">
              <a:buFont typeface="+mj-lt"/>
              <a:buAutoNum type="arabicPeriod"/>
            </a:pPr>
            <a:r>
              <a:rPr lang="en-US" sz="2800" dirty="0"/>
              <a:t>shift Operator,</a:t>
            </a:r>
          </a:p>
          <a:p>
            <a:pPr marL="514350" indent="-514350">
              <a:buFont typeface="+mj-lt"/>
              <a:buAutoNum type="arabicPeriod"/>
            </a:pPr>
            <a:r>
              <a:rPr lang="en-US" sz="2800" dirty="0"/>
              <a:t>Relational Operator,</a:t>
            </a:r>
          </a:p>
          <a:p>
            <a:pPr marL="514350" indent="-514350">
              <a:buFont typeface="+mj-lt"/>
              <a:buAutoNum type="arabicPeriod"/>
            </a:pPr>
            <a:r>
              <a:rPr lang="en-US" sz="2800" dirty="0"/>
              <a:t>Bitwise Operator,</a:t>
            </a:r>
          </a:p>
          <a:p>
            <a:pPr marL="514350" indent="-514350">
              <a:buFont typeface="+mj-lt"/>
              <a:buAutoNum type="arabicPeriod"/>
            </a:pPr>
            <a:r>
              <a:rPr lang="en-US" sz="2800" dirty="0"/>
              <a:t>Logical Operator,</a:t>
            </a:r>
          </a:p>
          <a:p>
            <a:pPr marL="514350" indent="-514350">
              <a:buFont typeface="+mj-lt"/>
              <a:buAutoNum type="arabicPeriod"/>
            </a:pPr>
            <a:r>
              <a:rPr lang="en-US" sz="2800" dirty="0"/>
              <a:t>Ternary Operator and</a:t>
            </a:r>
          </a:p>
          <a:p>
            <a:pPr marL="514350" indent="-514350">
              <a:buFont typeface="+mj-lt"/>
              <a:buAutoNum type="arabicPeriod"/>
            </a:pPr>
            <a:r>
              <a:rPr lang="en-US" sz="2800" dirty="0"/>
              <a:t>Assignment Operator.</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140</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Operators</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graphicFrame>
        <p:nvGraphicFramePr>
          <p:cNvPr id="10" name="Table 9"/>
          <p:cNvGraphicFramePr>
            <a:graphicFrameLocks noGrp="1"/>
          </p:cNvGraphicFramePr>
          <p:nvPr/>
        </p:nvGraphicFramePr>
        <p:xfrm>
          <a:off x="457200" y="1295400"/>
          <a:ext cx="8001000" cy="5334005"/>
        </p:xfrm>
        <a:graphic>
          <a:graphicData uri="http://schemas.openxmlformats.org/drawingml/2006/table">
            <a:tbl>
              <a:tblPr/>
              <a:tblGrid>
                <a:gridCol w="2667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355539">
                <a:tc>
                  <a:txBody>
                    <a:bodyPr/>
                    <a:lstStyle/>
                    <a:p>
                      <a:pPr algn="l" fontAlgn="t"/>
                      <a:r>
                        <a:rPr lang="en-US" sz="1000">
                          <a:solidFill>
                            <a:srgbClr val="000000"/>
                          </a:solidFill>
                          <a:latin typeface="times new roman"/>
                        </a:rPr>
                        <a:t>Operator Type</a:t>
                      </a:r>
                    </a:p>
                  </a:txBody>
                  <a:tcPr marL="61328" marR="61328" marT="61328" marB="61328">
                    <a:lnL w="9525" cap="flat" cmpd="sng" algn="ctr">
                      <a:solidFill>
                        <a:srgbClr val="0080B8"/>
                      </a:solidFill>
                      <a:prstDash val="solid"/>
                      <a:round/>
                      <a:headEnd type="none" w="med" len="med"/>
                      <a:tailEnd type="none" w="med" len="med"/>
                    </a:lnL>
                    <a:lnR w="9525" cap="flat" cmpd="sng" algn="ctr">
                      <a:solidFill>
                        <a:srgbClr val="0080B8"/>
                      </a:solidFill>
                      <a:prstDash val="solid"/>
                      <a:round/>
                      <a:headEnd type="none" w="med" len="med"/>
                      <a:tailEnd type="none" w="med" len="med"/>
                    </a:lnR>
                    <a:lnT w="9525" cap="flat" cmpd="sng" algn="ctr">
                      <a:solidFill>
                        <a:srgbClr val="0080B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000">
                          <a:solidFill>
                            <a:srgbClr val="000000"/>
                          </a:solidFill>
                          <a:latin typeface="times new roman"/>
                        </a:rPr>
                        <a:t>Category</a:t>
                      </a:r>
                    </a:p>
                  </a:txBody>
                  <a:tcPr marL="61328" marR="61328" marT="61328" marB="61328">
                    <a:lnL w="9525" cap="flat" cmpd="sng" algn="ctr">
                      <a:solidFill>
                        <a:srgbClr val="0080B8"/>
                      </a:solidFill>
                      <a:prstDash val="solid"/>
                      <a:round/>
                      <a:headEnd type="none" w="med" len="med"/>
                      <a:tailEnd type="none" w="med" len="med"/>
                    </a:lnL>
                    <a:lnR w="9525" cap="flat" cmpd="sng" algn="ctr">
                      <a:solidFill>
                        <a:srgbClr val="0080B8"/>
                      </a:solidFill>
                      <a:prstDash val="solid"/>
                      <a:round/>
                      <a:headEnd type="none" w="med" len="med"/>
                      <a:tailEnd type="none" w="med" len="med"/>
                    </a:lnR>
                    <a:lnT w="9525" cap="flat" cmpd="sng" algn="ctr">
                      <a:solidFill>
                        <a:srgbClr val="0080B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000">
                          <a:solidFill>
                            <a:srgbClr val="000000"/>
                          </a:solidFill>
                          <a:latin typeface="times new roman"/>
                        </a:rPr>
                        <a:t>Precedence</a:t>
                      </a:r>
                    </a:p>
                  </a:txBody>
                  <a:tcPr marL="61328" marR="61328" marT="61328" marB="61328">
                    <a:lnL w="9525" cap="flat" cmpd="sng" algn="ctr">
                      <a:solidFill>
                        <a:srgbClr val="0080B8"/>
                      </a:solidFill>
                      <a:prstDash val="solid"/>
                      <a:round/>
                      <a:headEnd type="none" w="med" len="med"/>
                      <a:tailEnd type="none" w="med" len="med"/>
                    </a:lnL>
                    <a:lnR w="9525" cap="flat" cmpd="sng" algn="ctr">
                      <a:solidFill>
                        <a:srgbClr val="0080B8"/>
                      </a:solidFill>
                      <a:prstDash val="solid"/>
                      <a:round/>
                      <a:headEnd type="none" w="med" len="med"/>
                      <a:tailEnd type="none" w="med" len="med"/>
                    </a:lnR>
                    <a:lnT w="9525" cap="flat" cmpd="sng" algn="ctr">
                      <a:solidFill>
                        <a:srgbClr val="0080B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302690">
                <a:tc rowSpan="2">
                  <a:txBody>
                    <a:bodyPr/>
                    <a:lstStyle/>
                    <a:p>
                      <a:pPr algn="just" fontAlgn="t"/>
                      <a:r>
                        <a:rPr lang="en-US" sz="1000" b="0" i="0">
                          <a:solidFill>
                            <a:srgbClr val="000000"/>
                          </a:solidFill>
                          <a:latin typeface="verdana"/>
                        </a:rPr>
                        <a:t>Unary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postfix</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6207">
                <a:tc vMerge="1">
                  <a:txBody>
                    <a:bodyPr/>
                    <a:lstStyle/>
                    <a:p>
                      <a:endParaRPr lang="en-US"/>
                    </a:p>
                  </a:txBody>
                  <a:tcPr/>
                </a:tc>
                <a:tc>
                  <a:txBody>
                    <a:bodyPr/>
                    <a:lstStyle/>
                    <a:p>
                      <a:pPr algn="just" fontAlgn="t"/>
                      <a:r>
                        <a:rPr lang="en-US" sz="1000" b="0" i="0">
                          <a:solidFill>
                            <a:srgbClr val="000000"/>
                          </a:solidFill>
                          <a:latin typeface="verdana"/>
                        </a:rPr>
                        <a:t>prefix</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t>
                      </a:r>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 ~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302690">
                <a:tc rowSpan="2">
                  <a:txBody>
                    <a:bodyPr/>
                    <a:lstStyle/>
                    <a:p>
                      <a:pPr algn="just" fontAlgn="t"/>
                      <a:r>
                        <a:rPr lang="en-US" sz="1000" b="0" i="0">
                          <a:solidFill>
                            <a:srgbClr val="000000"/>
                          </a:solidFill>
                          <a:latin typeface="verdana"/>
                        </a:rPr>
                        <a:t>Arithmetic</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multiplicative</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 /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2690">
                <a:tc vMerge="1">
                  <a:txBody>
                    <a:bodyPr/>
                    <a:lstStyle/>
                    <a:p>
                      <a:endParaRPr lang="en-US"/>
                    </a:p>
                  </a:txBody>
                  <a:tcPr/>
                </a:tc>
                <a:tc>
                  <a:txBody>
                    <a:bodyPr/>
                    <a:lstStyle/>
                    <a:p>
                      <a:pPr algn="just" fontAlgn="t"/>
                      <a:r>
                        <a:rPr lang="en-US" sz="1000" b="0" i="0">
                          <a:solidFill>
                            <a:srgbClr val="000000"/>
                          </a:solidFill>
                          <a:latin typeface="verdana"/>
                        </a:rPr>
                        <a:t>additive</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302690">
                <a:tc>
                  <a:txBody>
                    <a:bodyPr/>
                    <a:lstStyle/>
                    <a:p>
                      <a:pPr algn="just" fontAlgn="t"/>
                      <a:r>
                        <a:rPr lang="en-US" sz="1000" b="0" i="0">
                          <a:solidFill>
                            <a:srgbClr val="000000"/>
                          </a:solidFill>
                          <a:latin typeface="verdana"/>
                        </a:rPr>
                        <a:t>Shift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shift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&lt;&lt; &gt;&gt; &gt;&gt;&gt;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6207">
                <a:tc rowSpan="2">
                  <a:txBody>
                    <a:bodyPr/>
                    <a:lstStyle/>
                    <a:p>
                      <a:pPr algn="just" fontAlgn="t"/>
                      <a:r>
                        <a:rPr lang="en-US" sz="1000" b="0" i="0">
                          <a:solidFill>
                            <a:srgbClr val="000000"/>
                          </a:solidFill>
                          <a:latin typeface="verdana"/>
                        </a:rPr>
                        <a:t>Relational</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comparison</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&lt; &gt; &lt;= &gt;= instanceof</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302690">
                <a:tc vMerge="1">
                  <a:txBody>
                    <a:bodyPr/>
                    <a:lstStyle/>
                    <a:p>
                      <a:endParaRPr lang="en-US"/>
                    </a:p>
                  </a:txBody>
                  <a:tcPr/>
                </a:tc>
                <a:tc>
                  <a:txBody>
                    <a:bodyPr/>
                    <a:lstStyle/>
                    <a:p>
                      <a:pPr algn="just" fontAlgn="t"/>
                      <a:r>
                        <a:rPr lang="en-US" sz="1000" b="0" i="0">
                          <a:solidFill>
                            <a:srgbClr val="000000"/>
                          </a:solidFill>
                          <a:latin typeface="verdana"/>
                        </a:rPr>
                        <a:t>equality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2690">
                <a:tc rowSpan="3">
                  <a:txBody>
                    <a:bodyPr/>
                    <a:lstStyle/>
                    <a:p>
                      <a:pPr algn="just" fontAlgn="t"/>
                      <a:r>
                        <a:rPr lang="en-US" sz="1000" b="0" i="0">
                          <a:solidFill>
                            <a:srgbClr val="000000"/>
                          </a:solidFill>
                          <a:latin typeface="verdana"/>
                        </a:rPr>
                        <a:t>Bitwise</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bitwise AND</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&amp;</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8"/>
                  </a:ext>
                </a:extLst>
              </a:tr>
              <a:tr h="302690">
                <a:tc vMerge="1">
                  <a:txBody>
                    <a:bodyPr/>
                    <a:lstStyle/>
                    <a:p>
                      <a:endParaRPr lang="en-US"/>
                    </a:p>
                  </a:txBody>
                  <a:tcPr/>
                </a:tc>
                <a:tc>
                  <a:txBody>
                    <a:bodyPr/>
                    <a:lstStyle/>
                    <a:p>
                      <a:pPr algn="just" fontAlgn="t"/>
                      <a:r>
                        <a:rPr lang="en-US" sz="1000" b="0" i="0">
                          <a:solidFill>
                            <a:srgbClr val="000000"/>
                          </a:solidFill>
                          <a:latin typeface="verdana"/>
                        </a:rPr>
                        <a:t>bitwise exclusive OR</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2690">
                <a:tc vMerge="1">
                  <a:txBody>
                    <a:bodyPr/>
                    <a:lstStyle/>
                    <a:p>
                      <a:endParaRPr lang="en-US"/>
                    </a:p>
                  </a:txBody>
                  <a:tcPr/>
                </a:tc>
                <a:tc>
                  <a:txBody>
                    <a:bodyPr/>
                    <a:lstStyle/>
                    <a:p>
                      <a:pPr algn="just" fontAlgn="t"/>
                      <a:r>
                        <a:rPr lang="en-US" sz="1000" b="0" i="0">
                          <a:solidFill>
                            <a:srgbClr val="000000"/>
                          </a:solidFill>
                          <a:latin typeface="verdana"/>
                        </a:rPr>
                        <a:t>bitwise inclusive OR</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0"/>
                  </a:ext>
                </a:extLst>
              </a:tr>
              <a:tr h="302690">
                <a:tc rowSpan="2">
                  <a:txBody>
                    <a:bodyPr/>
                    <a:lstStyle/>
                    <a:p>
                      <a:pPr algn="just" fontAlgn="t"/>
                      <a:r>
                        <a:rPr lang="en-US" sz="1000" b="0" i="0">
                          <a:solidFill>
                            <a:srgbClr val="000000"/>
                          </a:solidFill>
                          <a:latin typeface="verdana"/>
                        </a:rPr>
                        <a:t>Logical</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logical AND</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&amp;&amp;</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2690">
                <a:tc vMerge="1">
                  <a:txBody>
                    <a:bodyPr/>
                    <a:lstStyle/>
                    <a:p>
                      <a:endParaRPr lang="en-US"/>
                    </a:p>
                  </a:txBody>
                  <a:tcPr/>
                </a:tc>
                <a:tc>
                  <a:txBody>
                    <a:bodyPr/>
                    <a:lstStyle/>
                    <a:p>
                      <a:pPr algn="just" fontAlgn="t"/>
                      <a:r>
                        <a:rPr lang="en-US" sz="1000" b="0" i="0">
                          <a:solidFill>
                            <a:srgbClr val="000000"/>
                          </a:solidFill>
                          <a:latin typeface="verdana"/>
                        </a:rPr>
                        <a:t>logical OR</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2"/>
                  </a:ext>
                </a:extLst>
              </a:tr>
              <a:tr h="302690">
                <a:tc>
                  <a:txBody>
                    <a:bodyPr/>
                    <a:lstStyle/>
                    <a:p>
                      <a:pPr algn="just" fontAlgn="t"/>
                      <a:r>
                        <a:rPr lang="en-US" sz="1000" b="0" i="0">
                          <a:solidFill>
                            <a:srgbClr val="000000"/>
                          </a:solidFill>
                          <a:latin typeface="verdana"/>
                        </a:rPr>
                        <a:t>Ternary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ternary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676462">
                <a:tc>
                  <a:txBody>
                    <a:bodyPr/>
                    <a:lstStyle/>
                    <a:p>
                      <a:pPr algn="just" fontAlgn="t"/>
                      <a:r>
                        <a:rPr lang="en-US" sz="1000" b="0" i="0">
                          <a:solidFill>
                            <a:srgbClr val="000000"/>
                          </a:solidFill>
                          <a:latin typeface="verdana"/>
                        </a:rPr>
                        <a:t>Assignment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assignment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dirty="0">
                          <a:solidFill>
                            <a:srgbClr val="000000"/>
                          </a:solidFill>
                          <a:latin typeface="verdana"/>
                        </a:rPr>
                        <a:t>= += -= *= /= %= &amp;= ^= |= &lt;&lt;= &gt;&gt;= &gt;&gt;&gt;=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4"/>
                  </a:ext>
                </a:extLst>
              </a:tr>
            </a:tbl>
          </a:graphicData>
        </a:graphic>
      </p:graphicFrame>
      <p:sp>
        <p:nvSpPr>
          <p:cNvPr id="409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1"/>
          <p:cNvPicPr>
            <a:picLocks noChangeAspect="1" noChangeArrowheads="1"/>
          </p:cNvPicPr>
          <p:nvPr/>
        </p:nvPicPr>
        <p:blipFill>
          <a:blip r:embed="rId3" cstate="print"/>
          <a:srcRect/>
          <a:stretch>
            <a:fillRect/>
          </a:stretch>
        </p:blipFill>
        <p:spPr bwMode="auto">
          <a:xfrm>
            <a:off x="0" y="9501"/>
            <a:ext cx="9144000" cy="6848499"/>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155</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The </a:t>
            </a:r>
            <a:r>
              <a:rPr lang="en-US" sz="3600" b="1" dirty="0"/>
              <a:t>static keyword</a:t>
            </a:r>
            <a:r>
              <a:rPr lang="en-US" sz="3600" dirty="0"/>
              <a:t> in java is used for memory management mainly. We can apply java static keyword with variables, methods, blocks and nested class. The static keyword belongs to the class than instance of the class.</a:t>
            </a:r>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156</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The static can be:</a:t>
            </a:r>
          </a:p>
          <a:p>
            <a:pPr>
              <a:buFont typeface="Wingdings" pitchFamily="2" charset="2"/>
              <a:buChar char="Ø"/>
            </a:pPr>
            <a:r>
              <a:rPr lang="en-US" sz="3600" dirty="0"/>
              <a:t>variable (also known as class variable)</a:t>
            </a:r>
          </a:p>
          <a:p>
            <a:pPr>
              <a:buFont typeface="Wingdings" pitchFamily="2" charset="2"/>
              <a:buChar char="Ø"/>
            </a:pPr>
            <a:r>
              <a:rPr lang="en-US" sz="3600" dirty="0"/>
              <a:t>method (also known as class method)</a:t>
            </a:r>
          </a:p>
          <a:p>
            <a:pPr>
              <a:buFont typeface="Wingdings" pitchFamily="2" charset="2"/>
              <a:buChar char="Ø"/>
            </a:pPr>
            <a:r>
              <a:rPr lang="en-US" sz="3600" dirty="0"/>
              <a:t>block</a:t>
            </a:r>
          </a:p>
          <a:p>
            <a:pPr>
              <a:buFont typeface="Wingdings" pitchFamily="2" charset="2"/>
              <a:buChar char="Ø"/>
            </a:pPr>
            <a:r>
              <a:rPr lang="en-US" sz="3600" dirty="0"/>
              <a:t>nested class</a:t>
            </a:r>
          </a:p>
          <a:p>
            <a:endParaRPr lang="en-US" sz="3600" dirty="0"/>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157</a:t>
            </a:fld>
            <a:endParaRPr lang="en-US"/>
          </a:p>
        </p:txBody>
      </p:sp>
      <p:sp>
        <p:nvSpPr>
          <p:cNvPr id="15363" name="Rectangle 18"/>
          <p:cNvSpPr>
            <a:spLocks noChangeArrowheads="1"/>
          </p:cNvSpPr>
          <p:nvPr/>
        </p:nvSpPr>
        <p:spPr bwMode="auto">
          <a:xfrm>
            <a:off x="228600" y="1219200"/>
            <a:ext cx="7696200" cy="5078313"/>
          </a:xfrm>
          <a:prstGeom prst="rect">
            <a:avLst/>
          </a:prstGeom>
          <a:noFill/>
          <a:ln w="9525">
            <a:noFill/>
            <a:miter lim="800000"/>
            <a:headEnd/>
            <a:tailEnd/>
          </a:ln>
        </p:spPr>
        <p:txBody>
          <a:bodyPr>
            <a:spAutoFit/>
          </a:bodyPr>
          <a:lstStyle/>
          <a:p>
            <a:r>
              <a:rPr lang="en-US" sz="3600" b="1" dirty="0"/>
              <a:t>static variable</a:t>
            </a:r>
          </a:p>
          <a:p>
            <a:r>
              <a:rPr lang="en-US" sz="3600" dirty="0"/>
              <a:t>If you declare any variable as static, it is known static variable.</a:t>
            </a:r>
          </a:p>
          <a:p>
            <a:r>
              <a:rPr lang="en-US" sz="3600" dirty="0"/>
              <a:t>The static variable can be used to refer the common property of all objects (that is not unique for each object) e.g. company name of </a:t>
            </a:r>
            <a:r>
              <a:rPr lang="en-US" sz="3600" dirty="0" err="1"/>
              <a:t>employees,college</a:t>
            </a:r>
            <a:r>
              <a:rPr lang="en-US" sz="3600" dirty="0"/>
              <a:t> name of students etc.</a:t>
            </a:r>
          </a:p>
          <a:p>
            <a:endParaRPr lang="en-US" sz="3600" dirty="0"/>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158</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The static variable gets memory only once in class area at the time of class loading.</a:t>
            </a:r>
          </a:p>
          <a:p>
            <a:r>
              <a:rPr lang="en-US" sz="3600" b="1" dirty="0"/>
              <a:t>Advantage:</a:t>
            </a:r>
          </a:p>
          <a:p>
            <a:r>
              <a:rPr lang="en-US" sz="3600" dirty="0"/>
              <a:t>It makes your program </a:t>
            </a:r>
            <a:r>
              <a:rPr lang="en-US" sz="3600" b="1" dirty="0"/>
              <a:t>memory efficient</a:t>
            </a:r>
            <a:r>
              <a:rPr lang="en-US" sz="3600" dirty="0"/>
              <a:t> (</a:t>
            </a:r>
            <a:r>
              <a:rPr lang="en-US" sz="3600" dirty="0" err="1"/>
              <a:t>i.e</a:t>
            </a:r>
            <a:r>
              <a:rPr lang="en-US" sz="3600" dirty="0"/>
              <a:t> it saves memory).</a:t>
            </a:r>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
        <p:nvSpPr>
          <p:cNvPr id="8" name="TextBox 7"/>
          <p:cNvSpPr txBox="1"/>
          <p:nvPr/>
        </p:nvSpPr>
        <p:spPr>
          <a:xfrm>
            <a:off x="914400" y="5562600"/>
            <a:ext cx="6400800" cy="523220"/>
          </a:xfrm>
          <a:prstGeom prst="rect">
            <a:avLst/>
          </a:prstGeom>
          <a:noFill/>
        </p:spPr>
        <p:txBody>
          <a:bodyPr wrap="square" rtlCol="0">
            <a:spAutoFit/>
          </a:bodyPr>
          <a:lstStyle/>
          <a:p>
            <a:r>
              <a:rPr lang="en-US" sz="2800" dirty="0">
                <a:solidFill>
                  <a:srgbClr val="FF0000"/>
                </a:solidFill>
              </a:rPr>
              <a:t>Refer  Program Student.java</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159</a:t>
            </a:fld>
            <a:endParaRPr lang="en-US"/>
          </a:p>
        </p:txBody>
      </p:sp>
      <p:sp>
        <p:nvSpPr>
          <p:cNvPr id="15363" name="Rectangle 18"/>
          <p:cNvSpPr>
            <a:spLocks noChangeArrowheads="1"/>
          </p:cNvSpPr>
          <p:nvPr/>
        </p:nvSpPr>
        <p:spPr bwMode="auto">
          <a:xfrm>
            <a:off x="228600" y="1219200"/>
            <a:ext cx="7696200" cy="6186309"/>
          </a:xfrm>
          <a:prstGeom prst="rect">
            <a:avLst/>
          </a:prstGeom>
          <a:noFill/>
          <a:ln w="9525">
            <a:noFill/>
            <a:miter lim="800000"/>
            <a:headEnd/>
            <a:tailEnd/>
          </a:ln>
        </p:spPr>
        <p:txBody>
          <a:bodyPr>
            <a:spAutoFit/>
          </a:bodyPr>
          <a:lstStyle/>
          <a:p>
            <a:r>
              <a:rPr lang="en-US" sz="3600" b="1" dirty="0"/>
              <a:t>Java static method</a:t>
            </a:r>
          </a:p>
          <a:p>
            <a:r>
              <a:rPr lang="en-US" sz="3600" dirty="0"/>
              <a:t>If you apply static keyword with any method, it is known as static method.</a:t>
            </a:r>
          </a:p>
          <a:p>
            <a:r>
              <a:rPr lang="en-US" sz="3600" dirty="0"/>
              <a:t>A static method belongs to the class rather than object of a class.</a:t>
            </a:r>
          </a:p>
          <a:p>
            <a:r>
              <a:rPr lang="en-US" sz="3600" dirty="0"/>
              <a:t>A static method can be invoked without the need for creating an instance of a class.</a:t>
            </a:r>
          </a:p>
          <a:p>
            <a:endParaRPr lang="en-US" sz="3600" dirty="0"/>
          </a:p>
          <a:p>
            <a:r>
              <a:rPr lang="en-US" sz="3600" dirty="0">
                <a:solidFill>
                  <a:srgbClr val="FF0000"/>
                </a:solidFill>
              </a:rPr>
              <a:t>Refer Program StaticMethod.java</a:t>
            </a:r>
          </a:p>
          <a:p>
            <a:endParaRPr lang="en-US" sz="3600" dirty="0"/>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160</a:t>
            </a:fld>
            <a:endParaRPr lang="en-US"/>
          </a:p>
        </p:txBody>
      </p:sp>
      <p:sp>
        <p:nvSpPr>
          <p:cNvPr id="15363" name="Rectangle 18"/>
          <p:cNvSpPr>
            <a:spLocks noChangeArrowheads="1"/>
          </p:cNvSpPr>
          <p:nvPr/>
        </p:nvSpPr>
        <p:spPr bwMode="auto">
          <a:xfrm>
            <a:off x="228600" y="1219200"/>
            <a:ext cx="7696200" cy="6740307"/>
          </a:xfrm>
          <a:prstGeom prst="rect">
            <a:avLst/>
          </a:prstGeom>
          <a:noFill/>
          <a:ln w="9525">
            <a:noFill/>
            <a:miter lim="800000"/>
            <a:headEnd/>
            <a:tailEnd/>
          </a:ln>
        </p:spPr>
        <p:txBody>
          <a:bodyPr>
            <a:spAutoFit/>
          </a:bodyPr>
          <a:lstStyle/>
          <a:p>
            <a:r>
              <a:rPr lang="en-US" sz="3600" dirty="0"/>
              <a:t>static method can access static data member and can change the value of it.</a:t>
            </a:r>
          </a:p>
          <a:p>
            <a:r>
              <a:rPr lang="en-US" sz="3600" b="1" dirty="0"/>
              <a:t>Restrictions for static method</a:t>
            </a:r>
          </a:p>
          <a:p>
            <a:r>
              <a:rPr lang="en-US" sz="3600" dirty="0"/>
              <a:t>There are two main restrictions for the static method. </a:t>
            </a:r>
          </a:p>
          <a:p>
            <a:pPr marL="742950" indent="-742950">
              <a:buFont typeface="+mj-lt"/>
              <a:buAutoNum type="arabicPeriod"/>
            </a:pPr>
            <a:r>
              <a:rPr lang="en-US" sz="3600" dirty="0"/>
              <a:t>The static method can not use non static data member or call non-static method directly.</a:t>
            </a:r>
          </a:p>
          <a:p>
            <a:pPr marL="742950" indent="-742950">
              <a:buFont typeface="+mj-lt"/>
              <a:buAutoNum type="arabicPeriod"/>
            </a:pPr>
            <a:r>
              <a:rPr lang="en-US" sz="3600" dirty="0"/>
              <a:t>this and super cannot be used in static context.</a:t>
            </a:r>
          </a:p>
          <a:p>
            <a:endParaRPr lang="en-US" sz="3600" dirty="0"/>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161</a:t>
            </a:fld>
            <a:endParaRPr lang="en-US"/>
          </a:p>
        </p:txBody>
      </p:sp>
      <p:sp>
        <p:nvSpPr>
          <p:cNvPr id="15363" name="Rectangle 18"/>
          <p:cNvSpPr>
            <a:spLocks noChangeArrowheads="1"/>
          </p:cNvSpPr>
          <p:nvPr/>
        </p:nvSpPr>
        <p:spPr bwMode="auto">
          <a:xfrm>
            <a:off x="228600" y="1219200"/>
            <a:ext cx="7696200" cy="3970318"/>
          </a:xfrm>
          <a:prstGeom prst="rect">
            <a:avLst/>
          </a:prstGeom>
          <a:noFill/>
          <a:ln w="9525">
            <a:noFill/>
            <a:miter lim="800000"/>
            <a:headEnd/>
            <a:tailEnd/>
          </a:ln>
        </p:spPr>
        <p:txBody>
          <a:bodyPr>
            <a:spAutoFit/>
          </a:bodyPr>
          <a:lstStyle/>
          <a:p>
            <a:r>
              <a:rPr lang="en-US" sz="3600" b="1" dirty="0"/>
              <a:t>Java static block</a:t>
            </a:r>
          </a:p>
          <a:p>
            <a:r>
              <a:rPr lang="en-US" sz="3600" dirty="0"/>
              <a:t>Is used to initialize the static data member.</a:t>
            </a:r>
          </a:p>
          <a:p>
            <a:r>
              <a:rPr lang="en-US" sz="3600" dirty="0"/>
              <a:t>It is executed before main method at the time of </a:t>
            </a:r>
            <a:r>
              <a:rPr lang="en-US" sz="3600" dirty="0" err="1"/>
              <a:t>classloading</a:t>
            </a:r>
            <a:r>
              <a:rPr lang="en-US" sz="3600" dirty="0"/>
              <a:t>.</a:t>
            </a:r>
          </a:p>
          <a:p>
            <a:endParaRPr lang="en-US" sz="3600" dirty="0"/>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
        <p:nvSpPr>
          <p:cNvPr id="7" name="TextBox 6"/>
          <p:cNvSpPr txBox="1"/>
          <p:nvPr/>
        </p:nvSpPr>
        <p:spPr>
          <a:xfrm>
            <a:off x="1219200" y="5791200"/>
            <a:ext cx="6172200" cy="523220"/>
          </a:xfrm>
          <a:prstGeom prst="rect">
            <a:avLst/>
          </a:prstGeom>
          <a:noFill/>
        </p:spPr>
        <p:txBody>
          <a:bodyPr wrap="square" rtlCol="0">
            <a:spAutoFit/>
          </a:bodyPr>
          <a:lstStyle/>
          <a:p>
            <a:r>
              <a:rPr lang="en-US" sz="2800" dirty="0">
                <a:solidFill>
                  <a:srgbClr val="FF0000"/>
                </a:solidFill>
              </a:rPr>
              <a:t>Refer program A2.java</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162</a:t>
            </a:fld>
            <a:endParaRPr lang="en-US"/>
          </a:p>
        </p:txBody>
      </p:sp>
      <p:sp>
        <p:nvSpPr>
          <p:cNvPr id="15363" name="Rectangle 18"/>
          <p:cNvSpPr>
            <a:spLocks noChangeArrowheads="1"/>
          </p:cNvSpPr>
          <p:nvPr/>
        </p:nvSpPr>
        <p:spPr bwMode="auto">
          <a:xfrm>
            <a:off x="228600" y="1219200"/>
            <a:ext cx="7696200" cy="6740307"/>
          </a:xfrm>
          <a:prstGeom prst="rect">
            <a:avLst/>
          </a:prstGeom>
          <a:noFill/>
          <a:ln w="9525">
            <a:noFill/>
            <a:miter lim="800000"/>
            <a:headEnd/>
            <a:tailEnd/>
          </a:ln>
        </p:spPr>
        <p:txBody>
          <a:bodyPr>
            <a:spAutoFit/>
          </a:bodyPr>
          <a:lstStyle/>
          <a:p>
            <a:r>
              <a:rPr lang="en-US" sz="3600" dirty="0"/>
              <a:t>Generally, string is a sequence of characters. But in java, string is an object that represents a sequence of characters. The </a:t>
            </a:r>
            <a:r>
              <a:rPr lang="en-US" sz="3600" dirty="0" err="1"/>
              <a:t>java.lang.String</a:t>
            </a:r>
            <a:r>
              <a:rPr lang="en-US" sz="3600" dirty="0"/>
              <a:t> class is used to create string object.</a:t>
            </a:r>
          </a:p>
          <a:p>
            <a:r>
              <a:rPr lang="en-US" sz="3600" dirty="0"/>
              <a:t>For example:</a:t>
            </a:r>
          </a:p>
          <a:p>
            <a:r>
              <a:rPr lang="en-US" sz="3600" b="1" dirty="0"/>
              <a:t>char</a:t>
            </a:r>
            <a:r>
              <a:rPr lang="en-US" sz="3600" dirty="0"/>
              <a:t>[] </a:t>
            </a:r>
            <a:r>
              <a:rPr lang="en-US" sz="3600" dirty="0" err="1"/>
              <a:t>ch</a:t>
            </a:r>
            <a:r>
              <a:rPr lang="en-US" sz="3600" dirty="0"/>
              <a:t>={'</a:t>
            </a:r>
            <a:r>
              <a:rPr lang="en-US" sz="3600" dirty="0" err="1"/>
              <a:t>j','a','v','a','t','p','o','i','n','t</a:t>
            </a:r>
            <a:r>
              <a:rPr lang="en-US" sz="3600" dirty="0"/>
              <a:t>'};  </a:t>
            </a:r>
          </a:p>
          <a:p>
            <a:r>
              <a:rPr lang="en-US" sz="3600" dirty="0"/>
              <a:t>String s=</a:t>
            </a:r>
            <a:r>
              <a:rPr lang="en-US" sz="3600" b="1" dirty="0"/>
              <a:t>new</a:t>
            </a:r>
            <a:r>
              <a:rPr lang="en-US" sz="3600" dirty="0"/>
              <a:t> String(</a:t>
            </a:r>
            <a:r>
              <a:rPr lang="en-US" sz="3600" dirty="0" err="1"/>
              <a:t>ch</a:t>
            </a:r>
            <a:r>
              <a:rPr lang="en-US" sz="3600" dirty="0"/>
              <a:t>); </a:t>
            </a:r>
          </a:p>
          <a:p>
            <a:r>
              <a:rPr lang="en-US" sz="3600" dirty="0"/>
              <a:t>same as</a:t>
            </a:r>
          </a:p>
          <a:p>
            <a:r>
              <a:rPr lang="en-US" sz="3600" dirty="0"/>
              <a:t>String s="</a:t>
            </a:r>
            <a:r>
              <a:rPr lang="en-US" sz="3600" dirty="0" err="1"/>
              <a:t>javatpoint</a:t>
            </a:r>
            <a:r>
              <a:rPr lang="en-US" sz="3600" dirty="0"/>
              <a:t>";  </a:t>
            </a:r>
          </a:p>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163</a:t>
            </a:fld>
            <a:endParaRPr lang="en-US"/>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TextBox 6"/>
          <p:cNvSpPr txBox="1"/>
          <p:nvPr/>
        </p:nvSpPr>
        <p:spPr>
          <a:xfrm>
            <a:off x="685800" y="1600200"/>
            <a:ext cx="8153400" cy="4401205"/>
          </a:xfrm>
          <a:prstGeom prst="rect">
            <a:avLst/>
          </a:prstGeom>
          <a:noFill/>
        </p:spPr>
        <p:txBody>
          <a:bodyPr wrap="square" rtlCol="0">
            <a:spAutoFit/>
          </a:bodyPr>
          <a:lstStyle/>
          <a:p>
            <a:r>
              <a:rPr lang="en-US" sz="2800" b="1" dirty="0"/>
              <a:t>Java String</a:t>
            </a:r>
            <a:r>
              <a:rPr lang="en-US" sz="2800" dirty="0"/>
              <a:t> class provides a lot of methods to perform operations on string such as compare(), </a:t>
            </a:r>
            <a:r>
              <a:rPr lang="en-US" sz="2800" dirty="0" err="1"/>
              <a:t>concat</a:t>
            </a:r>
            <a:r>
              <a:rPr lang="en-US" sz="2800" dirty="0"/>
              <a:t>(), equals(), split(), length(), replace(), </a:t>
            </a:r>
            <a:r>
              <a:rPr lang="en-US" sz="2800" dirty="0" err="1"/>
              <a:t>compareTo</a:t>
            </a:r>
            <a:r>
              <a:rPr lang="en-US" sz="2800" dirty="0"/>
              <a:t>(), intern(), substring() etc.</a:t>
            </a:r>
          </a:p>
          <a:p>
            <a:endParaRPr lang="en-US" sz="2800" dirty="0"/>
          </a:p>
          <a:p>
            <a:r>
              <a:rPr lang="en-US" sz="2800" b="1" dirty="0"/>
              <a:t>How to create String object?</a:t>
            </a:r>
          </a:p>
          <a:p>
            <a:r>
              <a:rPr lang="en-US" sz="2800" dirty="0"/>
              <a:t>There are two ways to create String object:</a:t>
            </a:r>
          </a:p>
          <a:p>
            <a:pPr>
              <a:buFont typeface="Wingdings" pitchFamily="2" charset="2"/>
              <a:buChar char="Ø"/>
            </a:pPr>
            <a:r>
              <a:rPr lang="en-US" sz="2800" dirty="0"/>
              <a:t>By string literal</a:t>
            </a:r>
          </a:p>
          <a:p>
            <a:pPr>
              <a:buFont typeface="Wingdings" pitchFamily="2" charset="2"/>
              <a:buChar char="Ø"/>
            </a:pPr>
            <a:r>
              <a:rPr lang="en-US" sz="2800" dirty="0"/>
              <a:t>By new keyword</a:t>
            </a:r>
          </a:p>
          <a:p>
            <a:endParaRPr lang="en-US" sz="28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164</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1) String Literal</a:t>
            </a:r>
          </a:p>
          <a:p>
            <a:r>
              <a:rPr lang="en-US" sz="3600" dirty="0"/>
              <a:t>Java String literal is created by using double quotes.</a:t>
            </a:r>
          </a:p>
          <a:p>
            <a:r>
              <a:rPr lang="en-US" sz="3600" dirty="0"/>
              <a:t> For Example: String s="welcome";</a:t>
            </a:r>
          </a:p>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165</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4832092"/>
          </a:xfrm>
          <a:prstGeom prst="rect">
            <a:avLst/>
          </a:prstGeom>
        </p:spPr>
        <p:txBody>
          <a:bodyPr wrap="square">
            <a:spAutoFit/>
          </a:bodyPr>
          <a:lstStyle/>
          <a:p>
            <a:r>
              <a:rPr lang="en-US" sz="2800" dirty="0"/>
              <a:t>Each time you create a string literal, the JVM checks the string constant pool first. If the string already exists in the pool, a reference to the pooled instance is returned. If string doesn't exist in the pool, a new string instance is created and placed in the pool.</a:t>
            </a:r>
          </a:p>
          <a:p>
            <a:r>
              <a:rPr lang="en-US" sz="2800" dirty="0"/>
              <a:t> For example:</a:t>
            </a:r>
          </a:p>
          <a:p>
            <a:r>
              <a:rPr lang="en-US" sz="2800" dirty="0"/>
              <a:t>String s1="Welcome";  </a:t>
            </a:r>
          </a:p>
          <a:p>
            <a:r>
              <a:rPr lang="en-US" sz="2800" dirty="0"/>
              <a:t>String s2="Welcome";//will not create new instance  </a:t>
            </a:r>
          </a:p>
          <a:p>
            <a:endParaRPr lang="en-US" sz="28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166</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2677656"/>
          </a:xfrm>
          <a:prstGeom prst="rect">
            <a:avLst/>
          </a:prstGeom>
        </p:spPr>
        <p:txBody>
          <a:bodyPr wrap="square">
            <a:spAutoFit/>
          </a:bodyPr>
          <a:lstStyle/>
          <a:p>
            <a:r>
              <a:rPr lang="en-US" sz="2800" b="1" dirty="0"/>
              <a:t>Why java uses concept of string literal?</a:t>
            </a:r>
          </a:p>
          <a:p>
            <a:r>
              <a:rPr lang="en-US" sz="2800" dirty="0"/>
              <a:t>To make Java more memory efficient (because no new objects are created if it exists already in string constant pool).</a:t>
            </a:r>
          </a:p>
          <a:p>
            <a:r>
              <a:rPr lang="en-US" sz="2800" dirty="0"/>
              <a:t>  </a:t>
            </a:r>
          </a:p>
          <a:p>
            <a:endParaRPr lang="en-US" sz="2800" dirty="0"/>
          </a:p>
        </p:txBody>
      </p:sp>
      <p:sp>
        <p:nvSpPr>
          <p:cNvPr id="8" name="Rectangle 2"/>
          <p:cNvSpPr txBox="1">
            <a:spLocks noChangeArrowheads="1"/>
          </p:cNvSpPr>
          <p:nvPr/>
        </p:nvSpPr>
        <p:spPr bwMode="auto">
          <a:xfrm>
            <a:off x="685800" y="5334000"/>
            <a:ext cx="5638800" cy="457200"/>
          </a:xfrm>
          <a:prstGeom prst="rect">
            <a:avLst/>
          </a:prstGeom>
          <a:solidFill>
            <a:srgbClr val="FF0000"/>
          </a:solidFill>
          <a:ln w="9525">
            <a:noFill/>
            <a:miter lim="800000"/>
            <a:headEnd/>
            <a:tailEnd/>
          </a:ln>
        </p:spPr>
        <p:txBody>
          <a:bodyPr anchor="ctr"/>
          <a:lstStyle/>
          <a:p>
            <a:pPr>
              <a:defRPr/>
            </a:pPr>
            <a:r>
              <a:rPr lang="en-US" sz="1000" kern="0" dirty="0">
                <a:solidFill>
                  <a:schemeClr val="tx2"/>
                </a:solidFill>
                <a:latin typeface="+mj-lt"/>
                <a:ea typeface="+mj-ea"/>
                <a:cs typeface="+mj-cs"/>
              </a:rPr>
              <a:t>   </a:t>
            </a:r>
            <a:r>
              <a:rPr lang="en-US" sz="1600" b="1" kern="0" dirty="0">
                <a:solidFill>
                  <a:schemeClr val="tx2"/>
                </a:solidFill>
                <a:latin typeface="Times New Roman" pitchFamily="18" charset="0"/>
                <a:ea typeface="+mj-ea"/>
                <a:cs typeface="Times New Roman" pitchFamily="18" charset="0"/>
              </a:rPr>
              <a:t>Example Program  :  String Example             </a:t>
            </a:r>
            <a:endParaRPr lang="en-US" sz="1000" b="1" kern="0" dirty="0">
              <a:solidFill>
                <a:schemeClr val="tx2"/>
              </a:solidFill>
              <a:latin typeface="Times New Roman" pitchFamily="18" charset="0"/>
              <a:ea typeface="+mj-ea"/>
              <a:cs typeface="Times New Roman" pitchFamily="18"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167</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954107"/>
          </a:xfrm>
          <a:prstGeom prst="rect">
            <a:avLst/>
          </a:prstGeom>
        </p:spPr>
        <p:txBody>
          <a:bodyPr wrap="square">
            <a:spAutoFit/>
          </a:bodyPr>
          <a:lstStyle/>
          <a:p>
            <a:r>
              <a:rPr lang="en-US" sz="2800" dirty="0"/>
              <a:t>  </a:t>
            </a:r>
          </a:p>
          <a:p>
            <a:endParaRPr lang="en-US" sz="2800" dirty="0"/>
          </a:p>
        </p:txBody>
      </p:sp>
      <p:sp>
        <p:nvSpPr>
          <p:cNvPr id="8" name="Rectangle 7"/>
          <p:cNvSpPr/>
          <p:nvPr/>
        </p:nvSpPr>
        <p:spPr>
          <a:xfrm>
            <a:off x="838200" y="1295400"/>
            <a:ext cx="7772400" cy="4401205"/>
          </a:xfrm>
          <a:prstGeom prst="rect">
            <a:avLst/>
          </a:prstGeom>
        </p:spPr>
        <p:txBody>
          <a:bodyPr wrap="square">
            <a:spAutoFit/>
          </a:bodyPr>
          <a:lstStyle/>
          <a:p>
            <a:r>
              <a:rPr lang="en-US" sz="2800" dirty="0"/>
              <a:t>2) By new keyword:</a:t>
            </a:r>
          </a:p>
          <a:p>
            <a:r>
              <a:rPr lang="en-US" sz="2800" dirty="0"/>
              <a:t>String s=</a:t>
            </a:r>
            <a:r>
              <a:rPr lang="en-US" sz="2800" b="1" dirty="0"/>
              <a:t>new</a:t>
            </a:r>
            <a:r>
              <a:rPr lang="en-US" sz="2800" dirty="0"/>
              <a:t> String("Welcome");</a:t>
            </a:r>
          </a:p>
          <a:p>
            <a:r>
              <a:rPr lang="en-US" sz="2800" dirty="0"/>
              <a:t>In such case, JVM will create a new string object in normal(non pool) heap memory and the literal "Welcome" will be placed in the string constant pool. The variable s will refer to the object in heap(non pool).</a:t>
            </a:r>
          </a:p>
          <a:p>
            <a:br>
              <a:rPr lang="en-US" sz="2800" dirty="0"/>
            </a:br>
            <a:r>
              <a:rPr lang="en-US" sz="2800" dirty="0"/>
              <a:t>  </a:t>
            </a:r>
          </a:p>
          <a:p>
            <a:endParaRPr lang="en-US" sz="28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
        <p:nvSpPr>
          <p:cNvPr id="3" name="Rectangle 2"/>
          <p:cNvSpPr/>
          <p:nvPr/>
        </p:nvSpPr>
        <p:spPr>
          <a:xfrm>
            <a:off x="3449352" y="3244334"/>
            <a:ext cx="2245295" cy="369332"/>
          </a:xfrm>
          <a:prstGeom prst="rect">
            <a:avLst/>
          </a:prstGeom>
        </p:spPr>
        <p:txBody>
          <a:bodyPr wrap="none">
            <a:spAutoFit/>
          </a:bodyPr>
          <a:lstStyle/>
          <a:p>
            <a:r>
              <a:rPr lang="en-US" dirty="0"/>
              <a:t>Java </a:t>
            </a:r>
            <a:r>
              <a:rPr lang="en-US" dirty="0" err="1"/>
              <a:t>StringBuffer</a:t>
            </a:r>
            <a:r>
              <a:rPr lang="en-US" dirty="0"/>
              <a:t> class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170</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954107"/>
          </a:xfrm>
          <a:prstGeom prst="rect">
            <a:avLst/>
          </a:prstGeom>
        </p:spPr>
        <p:txBody>
          <a:bodyPr wrap="square">
            <a:spAutoFit/>
          </a:bodyPr>
          <a:lstStyle/>
          <a:p>
            <a:r>
              <a:rPr lang="en-US" sz="2800" dirty="0"/>
              <a:t>  </a:t>
            </a:r>
          </a:p>
          <a:p>
            <a:endParaRPr lang="en-US" sz="2800" dirty="0"/>
          </a:p>
        </p:txBody>
      </p:sp>
      <p:sp>
        <p:nvSpPr>
          <p:cNvPr id="8" name="Rectangle 7"/>
          <p:cNvSpPr/>
          <p:nvPr/>
        </p:nvSpPr>
        <p:spPr>
          <a:xfrm>
            <a:off x="838200" y="1295400"/>
            <a:ext cx="7772400" cy="6555641"/>
          </a:xfrm>
          <a:prstGeom prst="rect">
            <a:avLst/>
          </a:prstGeom>
        </p:spPr>
        <p:txBody>
          <a:bodyPr wrap="square">
            <a:spAutoFit/>
          </a:bodyPr>
          <a:lstStyle/>
          <a:p>
            <a:r>
              <a:rPr lang="en-US" sz="2800" b="1" dirty="0"/>
              <a:t>Java </a:t>
            </a:r>
            <a:r>
              <a:rPr lang="en-US" sz="2800" b="1" dirty="0" err="1"/>
              <a:t>StringBuffer</a:t>
            </a:r>
            <a:r>
              <a:rPr lang="en-US" sz="2800" b="1" dirty="0"/>
              <a:t> class</a:t>
            </a:r>
            <a:r>
              <a:rPr lang="en-US" sz="2800" dirty="0"/>
              <a:t>: Java </a:t>
            </a:r>
            <a:r>
              <a:rPr lang="en-US" sz="2800" dirty="0" err="1"/>
              <a:t>StringBuffer</a:t>
            </a:r>
            <a:r>
              <a:rPr lang="en-US" sz="2800" dirty="0"/>
              <a:t> class is used to create mutable (modifiable) string. The </a:t>
            </a:r>
            <a:r>
              <a:rPr lang="en-US" sz="2800" dirty="0" err="1"/>
              <a:t>StringBuffer</a:t>
            </a:r>
            <a:r>
              <a:rPr lang="en-US" sz="2800" dirty="0"/>
              <a:t> class in java is same as String class except it is mutable i.e. it can be changed.</a:t>
            </a:r>
          </a:p>
          <a:p>
            <a:r>
              <a:rPr lang="en-US" sz="2800" dirty="0"/>
              <a:t>Constructor                           Description</a:t>
            </a:r>
          </a:p>
          <a:p>
            <a:r>
              <a:rPr lang="en-US" sz="2800" dirty="0" err="1"/>
              <a:t>StringBuffer</a:t>
            </a:r>
            <a:r>
              <a:rPr lang="en-US" sz="2800" dirty="0"/>
              <a:t>()             creates an empty string buffer         </a:t>
            </a:r>
          </a:p>
          <a:p>
            <a:r>
              <a:rPr lang="en-US" sz="2800" dirty="0"/>
              <a:t>                                     with the initial capacity of 16.</a:t>
            </a:r>
          </a:p>
          <a:p>
            <a:r>
              <a:rPr lang="en-US" sz="2800" dirty="0" err="1"/>
              <a:t>StringBuffer</a:t>
            </a:r>
            <a:r>
              <a:rPr lang="en-US" sz="2800" dirty="0"/>
              <a:t>(String </a:t>
            </a:r>
            <a:r>
              <a:rPr lang="en-US" sz="2800" dirty="0" err="1"/>
              <a:t>str</a:t>
            </a:r>
            <a:r>
              <a:rPr lang="en-US" sz="2800" dirty="0"/>
              <a:t>)      creates a string buffer   </a:t>
            </a:r>
          </a:p>
          <a:p>
            <a:r>
              <a:rPr lang="en-US" sz="2800" dirty="0"/>
              <a:t>                                              with the specified string.</a:t>
            </a:r>
          </a:p>
          <a:p>
            <a:r>
              <a:rPr lang="en-US" sz="2800" dirty="0" err="1"/>
              <a:t>StringBuffer</a:t>
            </a:r>
            <a:r>
              <a:rPr lang="en-US" sz="2800" dirty="0"/>
              <a:t>(</a:t>
            </a:r>
            <a:r>
              <a:rPr lang="en-US" sz="2800" dirty="0" err="1"/>
              <a:t>int</a:t>
            </a:r>
            <a:r>
              <a:rPr lang="en-US" sz="2800" dirty="0"/>
              <a:t> capacity)    creates an empty string  </a:t>
            </a:r>
          </a:p>
          <a:p>
            <a:r>
              <a:rPr lang="en-US" sz="2800" dirty="0"/>
              <a:t>                                                 buffer with the specified </a:t>
            </a:r>
          </a:p>
          <a:p>
            <a:r>
              <a:rPr lang="en-US" sz="2800" dirty="0"/>
              <a:t>                                                 capacity as length.</a:t>
            </a:r>
          </a:p>
          <a:p>
            <a:br>
              <a:rPr lang="en-US" sz="2800" dirty="0"/>
            </a:br>
            <a:r>
              <a:rPr lang="en-US" sz="2800" dirty="0"/>
              <a:t>  </a:t>
            </a:r>
          </a:p>
          <a:p>
            <a:endParaRPr lang="en-US" sz="28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171</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954107"/>
          </a:xfrm>
          <a:prstGeom prst="rect">
            <a:avLst/>
          </a:prstGeom>
        </p:spPr>
        <p:txBody>
          <a:bodyPr wrap="square">
            <a:spAutoFit/>
          </a:bodyPr>
          <a:lstStyle/>
          <a:p>
            <a:r>
              <a:rPr lang="en-US" sz="2800" dirty="0"/>
              <a:t>  </a:t>
            </a:r>
          </a:p>
          <a:p>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pic>
        <p:nvPicPr>
          <p:cNvPr id="74754" name="Picture 2" descr="Image result for stringbuffer methods  in java"/>
          <p:cNvPicPr>
            <a:picLocks noChangeAspect="1" noChangeArrowheads="1"/>
          </p:cNvPicPr>
          <p:nvPr/>
        </p:nvPicPr>
        <p:blipFill>
          <a:blip r:embed="rId3" cstate="print"/>
          <a:srcRect/>
          <a:stretch>
            <a:fillRect/>
          </a:stretch>
        </p:blipFill>
        <p:spPr bwMode="auto">
          <a:xfrm>
            <a:off x="457200" y="1219200"/>
            <a:ext cx="7848600" cy="5200651"/>
          </a:xfrm>
          <a:prstGeom prst="rect">
            <a:avLst/>
          </a:prstGeom>
          <a:noFill/>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172</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Java API</a:t>
            </a:r>
            <a:endParaRPr lang="en-US" sz="4000" dirty="0">
              <a:latin typeface="Lucida Sans Unicode" pitchFamily="34" charset="0"/>
              <a:cs typeface="Arial" charset="0"/>
            </a:endParaRPr>
          </a:p>
        </p:txBody>
      </p:sp>
      <p:sp>
        <p:nvSpPr>
          <p:cNvPr id="7" name="Rectangle 6"/>
          <p:cNvSpPr/>
          <p:nvPr/>
        </p:nvSpPr>
        <p:spPr>
          <a:xfrm>
            <a:off x="609600" y="1143000"/>
            <a:ext cx="7848600" cy="3970318"/>
          </a:xfrm>
          <a:prstGeom prst="rect">
            <a:avLst/>
          </a:prstGeom>
        </p:spPr>
        <p:txBody>
          <a:bodyPr wrap="square">
            <a:spAutoFit/>
          </a:bodyPr>
          <a:lstStyle/>
          <a:p>
            <a:r>
              <a:rPr lang="en-US" sz="2800" b="1" dirty="0"/>
              <a:t>Java</a:t>
            </a:r>
            <a:r>
              <a:rPr lang="en-US" sz="2800" dirty="0"/>
              <a:t> application programming interface (</a:t>
            </a:r>
            <a:r>
              <a:rPr lang="en-US" sz="2800" b="1" dirty="0"/>
              <a:t>API</a:t>
            </a:r>
            <a:r>
              <a:rPr lang="en-US" sz="2800" dirty="0"/>
              <a:t>) is a list of all classes that are part of the </a:t>
            </a:r>
            <a:r>
              <a:rPr lang="en-US" sz="2800" b="1" dirty="0"/>
              <a:t>Java</a:t>
            </a:r>
            <a:r>
              <a:rPr lang="en-US" sz="2800" dirty="0"/>
              <a:t> development kit (JDK). It includes all </a:t>
            </a:r>
            <a:r>
              <a:rPr lang="en-US" sz="2800" b="1" dirty="0"/>
              <a:t>Java</a:t>
            </a:r>
            <a:r>
              <a:rPr lang="en-US" sz="2800" dirty="0"/>
              <a:t> packages, classes, and interfaces, along with their methods, fields, and constructors. These prewritten classes provide a tremendous amount of functionality to a programmer.</a:t>
            </a:r>
          </a:p>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173</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Java API</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pic>
        <p:nvPicPr>
          <p:cNvPr id="164866" name="Picture 2" descr="Image result for java predefined packages"/>
          <p:cNvPicPr>
            <a:picLocks noChangeAspect="1" noChangeArrowheads="1"/>
          </p:cNvPicPr>
          <p:nvPr/>
        </p:nvPicPr>
        <p:blipFill>
          <a:blip r:embed="rId3" cstate="print"/>
          <a:srcRect/>
          <a:stretch>
            <a:fillRect/>
          </a:stretch>
        </p:blipFill>
        <p:spPr bwMode="auto">
          <a:xfrm>
            <a:off x="914400" y="990600"/>
            <a:ext cx="6934200" cy="5200651"/>
          </a:xfrm>
          <a:prstGeom prst="rect">
            <a:avLst/>
          </a:prstGeom>
          <a:noFill/>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174</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Java API</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pic>
        <p:nvPicPr>
          <p:cNvPr id="168962" name="Picture 2" descr="Image result for java predefined packages and classes"/>
          <p:cNvPicPr>
            <a:picLocks noChangeAspect="1" noChangeArrowheads="1"/>
          </p:cNvPicPr>
          <p:nvPr/>
        </p:nvPicPr>
        <p:blipFill>
          <a:blip r:embed="rId3" cstate="print"/>
          <a:srcRect/>
          <a:stretch>
            <a:fillRect/>
          </a:stretch>
        </p:blipFill>
        <p:spPr bwMode="auto">
          <a:xfrm>
            <a:off x="990600" y="1371600"/>
            <a:ext cx="7153275" cy="4400551"/>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10695</TotalTime>
  <Words>10233</Words>
  <Application>Microsoft Office PowerPoint</Application>
  <PresentationFormat>On-screen Show (4:3)</PresentationFormat>
  <Paragraphs>1530</Paragraphs>
  <Slides>174</Slides>
  <Notes>52</Notes>
  <HiddenSlides>8</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174</vt:i4>
      </vt:variant>
    </vt:vector>
  </HeadingPairs>
  <TitlesOfParts>
    <vt:vector size="188" baseType="lpstr">
      <vt:lpstr>Arial</vt:lpstr>
      <vt:lpstr>Arial MT</vt:lpstr>
      <vt:lpstr>Calibri</vt:lpstr>
      <vt:lpstr>Cambria</vt:lpstr>
      <vt:lpstr>Courier New</vt:lpstr>
      <vt:lpstr>Lucida Bright</vt:lpstr>
      <vt:lpstr>Lucida Sans Unicode</vt:lpstr>
      <vt:lpstr>Segoe UI Symbol</vt:lpstr>
      <vt:lpstr>Times New Roman</vt:lpstr>
      <vt:lpstr>Times New Roman</vt:lpstr>
      <vt:lpstr>Verdana</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Java History </vt:lpstr>
      <vt:lpstr>PowerPoint Presentation</vt:lpstr>
      <vt:lpstr>Java</vt:lpstr>
      <vt:lpstr> The Java Buzzwords </vt:lpstr>
      <vt:lpstr> The Java Buzzwords </vt:lpstr>
      <vt:lpstr> The Java Buzzwords </vt:lpstr>
      <vt:lpstr> The Java Buzzwords </vt:lpstr>
      <vt:lpstr> The Java Buzzwords </vt:lpstr>
      <vt:lpstr> The Java Buzzwords </vt:lpstr>
      <vt:lpstr> The Java Buzzwords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TYPES IN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Main.java</vt:lpstr>
      <vt:lpstr>PowerPoint Presentation</vt:lpstr>
      <vt:lpstr>The main Method</vt:lpstr>
      <vt:lpstr>built-in command System.out.println(...)</vt:lpstr>
      <vt:lpstr>Scanner class</vt:lpstr>
      <vt:lpstr>PowerPoint Presentation</vt:lpstr>
      <vt:lpstr>PowerPoint Presentation</vt:lpstr>
      <vt:lpstr>PowerPoint Presentation</vt:lpstr>
      <vt:lpstr>Scanner sc = new Scanner(System.in);</vt:lpstr>
      <vt:lpstr>Scanner sc = new Scanner(System.in);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ARRAYS</vt:lpstr>
      <vt:lpstr>PowerPoint Presentation</vt:lpstr>
      <vt:lpstr>PowerPoint Presentation</vt:lpstr>
      <vt:lpstr>PowerPoint Presentation</vt:lpstr>
      <vt:lpstr>Multidimensional Array </vt:lpstr>
      <vt:lpstr>PowerPoint Presentation</vt:lpstr>
      <vt:lpstr>OPERATORS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Statements – if statement</vt:lpstr>
      <vt:lpstr>Control Statements – if statement -</vt:lpstr>
      <vt:lpstr>Control Statements – if-else</vt:lpstr>
      <vt:lpstr>Control Statements – if-else -</vt:lpstr>
      <vt:lpstr>Control Statements – if-else-if </vt:lpstr>
      <vt:lpstr>Control Statements – if-else-if</vt:lpstr>
      <vt:lpstr>Control Statements – if-else-if</vt:lpstr>
      <vt:lpstr>Control Statements – if-else-if</vt:lpstr>
      <vt:lpstr>Control Statements – switch</vt:lpstr>
      <vt:lpstr>PowerPoint Presentation</vt:lpstr>
      <vt:lpstr>Iterative/Looping Statements – for loop</vt:lpstr>
      <vt:lpstr>Looping Statements – for loop -</vt:lpstr>
      <vt:lpstr>Looping Statements – for each</vt:lpstr>
      <vt:lpstr>Looping Statements – for each</vt:lpstr>
      <vt:lpstr>PowerPoint Presentation</vt:lpstr>
      <vt:lpstr>Looping Statements – While loop–Entry controlled </vt:lpstr>
      <vt:lpstr>Example</vt:lpstr>
      <vt:lpstr>Looping Statements–do-while loop–Exit controlled </vt:lpstr>
      <vt:lpstr>PowerPoint Presentation</vt:lpstr>
      <vt:lpstr>PowerPoint Presentation</vt:lpstr>
      <vt:lpstr>Jumping Statements – break statement</vt:lpstr>
      <vt:lpstr>Jumping Statements – break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mlrit</dc:creator>
  <cp:lastModifiedBy>anveshkumaraavula@outlook.com</cp:lastModifiedBy>
  <cp:revision>113</cp:revision>
  <dcterms:created xsi:type="dcterms:W3CDTF">2017-12-19T08:18:51Z</dcterms:created>
  <dcterms:modified xsi:type="dcterms:W3CDTF">2026-07-21T07:19:32Z</dcterms:modified>
</cp:coreProperties>
</file>